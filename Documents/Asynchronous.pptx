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32"/>
  </p:notesMasterIdLst>
  <p:sldIdLst>
    <p:sldId id="256" r:id="rId5"/>
    <p:sldId id="328" r:id="rId6"/>
    <p:sldId id="329" r:id="rId7"/>
    <p:sldId id="330" r:id="rId8"/>
    <p:sldId id="345" r:id="rId9"/>
    <p:sldId id="258" r:id="rId10"/>
    <p:sldId id="305" r:id="rId11"/>
    <p:sldId id="331" r:id="rId12"/>
    <p:sldId id="341" r:id="rId13"/>
    <p:sldId id="342" r:id="rId14"/>
    <p:sldId id="340" r:id="rId15"/>
    <p:sldId id="333" r:id="rId16"/>
    <p:sldId id="346" r:id="rId17"/>
    <p:sldId id="347" r:id="rId18"/>
    <p:sldId id="348" r:id="rId19"/>
    <p:sldId id="349" r:id="rId20"/>
    <p:sldId id="332" r:id="rId21"/>
    <p:sldId id="335" r:id="rId22"/>
    <p:sldId id="334" r:id="rId23"/>
    <p:sldId id="355" r:id="rId24"/>
    <p:sldId id="336" r:id="rId25"/>
    <p:sldId id="337" r:id="rId26"/>
    <p:sldId id="357" r:id="rId27"/>
    <p:sldId id="352" r:id="rId28"/>
    <p:sldId id="351" r:id="rId29"/>
    <p:sldId id="350" r:id="rId30"/>
    <p:sldId id="26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ritha Manju Immadisetty" initials="AMI" lastIdx="11" clrIdx="0">
    <p:extLst>
      <p:ext uri="{19B8F6BF-5375-455C-9EA6-DF929625EA0E}">
        <p15:presenceInfo xmlns:p15="http://schemas.microsoft.com/office/powerpoint/2012/main" userId="S-1-5-21-1275210071-1770027372-1417001333-62623" providerId="AD"/>
      </p:ext>
    </p:extLst>
  </p:cmAuthor>
  <p:cmAuthor id="2" name="Vijay Kotagiri" initials="VK" lastIdx="1" clrIdx="1">
    <p:extLst>
      <p:ext uri="{19B8F6BF-5375-455C-9EA6-DF929625EA0E}">
        <p15:presenceInfo xmlns:p15="http://schemas.microsoft.com/office/powerpoint/2012/main" userId="S-1-5-21-1708537768-823518204-1801674531-5822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17" autoAdjust="0"/>
    <p:restoredTop sz="95934"/>
  </p:normalViewPr>
  <p:slideViewPr>
    <p:cSldViewPr snapToGrid="0">
      <p:cViewPr varScale="1">
        <p:scale>
          <a:sx n="130" d="100"/>
          <a:sy n="130" d="100"/>
        </p:scale>
        <p:origin x="378" y="126"/>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3-10T21:18:59.031" idx="6">
    <p:pos x="10" y="10"/>
    <p:text>VJ</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03-10T21:19:09.887" idx="11">
    <p:pos x="10" y="10"/>
    <p:text>VJ</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4-03-10T21:19:14.313" idx="10">
    <p:pos x="10" y="10"/>
    <p:text>VJ</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3/14/2024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a:xfrm>
            <a:off x="984522" y="874663"/>
            <a:ext cx="4650901" cy="2334637"/>
          </a:xfrm>
        </p:spPr>
        <p:txBody>
          <a:bodyPr>
            <a:normAutofit/>
          </a:bodyPr>
          <a:lstStyle>
            <a:lvl1pPr algn="ctr">
              <a:defRPr sz="4800"/>
            </a:lvl1pPr>
          </a:lstStyle>
          <a:p>
            <a:r>
              <a:rPr lang="en-US"/>
              <a:t>Click to edit Master title style</a:t>
            </a:r>
            <a:endParaRPr lang="en-US" dirty="0"/>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cxnSp>
        <p:nvCxnSpPr>
          <p:cNvPr id="173" name="Straight Connector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Subtitle 2">
            <a:extLst>
              <a:ext uri="{FF2B5EF4-FFF2-40B4-BE49-F238E27FC236}">
                <a16:creationId xmlns:a16="http://schemas.microsoft.com/office/drawing/2014/main" id="{6B5BCC80-B184-4F6C-B3E3-CFC7F4C41C95}"/>
              </a:ext>
            </a:extLst>
          </p:cNvPr>
          <p:cNvSpPr>
            <a:spLocks noGrp="1"/>
          </p:cNvSpPr>
          <p:nvPr>
            <p:ph type="subTitle" idx="1"/>
          </p:nvPr>
        </p:nvSpPr>
        <p:spPr>
          <a:xfrm>
            <a:off x="990000" y="4113213"/>
            <a:ext cx="4636800" cy="1655762"/>
          </a:xfrm>
        </p:spPr>
        <p:txBody>
          <a:bodyPr>
            <a:normAutofit/>
          </a:bodyPr>
          <a:lstStyle>
            <a:lvl1pPr marL="0" indent="0" algn="ctr">
              <a:buNone/>
              <a:defRPr/>
            </a:lvl1pPr>
          </a:lstStyle>
          <a:p>
            <a:r>
              <a:rPr lang="en-US">
                <a:cs typeface="Calibri"/>
              </a:rPr>
              <a:t>Click to edit Master subtitle style</a:t>
            </a:r>
            <a:endParaRPr lang="en-US" dirty="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a:xfrm>
            <a:off x="530307" y="536573"/>
            <a:ext cx="3856679" cy="1453003"/>
          </a:xfrm>
        </p:spPr>
        <p:txBody>
          <a:bodyPr/>
          <a:lstStyle>
            <a:lvl1pPr algn="ctr">
              <a:defRPr/>
            </a:lvl1pPr>
          </a:lstStyle>
          <a:p>
            <a:r>
              <a:rPr lang="en-US"/>
              <a:t>Click to edit Master title style</a:t>
            </a:r>
            <a:endParaRPr lang="en-US" dirty="0"/>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Content Placeholder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a:normAutofit/>
          </a:bodyPr>
          <a:lstStyle>
            <a:lvl1pPr algn="ctr">
              <a:defRPr/>
            </a:lvl1pPr>
          </a:lstStyle>
          <a:p>
            <a:pPr marL="0" indent="0" algn="ctr">
              <a:buNone/>
            </a:pPr>
            <a:r>
              <a:rPr lang="en-US" dirty="0"/>
              <a:t>Click to edit master text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a:lstStyle>
            <a:lvl1pPr>
              <a:defRPr/>
            </a:lvl1pPr>
          </a:lstStyle>
          <a:p>
            <a:r>
              <a:rPr lang="en-US"/>
              <a:t>20XX</a:t>
            </a:r>
            <a:endParaRPr lang="en-US" dirty="0"/>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a:lstStyle>
            <a:lvl1pPr algn="l">
              <a:defRPr/>
            </a:lvl1pPr>
          </a:lstStyle>
          <a:p>
            <a:r>
              <a:rPr lang="en-US"/>
              <a:t>Sample Footer Text</a:t>
            </a:r>
            <a:endParaRPr lang="en-US" dirty="0"/>
          </a:p>
        </p:txBody>
      </p:sp>
      <p:sp>
        <p:nvSpPr>
          <p:cNvPr id="9" name="Picture Placeholder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a:xfrm>
            <a:off x="4056600" y="536573"/>
            <a:ext cx="4078800" cy="1453003"/>
          </a:xfrm>
        </p:spPr>
        <p:txBody>
          <a:bodyPr/>
          <a:lstStyle>
            <a:lvl1pPr algn="ctr">
              <a:defRPr/>
            </a:lvl1pPr>
          </a:lstStyle>
          <a:p>
            <a:r>
              <a:rPr lang="en-US"/>
              <a:t>Click to edit Master title style</a:t>
            </a:r>
            <a:endParaRPr lang="en-US" dirty="0"/>
          </a:p>
        </p:txBody>
      </p:sp>
      <p:sp>
        <p:nvSpPr>
          <p:cNvPr id="95" name="Text Placeholder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a:r>
              <a:rPr lang="en-US" dirty="0"/>
              <a:t>Click to add text</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lvl1pPr>
              <a:defRPr/>
            </a:lvl1pPr>
          </a:lstStyle>
          <a:p>
            <a:r>
              <a:rPr lang="en-US"/>
              <a:t>20XX</a:t>
            </a:r>
            <a:endParaRPr lang="en-US" dirty="0"/>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294A09A9-5501-47C1-A89A-A340965A2BE2}" type="slidenum">
              <a:rPr lang="en-US" smtClean="0"/>
              <a:t>‹#›</a:t>
            </a:fld>
            <a:endParaRPr lang="en-US" dirty="0"/>
          </a:p>
        </p:txBody>
      </p:sp>
      <p:grpSp>
        <p:nvGrpSpPr>
          <p:cNvPr id="6" name="Group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oup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8" name="Group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oup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 name="Group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oup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 name="Group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48" name="Group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oup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82" name="Group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oup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oup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3" name="Group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a:xfrm>
            <a:off x="989400" y="563402"/>
            <a:ext cx="4075200" cy="2058573"/>
          </a:xfrm>
        </p:spPr>
        <p:txBody>
          <a:bodyPr>
            <a:noAutofit/>
          </a:bodyPr>
          <a:lstStyle>
            <a:lvl1pPr algn="ctr">
              <a:defRPr sz="3200"/>
            </a:lvl1pPr>
          </a:lstStyle>
          <a:p>
            <a:r>
              <a:rPr lang="en-US"/>
              <a:t>Click to edit Master title style</a:t>
            </a:r>
            <a:endParaRPr lang="en-US" dirty="0"/>
          </a:p>
        </p:txBody>
      </p:sp>
      <p:sp>
        <p:nvSpPr>
          <p:cNvPr id="20" name="Subtitle 7">
            <a:extLst>
              <a:ext uri="{FF2B5EF4-FFF2-40B4-BE49-F238E27FC236}">
                <a16:creationId xmlns:a16="http://schemas.microsoft.com/office/drawing/2014/main" id="{C2777538-58E6-494C-A27B-B70346B0F395}"/>
              </a:ext>
            </a:extLst>
          </p:cNvPr>
          <p:cNvSpPr>
            <a:spLocks noGrp="1"/>
          </p:cNvSpPr>
          <p:nvPr>
            <p:ph type="subTitle" idx="1"/>
          </p:nvPr>
        </p:nvSpPr>
        <p:spPr>
          <a:xfrm>
            <a:off x="990000" y="4248000"/>
            <a:ext cx="4075200" cy="1520975"/>
          </a:xfrm>
        </p:spPr>
        <p:txBody>
          <a:bodyPr>
            <a:normAutofit/>
          </a:bodyPr>
          <a:lstStyle>
            <a:lvl1pPr marL="0" indent="0" algn="ctr">
              <a:buNone/>
              <a:defRPr/>
            </a:lvl1pPr>
          </a:lstStyle>
          <a:p>
            <a:r>
              <a:rPr lang="en-US"/>
              <a:t>Click to edit Master subtitle style</a:t>
            </a:r>
            <a:endParaRPr lang="en-US" dirty="0"/>
          </a:p>
        </p:txBody>
      </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a:lstStyle/>
          <a:p>
            <a:r>
              <a:rPr lang="en-US"/>
              <a:t>Click icon to add picture</a:t>
            </a:r>
            <a:endParaRPr lang="en-US" dirty="0"/>
          </a:p>
        </p:txBody>
      </p:sp>
      <p:sp>
        <p:nvSpPr>
          <p:cNvPr id="26" name="Picture Placeholder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a:lstStyle/>
          <a:p>
            <a:r>
              <a:rPr lang="en-US"/>
              <a:t>Click icon to add picture</a:t>
            </a:r>
            <a:endParaRPr lang="en-US" dirty="0"/>
          </a:p>
        </p:txBody>
      </p:sp>
      <p:grpSp>
        <p:nvGrpSpPr>
          <p:cNvPr id="6" name="Group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oup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 name="Group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lvl1pPr>
              <a:defRPr/>
            </a:lvl1p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dirty="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a:xfrm>
            <a:off x="838200" y="1839595"/>
            <a:ext cx="10515600" cy="4154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lvl1pPr>
              <a:defRPr/>
            </a:lvl1p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dirty="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7324726" y="4217899"/>
            <a:ext cx="4079874" cy="1132373"/>
          </a:xfrm>
        </p:spPr>
        <p:txBody>
          <a:bodyPr anchor="t">
            <a:noAutofit/>
          </a:bodyPr>
          <a:lstStyle>
            <a:lvl1pPr algn="ctr">
              <a:defRPr sz="3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3" name="Picture Placeholder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a:lstStyle/>
          <a:p>
            <a:r>
              <a:rPr lang="en-US"/>
              <a:t>Click icon to add picture</a:t>
            </a:r>
            <a:endParaRPr lang="en-US" dirty="0"/>
          </a:p>
        </p:txBody>
      </p:sp>
      <p:sp>
        <p:nvSpPr>
          <p:cNvPr id="44" name="Picture Placeholder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a:lstStyle/>
          <a:p>
            <a:r>
              <a:rPr lang="en-US"/>
              <a:t>Click icon to add picture</a:t>
            </a:r>
            <a:endParaRPr lang="en-US" dirty="0"/>
          </a:p>
        </p:txBody>
      </p:sp>
      <p:sp>
        <p:nvSpPr>
          <p:cNvPr id="46" name="Picture Placeholder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a:lstStyle/>
          <a:p>
            <a:r>
              <a:rPr lang="en-US"/>
              <a:t>Click icon to add picture</a:t>
            </a:r>
            <a:endParaRPr lang="en-US" dirty="0"/>
          </a:p>
        </p:txBody>
      </p:sp>
      <p:sp>
        <p:nvSpPr>
          <p:cNvPr id="47" name="Picture Placeholder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a:lstStyle/>
          <a:p>
            <a:r>
              <a:rPr lang="en-US"/>
              <a:t>Click icon to add picture</a:t>
            </a:r>
            <a:endParaRPr lang="en-US" dirty="0"/>
          </a:p>
        </p:txBody>
      </p:sp>
      <p:sp>
        <p:nvSpPr>
          <p:cNvPr id="28" name="Date Placeholder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20XX</a:t>
            </a:r>
          </a:p>
        </p:txBody>
      </p:sp>
      <p:cxnSp>
        <p:nvCxnSpPr>
          <p:cNvPr id="18" name="Straight Connector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oup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29" name="Footer Placeholder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Sample Footer Text</a:t>
            </a:r>
          </a:p>
        </p:txBody>
      </p:sp>
      <p:grpSp>
        <p:nvGrpSpPr>
          <p:cNvPr id="30" name="Group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oup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2" name="Group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39" name="Slide Number Placeholder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a:lstStyle/>
          <a:p>
            <a:r>
              <a:rPr lang="en-US"/>
              <a:t>Click icon to add picture</a:t>
            </a:r>
            <a:endParaRPr lang="en-US" dirty="0"/>
          </a:p>
        </p:txBody>
      </p:sp>
      <p:sp>
        <p:nvSpPr>
          <p:cNvPr id="15" name="Picture Placeholder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a:lstStyle/>
          <a:p>
            <a:r>
              <a:rPr lang="en-US"/>
              <a:t>Click icon to add picture</a:t>
            </a:r>
            <a:endParaRPr lang="en-US" dirty="0"/>
          </a:p>
        </p:txBody>
      </p:sp>
      <p:sp>
        <p:nvSpPr>
          <p:cNvPr id="16" name="Picture Placeholder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a:lstStyle/>
          <a:p>
            <a:r>
              <a:rPr lang="en-US"/>
              <a:t>Click icon to add picture</a:t>
            </a:r>
            <a:endParaRPr lang="en-US" dirty="0"/>
          </a:p>
        </p:txBody>
      </p:sp>
      <p:sp>
        <p:nvSpPr>
          <p:cNvPr id="17" name="Picture Placeholder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a:lstStyle/>
          <a:p>
            <a:r>
              <a:rPr lang="en-US"/>
              <a:t>Click icon to add picture</a:t>
            </a:r>
            <a:endParaRPr lang="en-US" dirty="0"/>
          </a:p>
        </p:txBody>
      </p:sp>
      <p:sp>
        <p:nvSpPr>
          <p:cNvPr id="18" name="Picture Placeholder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xt Placeholder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anchor="ctr">
            <a:noAutofit/>
          </a:bodyPr>
          <a:lstStyle>
            <a:lvl1pPr marL="0" indent="0" algn="ctr">
              <a:buNone/>
              <a:defRPr lang="en-US" sz="16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0" name="Text Placeholder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a:noAutofit/>
          </a:bodyPr>
          <a:lstStyle>
            <a:lvl1pPr marL="0" indent="0" algn="ctr">
              <a:buNone/>
              <a:defRPr lang="en-US" sz="12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1" name="Text Placeholder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anchor="ctr">
            <a:noAutofit/>
          </a:bodyPr>
          <a:lstStyle>
            <a:lvl1pPr marL="0" indent="0" algn="ctr">
              <a:buNone/>
              <a:defRPr lang="en-US" sz="16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2" name="Text Placeholder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a:noAutofit/>
          </a:bodyPr>
          <a:lstStyle>
            <a:lvl1pPr marL="0" indent="0" algn="ctr">
              <a:buNone/>
              <a:defRPr lang="en-US" sz="12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3" name="Text Placeholder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anchor="ctr">
            <a:noAutofit/>
          </a:bodyPr>
          <a:lstStyle>
            <a:lvl1pPr marL="0" indent="0" algn="ctr">
              <a:buNone/>
              <a:defRPr lang="en-US" sz="16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4" name="Text Placeholder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a:noAutofit/>
          </a:bodyPr>
          <a:lstStyle>
            <a:lvl1pPr marL="0" indent="0" algn="ctr">
              <a:buNone/>
              <a:defRPr lang="en-US" sz="12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5" name="Text Placeholder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anchor="ctr">
            <a:noAutofit/>
          </a:bodyPr>
          <a:lstStyle>
            <a:lvl1pPr marL="0" indent="0" algn="ctr">
              <a:buNone/>
              <a:defRPr lang="en-US" sz="16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6" name="Text Placeholder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a:noAutofit/>
          </a:bodyPr>
          <a:lstStyle>
            <a:lvl1pPr marL="0" indent="0" algn="ctr">
              <a:buNone/>
              <a:defRPr lang="en-US" sz="12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7" name="Text Placeholder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anchor="ctr">
            <a:noAutofit/>
          </a:bodyPr>
          <a:lstStyle>
            <a:lvl1pPr marL="0" indent="0" algn="ctr">
              <a:buNone/>
              <a:defRPr lang="en-US" sz="16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8" name="Text Placeholder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a:noAutofit/>
          </a:bodyPr>
          <a:lstStyle>
            <a:lvl1pPr marL="0" indent="0" algn="ctr">
              <a:buNone/>
              <a:defRPr lang="en-US" sz="12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lvl1pPr>
              <a:defRPr/>
            </a:lvl1pPr>
          </a:lstStyle>
          <a:p>
            <a:r>
              <a:rPr lang="en-US"/>
              <a:t>20XX</a:t>
            </a:r>
            <a:endParaRPr lang="en-US" dirty="0"/>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lvl1pPr>
              <a:defRPr/>
            </a:lvl1p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lvl1pPr>
              <a:defRPr/>
            </a:lvl1p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2971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2971400" cy="3632750"/>
          </a:xfrm>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4610300" y="1756025"/>
            <a:ext cx="2971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4610300" y="2450550"/>
            <a:ext cx="2971400" cy="3632750"/>
          </a:xfrm>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65563541-7DAA-4F84-BBAB-31C12F6AE981}"/>
              </a:ext>
            </a:extLst>
          </p:cNvPr>
          <p:cNvSpPr>
            <a:spLocks noGrp="1"/>
          </p:cNvSpPr>
          <p:nvPr>
            <p:ph type="body" sz="quarter" idx="13"/>
          </p:nvPr>
        </p:nvSpPr>
        <p:spPr>
          <a:xfrm>
            <a:off x="8231200" y="1756025"/>
            <a:ext cx="2971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AE3321C3-E759-4DD7-BFA1-2E724B8DDBF0}"/>
              </a:ext>
            </a:extLst>
          </p:cNvPr>
          <p:cNvSpPr>
            <a:spLocks noGrp="1"/>
          </p:cNvSpPr>
          <p:nvPr>
            <p:ph sz="quarter" idx="14"/>
          </p:nvPr>
        </p:nvSpPr>
        <p:spPr>
          <a:xfrm>
            <a:off x="8231200" y="2450550"/>
            <a:ext cx="2971400" cy="3632750"/>
          </a:xfrm>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lvl1pPr>
              <a:defRPr/>
            </a:lvl1p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a:xfrm>
            <a:off x="4318001" y="536573"/>
            <a:ext cx="7424950" cy="1453003"/>
          </a:xfrm>
        </p:spPr>
        <p:txBody>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a:lstStyle/>
          <a:p>
            <a:r>
              <a:rPr lang="en-US"/>
              <a:t>Click icon to add picture</a:t>
            </a:r>
            <a:endParaRPr lang="en-US" dirty="0"/>
          </a:p>
        </p:txBody>
      </p:sp>
      <p:sp>
        <p:nvSpPr>
          <p:cNvPr id="207" name="Picture Placeholder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a:lstStyle/>
          <a:p>
            <a:r>
              <a:rPr lang="en-US"/>
              <a:t>Click icon to add picture</a:t>
            </a:r>
            <a:endParaRPr lang="en-US" dirty="0"/>
          </a:p>
        </p:txBody>
      </p:sp>
      <p:sp>
        <p:nvSpPr>
          <p:cNvPr id="208" name="Picture Placeholder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a:lstStyle/>
          <a:p>
            <a:r>
              <a:rPr lang="en-US"/>
              <a:t>Click icon to add picture</a:t>
            </a:r>
            <a:endParaRPr lang="en-US" dirty="0"/>
          </a:p>
        </p:txBody>
      </p:sp>
      <p:sp>
        <p:nvSpPr>
          <p:cNvPr id="7" name="Text Placeholder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a:r>
              <a:rPr lang="en-US" dirty="0"/>
              <a:t>Click to edit text</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a:lstStyle>
            <a:lvl1pPr>
              <a:defRPr/>
            </a:lvl1pPr>
          </a:lstStyle>
          <a:p>
            <a:r>
              <a:rPr lang="en-US"/>
              <a:t>20XX</a:t>
            </a:r>
            <a:endParaRPr lang="en-US" dirty="0"/>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294A09A9-5501-47C1-A89A-A340965A2BE2}" type="slidenum">
              <a:rPr lang="en-US" smtClean="0"/>
              <a:t>‹#›</a:t>
            </a:fld>
            <a:endParaRPr lang="en-US" dirty="0"/>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lvl1pPr>
              <a:defRPr/>
            </a:lvl1pPr>
          </a:lstStyle>
          <a:p>
            <a:r>
              <a:rPr lang="en-US"/>
              <a:t>20XX</a:t>
            </a:r>
            <a:endParaRPr lang="en-US" dirty="0"/>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294A09A9-5501-47C1-A89A-A340965A2BE2}" type="slidenum">
              <a:rPr lang="en-US" smtClean="0"/>
              <a:t>‹#›</a:t>
            </a:fld>
            <a:endParaRPr lang="en-US" dirty="0"/>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oup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5" name="Group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oup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87" name="Group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47" name="Group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oup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Straight Connector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6" name="Group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48" name="Group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oup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9" name="Group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oup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52" name="Group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Straight Connector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96" name="Group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oup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8" name="Group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oup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Straight Connector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9" name="Group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oup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oup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03" name="Group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Straight Connector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sp>
        <p:nvSpPr>
          <p:cNvPr id="7" name="Text Placeholder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a:r>
              <a:rPr lang="en-US"/>
              <a:t>Click to edit Master text styles</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gunda@pdx.edu" TargetMode="External"/><Relationship Id="rId2" Type="http://schemas.openxmlformats.org/officeDocument/2006/relationships/hyperlink" Target="mailto:asritha@pdx.edu" TargetMode="External"/><Relationship Id="rId1" Type="http://schemas.openxmlformats.org/officeDocument/2006/relationships/slideLayout" Target="../slideLayouts/slideLayout1.xml"/><Relationship Id="rId4" Type="http://schemas.openxmlformats.org/officeDocument/2006/relationships/hyperlink" Target="mailto:kotagiri@pdx.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www.sunburst-design.com/papers/CummingsSNUG2002SJ_FIFO1.pdf"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hyperlink" Target="https://hardwaregeeksblog.files.wordpress.com/2016/12/fifodepthcalculationmadeeasy2.pdf" TargetMode="External"/><Relationship Id="rId3" Type="http://schemas.openxmlformats.org/officeDocument/2006/relationships/hyperlink" Target="https://vlsiuniverse.blogspot.com/2013/09/synchronization-schemes.html" TargetMode="External"/><Relationship Id="rId7" Type="http://schemas.openxmlformats.org/officeDocument/2006/relationships/hyperlink" Target="https://verificationguide.com/uvm/uvm-testbench-architecture/" TargetMode="External"/><Relationship Id="rId2" Type="http://schemas.openxmlformats.org/officeDocument/2006/relationships/hyperlink" Target="https://vlsiverify.com/verilog/verilog-codes/asynchronous-fifo/" TargetMode="External"/><Relationship Id="rId1" Type="http://schemas.openxmlformats.org/officeDocument/2006/relationships/slideLayout" Target="../slideLayouts/slideLayout1.xml"/><Relationship Id="rId6" Type="http://schemas.openxmlformats.org/officeDocument/2006/relationships/hyperlink" Target="https://www.design-reuse.com/articles/31630/design-transition-from-sync-to-async-design-and-verification-challenges.html" TargetMode="External"/><Relationship Id="rId5" Type="http://schemas.openxmlformats.org/officeDocument/2006/relationships/hyperlink" Target="http://www.sunburst-design.com/papers/CummingsSNUG2002SJ_FIFO1.pdf" TargetMode="External"/><Relationship Id="rId4" Type="http://schemas.openxmlformats.org/officeDocument/2006/relationships/hyperlink" Target="https://www.verilogpro.com/asynchronous-fifo-desig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954161" y="280220"/>
            <a:ext cx="7672962" cy="1246238"/>
          </a:xfrm>
        </p:spPr>
        <p:style>
          <a:lnRef idx="0">
            <a:scrgbClr r="0" g="0" b="0"/>
          </a:lnRef>
          <a:fillRef idx="1002">
            <a:schemeClr val="dk2"/>
          </a:fillRef>
          <a:effectRef idx="0">
            <a:scrgbClr r="0" g="0" b="0"/>
          </a:effectRef>
          <a:fontRef idx="major"/>
        </p:style>
        <p:txBody>
          <a:bodyPr>
            <a:noAutofit/>
          </a:bodyPr>
          <a:lstStyle/>
          <a:p>
            <a:r>
              <a:rPr lang="en-US" sz="3600" b="1" dirty="0">
                <a:solidFill>
                  <a:schemeClr val="bg1"/>
                </a:solidFill>
              </a:rPr>
              <a:t>Design and Verification of Asynchronous FIFO</a:t>
            </a:r>
          </a:p>
        </p:txBody>
      </p:sp>
      <p:sp>
        <p:nvSpPr>
          <p:cNvPr id="4" name="TextBox 3">
            <a:extLst>
              <a:ext uri="{FF2B5EF4-FFF2-40B4-BE49-F238E27FC236}">
                <a16:creationId xmlns:a16="http://schemas.microsoft.com/office/drawing/2014/main" id="{EE82C1BB-0928-FD01-E4E6-F3F8A461D519}"/>
              </a:ext>
            </a:extLst>
          </p:cNvPr>
          <p:cNvSpPr txBox="1"/>
          <p:nvPr/>
        </p:nvSpPr>
        <p:spPr>
          <a:xfrm>
            <a:off x="255985" y="3929878"/>
            <a:ext cx="3662261" cy="212365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dirty="0">
                <a:solidFill>
                  <a:schemeClr val="bg2">
                    <a:lumMod val="25000"/>
                  </a:schemeClr>
                </a:solidFill>
                <a:latin typeface="+mj-lt"/>
                <a:cs typeface="Calibri"/>
              </a:rPr>
              <a:t>Asritha Manju Immadisetty</a:t>
            </a:r>
          </a:p>
          <a:p>
            <a:pPr algn="ctr"/>
            <a:endParaRPr lang="en-US" sz="1200" b="1" dirty="0">
              <a:solidFill>
                <a:schemeClr val="bg2">
                  <a:lumMod val="25000"/>
                </a:schemeClr>
              </a:solidFill>
              <a:latin typeface="+mj-lt"/>
              <a:cs typeface="Calibri"/>
            </a:endParaRPr>
          </a:p>
          <a:p>
            <a:r>
              <a:rPr lang="en-US" sz="2000" dirty="0">
                <a:solidFill>
                  <a:schemeClr val="bg2">
                    <a:lumMod val="25000"/>
                  </a:schemeClr>
                </a:solidFill>
                <a:latin typeface="+mj-lt"/>
                <a:cs typeface="Calibri"/>
              </a:rPr>
              <a:t>    Email id   : </a:t>
            </a:r>
            <a:r>
              <a:rPr lang="en-US" sz="2000" dirty="0">
                <a:solidFill>
                  <a:schemeClr val="bg2">
                    <a:lumMod val="25000"/>
                  </a:schemeClr>
                </a:solidFill>
                <a:latin typeface="+mj-lt"/>
                <a:cs typeface="Calibri"/>
                <a:hlinkClick r:id="rId2"/>
              </a:rPr>
              <a:t>asritha@pdx.edu</a:t>
            </a:r>
            <a:endParaRPr lang="en-US" sz="2000" dirty="0">
              <a:solidFill>
                <a:schemeClr val="bg2">
                  <a:lumMod val="25000"/>
                </a:schemeClr>
              </a:solidFill>
              <a:latin typeface="+mj-lt"/>
              <a:cs typeface="Calibri"/>
            </a:endParaRPr>
          </a:p>
          <a:p>
            <a:r>
              <a:rPr lang="en-US" sz="2000" dirty="0">
                <a:solidFill>
                  <a:schemeClr val="bg2">
                    <a:lumMod val="25000"/>
                  </a:schemeClr>
                </a:solidFill>
                <a:latin typeface="+mj-lt"/>
                <a:cs typeface="Calibri"/>
              </a:rPr>
              <a:t>     PSU ID   : 946467892</a:t>
            </a:r>
          </a:p>
          <a:p>
            <a:r>
              <a:rPr lang="en-US" sz="2000" dirty="0">
                <a:solidFill>
                  <a:schemeClr val="bg2">
                    <a:lumMod val="25000"/>
                  </a:schemeClr>
                </a:solidFill>
                <a:latin typeface="+mj-lt"/>
                <a:cs typeface="Calibri"/>
              </a:rPr>
              <a:t>     Term       :  4</a:t>
            </a:r>
            <a:r>
              <a:rPr lang="en-US" sz="2000" baseline="30000" dirty="0">
                <a:solidFill>
                  <a:schemeClr val="bg2">
                    <a:lumMod val="25000"/>
                  </a:schemeClr>
                </a:solidFill>
                <a:latin typeface="+mj-lt"/>
                <a:cs typeface="Calibri"/>
              </a:rPr>
              <a:t>th</a:t>
            </a:r>
            <a:r>
              <a:rPr lang="en-US" sz="2000" dirty="0">
                <a:solidFill>
                  <a:schemeClr val="bg2">
                    <a:lumMod val="25000"/>
                  </a:schemeClr>
                </a:solidFill>
                <a:latin typeface="+mj-lt"/>
                <a:cs typeface="Calibri"/>
              </a:rPr>
              <a:t> term</a:t>
            </a:r>
          </a:p>
          <a:p>
            <a:r>
              <a:rPr lang="en-US" sz="2000" dirty="0">
                <a:solidFill>
                  <a:schemeClr val="bg2">
                    <a:lumMod val="25000"/>
                  </a:schemeClr>
                </a:solidFill>
                <a:latin typeface="+mj-lt"/>
                <a:cs typeface="Calibri"/>
              </a:rPr>
              <a:t>     Track      :  Design Verification </a:t>
            </a:r>
          </a:p>
          <a:p>
            <a:r>
              <a:rPr lang="en-US" sz="2000" dirty="0">
                <a:solidFill>
                  <a:schemeClr val="bg2">
                    <a:lumMod val="25000"/>
                  </a:schemeClr>
                </a:solidFill>
                <a:latin typeface="+mj-lt"/>
                <a:cs typeface="Calibri"/>
              </a:rPr>
              <a:t>                       and Validation</a:t>
            </a:r>
            <a:r>
              <a:rPr lang="en-US" dirty="0">
                <a:solidFill>
                  <a:schemeClr val="bg2">
                    <a:lumMod val="25000"/>
                  </a:schemeClr>
                </a:solidFill>
                <a:latin typeface="+mj-lt"/>
                <a:cs typeface="Calibri"/>
              </a:rPr>
              <a:t> </a:t>
            </a:r>
          </a:p>
        </p:txBody>
      </p:sp>
      <p:sp>
        <p:nvSpPr>
          <p:cNvPr id="8" name="TextBox 7">
            <a:extLst>
              <a:ext uri="{FF2B5EF4-FFF2-40B4-BE49-F238E27FC236}">
                <a16:creationId xmlns:a16="http://schemas.microsoft.com/office/drawing/2014/main" id="{D010693B-C7C1-4E70-AC7E-64956B8DB2A4}"/>
              </a:ext>
            </a:extLst>
          </p:cNvPr>
          <p:cNvSpPr txBox="1"/>
          <p:nvPr/>
        </p:nvSpPr>
        <p:spPr>
          <a:xfrm>
            <a:off x="4410113" y="3929622"/>
            <a:ext cx="3662261" cy="212365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dirty="0">
                <a:solidFill>
                  <a:schemeClr val="bg2">
                    <a:lumMod val="25000"/>
                  </a:schemeClr>
                </a:solidFill>
                <a:latin typeface="+mj-lt"/>
                <a:cs typeface="Calibri"/>
              </a:rPr>
              <a:t>Bhavani Gunda</a:t>
            </a:r>
          </a:p>
          <a:p>
            <a:pPr algn="ctr"/>
            <a:endParaRPr lang="en-US" sz="1200" b="1" dirty="0">
              <a:solidFill>
                <a:schemeClr val="bg2">
                  <a:lumMod val="25000"/>
                </a:schemeClr>
              </a:solidFill>
              <a:latin typeface="+mj-lt"/>
              <a:cs typeface="Calibri"/>
            </a:endParaRPr>
          </a:p>
          <a:p>
            <a:r>
              <a:rPr lang="en-US" sz="2000" dirty="0">
                <a:solidFill>
                  <a:schemeClr val="bg2">
                    <a:lumMod val="25000"/>
                  </a:schemeClr>
                </a:solidFill>
                <a:latin typeface="+mj-lt"/>
                <a:cs typeface="Calibri"/>
              </a:rPr>
              <a:t>    Email id   : </a:t>
            </a:r>
            <a:r>
              <a:rPr lang="en-US" sz="2000" dirty="0">
                <a:solidFill>
                  <a:schemeClr val="bg2">
                    <a:lumMod val="25000"/>
                  </a:schemeClr>
                </a:solidFill>
                <a:latin typeface="+mj-lt"/>
                <a:cs typeface="Calibri"/>
                <a:hlinkClick r:id="rId3"/>
              </a:rPr>
              <a:t>gunda@pdx.edu</a:t>
            </a:r>
            <a:endParaRPr lang="en-US" sz="2000" dirty="0">
              <a:solidFill>
                <a:schemeClr val="bg2">
                  <a:lumMod val="25000"/>
                </a:schemeClr>
              </a:solidFill>
              <a:latin typeface="+mj-lt"/>
              <a:cs typeface="Calibri"/>
            </a:endParaRPr>
          </a:p>
          <a:p>
            <a:r>
              <a:rPr lang="en-US" sz="2000" dirty="0">
                <a:solidFill>
                  <a:schemeClr val="bg2">
                    <a:lumMod val="25000"/>
                  </a:schemeClr>
                </a:solidFill>
                <a:latin typeface="+mj-lt"/>
                <a:cs typeface="Calibri"/>
              </a:rPr>
              <a:t>     PSU ID   : 982797457</a:t>
            </a:r>
          </a:p>
          <a:p>
            <a:r>
              <a:rPr lang="en-US" sz="2000" dirty="0">
                <a:solidFill>
                  <a:schemeClr val="bg2">
                    <a:lumMod val="25000"/>
                  </a:schemeClr>
                </a:solidFill>
                <a:latin typeface="+mj-lt"/>
                <a:cs typeface="Calibri"/>
              </a:rPr>
              <a:t>     Term       :  5</a:t>
            </a:r>
            <a:r>
              <a:rPr lang="en-US" sz="2000" baseline="30000" dirty="0">
                <a:solidFill>
                  <a:schemeClr val="bg2">
                    <a:lumMod val="25000"/>
                  </a:schemeClr>
                </a:solidFill>
                <a:latin typeface="+mj-lt"/>
                <a:cs typeface="Calibri"/>
              </a:rPr>
              <a:t>th</a:t>
            </a:r>
            <a:r>
              <a:rPr lang="en-US" sz="2000" dirty="0">
                <a:solidFill>
                  <a:schemeClr val="bg2">
                    <a:lumMod val="25000"/>
                  </a:schemeClr>
                </a:solidFill>
                <a:latin typeface="+mj-lt"/>
                <a:cs typeface="Calibri"/>
              </a:rPr>
              <a:t> term</a:t>
            </a:r>
          </a:p>
          <a:p>
            <a:r>
              <a:rPr lang="en-US" sz="2000" dirty="0">
                <a:solidFill>
                  <a:schemeClr val="bg2">
                    <a:lumMod val="25000"/>
                  </a:schemeClr>
                </a:solidFill>
                <a:latin typeface="+mj-lt"/>
                <a:cs typeface="Calibri"/>
              </a:rPr>
              <a:t>     Track       :  Design Verification </a:t>
            </a:r>
          </a:p>
          <a:p>
            <a:r>
              <a:rPr lang="en-US" sz="2000" dirty="0">
                <a:solidFill>
                  <a:schemeClr val="bg2">
                    <a:lumMod val="25000"/>
                  </a:schemeClr>
                </a:solidFill>
                <a:latin typeface="+mj-lt"/>
                <a:cs typeface="Calibri"/>
              </a:rPr>
              <a:t>                       and Validation </a:t>
            </a:r>
            <a:endParaRPr lang="en-US" sz="2000" dirty="0">
              <a:solidFill>
                <a:schemeClr val="bg2">
                  <a:lumMod val="25000"/>
                </a:schemeClr>
              </a:solidFill>
              <a:latin typeface="+mj-lt"/>
            </a:endParaRPr>
          </a:p>
        </p:txBody>
      </p:sp>
      <p:sp>
        <p:nvSpPr>
          <p:cNvPr id="9" name="TextBox 8">
            <a:extLst>
              <a:ext uri="{FF2B5EF4-FFF2-40B4-BE49-F238E27FC236}">
                <a16:creationId xmlns:a16="http://schemas.microsoft.com/office/drawing/2014/main" id="{50034A65-78D1-4A20-85EF-10CAF451D51E}"/>
              </a:ext>
            </a:extLst>
          </p:cNvPr>
          <p:cNvSpPr txBox="1"/>
          <p:nvPr/>
        </p:nvSpPr>
        <p:spPr>
          <a:xfrm>
            <a:off x="8416758" y="3929622"/>
            <a:ext cx="3662261" cy="212365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dirty="0" err="1">
                <a:solidFill>
                  <a:schemeClr val="bg2">
                    <a:lumMod val="25000"/>
                  </a:schemeClr>
                </a:solidFill>
                <a:latin typeface="+mj-lt"/>
                <a:cs typeface="Calibri"/>
              </a:rPr>
              <a:t>Vijayamanikanta</a:t>
            </a:r>
            <a:r>
              <a:rPr lang="en-US" sz="2000" b="1" dirty="0">
                <a:solidFill>
                  <a:schemeClr val="bg2">
                    <a:lumMod val="25000"/>
                  </a:schemeClr>
                </a:solidFill>
                <a:latin typeface="+mj-lt"/>
                <a:cs typeface="Calibri"/>
              </a:rPr>
              <a:t> </a:t>
            </a:r>
            <a:r>
              <a:rPr lang="en-US" sz="2000" b="1" dirty="0" err="1">
                <a:solidFill>
                  <a:schemeClr val="bg2">
                    <a:lumMod val="25000"/>
                  </a:schemeClr>
                </a:solidFill>
                <a:latin typeface="+mj-lt"/>
                <a:cs typeface="Calibri"/>
              </a:rPr>
              <a:t>Kotagiri</a:t>
            </a:r>
            <a:endParaRPr lang="en-US" sz="2000" b="1" dirty="0">
              <a:solidFill>
                <a:schemeClr val="bg2">
                  <a:lumMod val="25000"/>
                </a:schemeClr>
              </a:solidFill>
              <a:latin typeface="+mj-lt"/>
              <a:cs typeface="Calibri"/>
            </a:endParaRPr>
          </a:p>
          <a:p>
            <a:pPr algn="ctr"/>
            <a:endParaRPr lang="en-US" sz="1200" b="1" dirty="0">
              <a:solidFill>
                <a:schemeClr val="bg2">
                  <a:lumMod val="25000"/>
                </a:schemeClr>
              </a:solidFill>
              <a:latin typeface="+mj-lt"/>
              <a:cs typeface="Calibri"/>
            </a:endParaRPr>
          </a:p>
          <a:p>
            <a:r>
              <a:rPr lang="en-US" sz="2000" dirty="0">
                <a:solidFill>
                  <a:schemeClr val="bg2">
                    <a:lumMod val="25000"/>
                  </a:schemeClr>
                </a:solidFill>
                <a:latin typeface="+mj-lt"/>
                <a:cs typeface="Calibri"/>
              </a:rPr>
              <a:t>    Email id   :  </a:t>
            </a:r>
            <a:r>
              <a:rPr lang="en-US" sz="2000" dirty="0">
                <a:solidFill>
                  <a:schemeClr val="bg2">
                    <a:lumMod val="25000"/>
                  </a:schemeClr>
                </a:solidFill>
                <a:latin typeface="+mj-lt"/>
                <a:cs typeface="Calibri"/>
                <a:hlinkClick r:id="rId4"/>
              </a:rPr>
              <a:t>kotagiri@pdx.edu</a:t>
            </a:r>
            <a:endParaRPr lang="en-US" sz="2000" dirty="0">
              <a:solidFill>
                <a:schemeClr val="bg2">
                  <a:lumMod val="25000"/>
                </a:schemeClr>
              </a:solidFill>
              <a:latin typeface="+mj-lt"/>
              <a:cs typeface="Calibri"/>
            </a:endParaRPr>
          </a:p>
          <a:p>
            <a:r>
              <a:rPr lang="en-US" sz="2000" dirty="0">
                <a:solidFill>
                  <a:schemeClr val="bg2">
                    <a:lumMod val="25000"/>
                  </a:schemeClr>
                </a:solidFill>
                <a:latin typeface="+mj-lt"/>
                <a:cs typeface="Calibri"/>
              </a:rPr>
              <a:t>     PSU ID   : 927606470</a:t>
            </a:r>
          </a:p>
          <a:p>
            <a:r>
              <a:rPr lang="en-US" sz="2000" dirty="0">
                <a:solidFill>
                  <a:schemeClr val="bg2">
                    <a:lumMod val="25000"/>
                  </a:schemeClr>
                </a:solidFill>
                <a:latin typeface="+mj-lt"/>
                <a:cs typeface="Calibri"/>
              </a:rPr>
              <a:t>     Term       :  5</a:t>
            </a:r>
            <a:r>
              <a:rPr lang="en-US" sz="2000" baseline="30000" dirty="0">
                <a:solidFill>
                  <a:schemeClr val="bg2">
                    <a:lumMod val="25000"/>
                  </a:schemeClr>
                </a:solidFill>
                <a:latin typeface="+mj-lt"/>
                <a:cs typeface="Calibri"/>
              </a:rPr>
              <a:t>th</a:t>
            </a:r>
            <a:r>
              <a:rPr lang="en-US" sz="2000" dirty="0">
                <a:solidFill>
                  <a:schemeClr val="bg2">
                    <a:lumMod val="25000"/>
                  </a:schemeClr>
                </a:solidFill>
                <a:latin typeface="+mj-lt"/>
                <a:cs typeface="Calibri"/>
              </a:rPr>
              <a:t> term</a:t>
            </a:r>
          </a:p>
          <a:p>
            <a:r>
              <a:rPr lang="en-US" sz="2000" dirty="0">
                <a:solidFill>
                  <a:schemeClr val="bg2">
                    <a:lumMod val="25000"/>
                  </a:schemeClr>
                </a:solidFill>
                <a:latin typeface="+mj-lt"/>
                <a:cs typeface="Calibri"/>
              </a:rPr>
              <a:t>     Track      :  Digital Integrated    	         Circuits Design</a:t>
            </a:r>
            <a:endParaRPr lang="en-US" dirty="0">
              <a:solidFill>
                <a:schemeClr val="bg2">
                  <a:lumMod val="25000"/>
                </a:schemeClr>
              </a:solidFill>
              <a:latin typeface="+mj-lt"/>
              <a:cs typeface="Calibri"/>
            </a:endParaRPr>
          </a:p>
        </p:txBody>
      </p:sp>
      <p:sp>
        <p:nvSpPr>
          <p:cNvPr id="10" name="Rectangle 9">
            <a:extLst>
              <a:ext uri="{FF2B5EF4-FFF2-40B4-BE49-F238E27FC236}">
                <a16:creationId xmlns:a16="http://schemas.microsoft.com/office/drawing/2014/main" id="{97342C69-83F3-44C8-9BF0-1124B8AAC2FB}"/>
              </a:ext>
            </a:extLst>
          </p:cNvPr>
          <p:cNvSpPr/>
          <p:nvPr/>
        </p:nvSpPr>
        <p:spPr>
          <a:xfrm>
            <a:off x="4602726" y="2853812"/>
            <a:ext cx="2986548" cy="38345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GROUP 3</a:t>
            </a:r>
          </a:p>
        </p:txBody>
      </p:sp>
      <p:sp>
        <p:nvSpPr>
          <p:cNvPr id="11" name="TextBox 10">
            <a:extLst>
              <a:ext uri="{FF2B5EF4-FFF2-40B4-BE49-F238E27FC236}">
                <a16:creationId xmlns:a16="http://schemas.microsoft.com/office/drawing/2014/main" id="{EBAD16D9-3364-475A-A069-633DD755D51E}"/>
              </a:ext>
            </a:extLst>
          </p:cNvPr>
          <p:cNvSpPr txBox="1"/>
          <p:nvPr/>
        </p:nvSpPr>
        <p:spPr>
          <a:xfrm>
            <a:off x="3193858" y="1732002"/>
            <a:ext cx="6094770" cy="1015663"/>
          </a:xfrm>
          <a:prstGeom prst="rect">
            <a:avLst/>
          </a:prstGeom>
          <a:noFill/>
        </p:spPr>
        <p:txBody>
          <a:bodyPr wrap="square">
            <a:spAutoFit/>
          </a:bodyPr>
          <a:lstStyle/>
          <a:p>
            <a:pPr algn="ctr"/>
            <a:r>
              <a:rPr lang="en-US" sz="2000" b="1" dirty="0">
                <a:latin typeface="+mj-lt"/>
              </a:rPr>
              <a:t>ECE-593 Fundamentals of Pre-silicon Validation</a:t>
            </a:r>
          </a:p>
          <a:p>
            <a:pPr algn="ctr"/>
            <a:r>
              <a:rPr lang="en-US" sz="2000" b="1" dirty="0">
                <a:latin typeface="+mj-lt"/>
              </a:rPr>
              <a:t>Instructor: Venkatesh Patil</a:t>
            </a:r>
          </a:p>
          <a:p>
            <a:pPr algn="ctr"/>
            <a:r>
              <a:rPr lang="en-US" sz="2000" b="1" dirty="0">
                <a:latin typeface="+mj-lt"/>
              </a:rPr>
              <a:t>Winter 2024</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E0CD-5A58-91E7-FA70-0DC195B40E08}"/>
              </a:ext>
            </a:extLst>
          </p:cNvPr>
          <p:cNvSpPr>
            <a:spLocks noGrp="1"/>
          </p:cNvSpPr>
          <p:nvPr>
            <p:ph type="title"/>
          </p:nvPr>
        </p:nvSpPr>
        <p:spPr>
          <a:xfrm>
            <a:off x="2721078" y="467316"/>
            <a:ext cx="6115792" cy="577047"/>
          </a:xfrm>
          <a:ln>
            <a:solidFill>
              <a:schemeClr val="tx1"/>
            </a:solidFill>
          </a:ln>
        </p:spPr>
        <p:style>
          <a:lnRef idx="1">
            <a:schemeClr val="accent6"/>
          </a:lnRef>
          <a:fillRef idx="1002">
            <a:schemeClr val="dk2"/>
          </a:fillRef>
          <a:effectRef idx="2">
            <a:schemeClr val="accent6"/>
          </a:effectRef>
          <a:fontRef idx="minor">
            <a:schemeClr val="lt1"/>
          </a:fontRef>
        </p:style>
        <p:txBody>
          <a:bodyPr>
            <a:noAutofit/>
          </a:bodyPr>
          <a:lstStyle/>
          <a:p>
            <a:r>
              <a:rPr lang="en-US" b="1" dirty="0">
                <a:solidFill>
                  <a:schemeClr val="bg1"/>
                </a:solidFill>
                <a:latin typeface="+mj-lt"/>
              </a:rPr>
              <a:t>Contribution of Team members</a:t>
            </a:r>
          </a:p>
        </p:txBody>
      </p:sp>
      <p:sp>
        <p:nvSpPr>
          <p:cNvPr id="5" name="Slide Number Placeholder 4">
            <a:extLst>
              <a:ext uri="{FF2B5EF4-FFF2-40B4-BE49-F238E27FC236}">
                <a16:creationId xmlns:a16="http://schemas.microsoft.com/office/drawing/2014/main" id="{DE898D88-3CB8-D1C0-E8F8-FE1802C8EDA8}"/>
              </a:ext>
            </a:extLst>
          </p:cNvPr>
          <p:cNvSpPr>
            <a:spLocks noGrp="1"/>
          </p:cNvSpPr>
          <p:nvPr>
            <p:ph type="sldNum" sz="quarter" idx="12"/>
          </p:nvPr>
        </p:nvSpPr>
        <p:spPr/>
        <p:txBody>
          <a:bodyPr/>
          <a:lstStyle/>
          <a:p>
            <a:fld id="{294A09A9-5501-47C1-A89A-A340965A2BE2}" type="slidenum">
              <a:rPr lang="en-US" sz="1600" smtClean="0"/>
              <a:t>2</a:t>
            </a:fld>
            <a:endParaRPr lang="en-US" dirty="0"/>
          </a:p>
        </p:txBody>
      </p:sp>
      <p:sp>
        <p:nvSpPr>
          <p:cNvPr id="6" name="TextBox 5">
            <a:extLst>
              <a:ext uri="{FF2B5EF4-FFF2-40B4-BE49-F238E27FC236}">
                <a16:creationId xmlns:a16="http://schemas.microsoft.com/office/drawing/2014/main" id="{43A7BE8D-BD53-483B-A649-9370B73C0B81}"/>
              </a:ext>
            </a:extLst>
          </p:cNvPr>
          <p:cNvSpPr txBox="1"/>
          <p:nvPr/>
        </p:nvSpPr>
        <p:spPr>
          <a:xfrm>
            <a:off x="345128" y="1329558"/>
            <a:ext cx="3662261" cy="526297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dirty="0">
                <a:solidFill>
                  <a:schemeClr val="bg2">
                    <a:lumMod val="25000"/>
                  </a:schemeClr>
                </a:solidFill>
                <a:latin typeface="+mj-lt"/>
                <a:cs typeface="Calibri"/>
              </a:rPr>
              <a:t>Asritha Manju Immadisetty</a:t>
            </a:r>
          </a:p>
          <a:p>
            <a:r>
              <a:rPr lang="en-US" sz="1600" b="1" dirty="0">
                <a:solidFill>
                  <a:schemeClr val="bg2">
                    <a:lumMod val="25000"/>
                  </a:schemeClr>
                </a:solidFill>
                <a:latin typeface="+mj-lt"/>
                <a:cs typeface="Calibri"/>
              </a:rPr>
              <a:t>Design</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Read pointer module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Read Synchronizer</a:t>
            </a:r>
          </a:p>
          <a:p>
            <a:r>
              <a:rPr lang="en-US" sz="1600" b="1" dirty="0">
                <a:solidFill>
                  <a:schemeClr val="bg2">
                    <a:lumMod val="25000"/>
                  </a:schemeClr>
                </a:solidFill>
                <a:latin typeface="+mj-lt"/>
                <a:cs typeface="Calibri"/>
              </a:rPr>
              <a:t>SystemVerilog Verification Environment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Driver</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Scoreboard</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Coverage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tested the burst passing from</a:t>
            </a:r>
          </a:p>
          <a:p>
            <a:r>
              <a:rPr lang="en-US" sz="1600" dirty="0">
                <a:solidFill>
                  <a:schemeClr val="bg2">
                    <a:lumMod val="25000"/>
                  </a:schemeClr>
                </a:solidFill>
                <a:latin typeface="+mj-lt"/>
                <a:cs typeface="Calibri"/>
              </a:rPr>
              <a:t>                generator-&gt; driver-&gt; monitor</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SV Test bench Hierarchy</a:t>
            </a:r>
          </a:p>
          <a:p>
            <a:r>
              <a:rPr lang="en-US" sz="1600" b="1" dirty="0">
                <a:solidFill>
                  <a:schemeClr val="bg2">
                    <a:lumMod val="25000"/>
                  </a:schemeClr>
                </a:solidFill>
                <a:latin typeface="+mj-lt"/>
                <a:cs typeface="Calibri"/>
              </a:rPr>
              <a:t>UVM Verification Environment</a:t>
            </a:r>
          </a:p>
          <a:p>
            <a:pPr marL="742950" lvl="1" indent="-285750">
              <a:buFont typeface="Wingdings" panose="05000000000000000000" pitchFamily="2" charset="2"/>
              <a:buChar char="Ø"/>
            </a:pPr>
            <a:r>
              <a:rPr lang="en-US" sz="1600" b="1" dirty="0">
                <a:solidFill>
                  <a:schemeClr val="bg2">
                    <a:lumMod val="25000"/>
                  </a:schemeClr>
                </a:solidFill>
                <a:latin typeface="+mj-lt"/>
                <a:cs typeface="Calibri"/>
              </a:rPr>
              <a:t> </a:t>
            </a:r>
            <a:r>
              <a:rPr lang="en-US" sz="1600" dirty="0">
                <a:solidFill>
                  <a:schemeClr val="bg2">
                    <a:lumMod val="25000"/>
                  </a:schemeClr>
                </a:solidFill>
                <a:latin typeface="+mj-lt"/>
                <a:cs typeface="Calibri"/>
              </a:rPr>
              <a:t>read sequence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Driver</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Agent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Scoreboard</a:t>
            </a:r>
          </a:p>
          <a:p>
            <a:pPr marL="742950" lvl="1" indent="-285750">
              <a:buFont typeface="Wingdings" panose="05000000000000000000" pitchFamily="2" charset="2"/>
              <a:buChar char="Ø"/>
            </a:pPr>
            <a:r>
              <a:rPr lang="en-US" dirty="0">
                <a:solidFill>
                  <a:schemeClr val="bg2">
                    <a:lumMod val="25000"/>
                  </a:schemeClr>
                </a:solidFill>
                <a:latin typeface="+mj-lt"/>
                <a:cs typeface="Calibri"/>
              </a:rPr>
              <a:t>tested the burst passing from sequence-&gt; sequencer-&gt;driver</a:t>
            </a:r>
          </a:p>
          <a:p>
            <a:pPr marL="342900" indent="-342900">
              <a:buFont typeface="Wingdings" panose="05000000000000000000" pitchFamily="2" charset="2"/>
              <a:buChar char="Ø"/>
            </a:pPr>
            <a:r>
              <a:rPr lang="en-US" dirty="0">
                <a:solidFill>
                  <a:schemeClr val="bg2">
                    <a:lumMod val="25000"/>
                  </a:schemeClr>
                </a:solidFill>
                <a:latin typeface="+mj-lt"/>
                <a:cs typeface="Calibri"/>
              </a:rPr>
              <a:t>HLDS Document</a:t>
            </a:r>
          </a:p>
          <a:p>
            <a:pPr marL="342900" indent="-342900">
              <a:buFont typeface="Wingdings" panose="05000000000000000000" pitchFamily="2" charset="2"/>
              <a:buChar char="Ø"/>
            </a:pPr>
            <a:r>
              <a:rPr lang="en-US" dirty="0">
                <a:solidFill>
                  <a:schemeClr val="bg2">
                    <a:lumMod val="25000"/>
                  </a:schemeClr>
                </a:solidFill>
                <a:latin typeface="+mj-lt"/>
                <a:cs typeface="Calibri"/>
              </a:rPr>
              <a:t>PPT </a:t>
            </a:r>
          </a:p>
        </p:txBody>
      </p:sp>
      <p:sp>
        <p:nvSpPr>
          <p:cNvPr id="7" name="TextBox 6">
            <a:extLst>
              <a:ext uri="{FF2B5EF4-FFF2-40B4-BE49-F238E27FC236}">
                <a16:creationId xmlns:a16="http://schemas.microsoft.com/office/drawing/2014/main" id="{ADC4FC61-F3FE-401D-837E-69E582113D91}"/>
              </a:ext>
            </a:extLst>
          </p:cNvPr>
          <p:cNvSpPr txBox="1"/>
          <p:nvPr/>
        </p:nvSpPr>
        <p:spPr>
          <a:xfrm>
            <a:off x="4216093" y="1329558"/>
            <a:ext cx="3759814" cy="526297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dirty="0">
                <a:solidFill>
                  <a:schemeClr val="bg2">
                    <a:lumMod val="25000"/>
                  </a:schemeClr>
                </a:solidFill>
                <a:latin typeface="+mj-lt"/>
                <a:cs typeface="Calibri"/>
              </a:rPr>
              <a:t>Bhavani Gunda</a:t>
            </a:r>
            <a:endParaRPr lang="en-US" sz="1200" b="1" dirty="0">
              <a:solidFill>
                <a:schemeClr val="bg2">
                  <a:lumMod val="25000"/>
                </a:schemeClr>
              </a:solidFill>
              <a:latin typeface="+mj-lt"/>
              <a:cs typeface="Calibri"/>
            </a:endParaRPr>
          </a:p>
          <a:p>
            <a:r>
              <a:rPr lang="en-US" sz="1600" b="1" dirty="0">
                <a:solidFill>
                  <a:schemeClr val="bg2">
                    <a:lumMod val="25000"/>
                  </a:schemeClr>
                </a:solidFill>
                <a:latin typeface="+mj-lt"/>
                <a:cs typeface="Calibri"/>
              </a:rPr>
              <a:t>Design</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Write pointer module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Write Synchronizer</a:t>
            </a:r>
          </a:p>
          <a:p>
            <a:r>
              <a:rPr lang="en-US" sz="1600" b="1" dirty="0">
                <a:solidFill>
                  <a:schemeClr val="bg2">
                    <a:lumMod val="25000"/>
                  </a:schemeClr>
                </a:solidFill>
                <a:latin typeface="+mj-lt"/>
                <a:cs typeface="Calibri"/>
              </a:rPr>
              <a:t>SystemVerilog Verification Environment</a:t>
            </a:r>
          </a:p>
          <a:p>
            <a:pPr marL="742950" lvl="1" indent="-285750">
              <a:buFont typeface="Wingdings" panose="05000000000000000000" pitchFamily="2" charset="2"/>
              <a:buChar char="Ø"/>
            </a:pPr>
            <a:r>
              <a:rPr lang="en-US" dirty="0">
                <a:solidFill>
                  <a:schemeClr val="bg2">
                    <a:lumMod val="25000"/>
                  </a:schemeClr>
                </a:solidFill>
                <a:latin typeface="+mj-lt"/>
                <a:cs typeface="Calibri"/>
              </a:rPr>
              <a:t>Transaction class</a:t>
            </a:r>
          </a:p>
          <a:p>
            <a:pPr marL="742950" lvl="1" indent="-285750">
              <a:buFont typeface="Wingdings" panose="05000000000000000000" pitchFamily="2" charset="2"/>
              <a:buChar char="Ø"/>
            </a:pPr>
            <a:r>
              <a:rPr lang="en-US" dirty="0">
                <a:solidFill>
                  <a:schemeClr val="bg2">
                    <a:lumMod val="25000"/>
                  </a:schemeClr>
                </a:solidFill>
                <a:latin typeface="+mj-lt"/>
                <a:cs typeface="Calibri"/>
              </a:rPr>
              <a:t>Generator</a:t>
            </a:r>
          </a:p>
          <a:p>
            <a:pPr marL="742950" lvl="1" indent="-285750">
              <a:buFont typeface="Wingdings" panose="05000000000000000000" pitchFamily="2" charset="2"/>
              <a:buChar char="Ø"/>
            </a:pPr>
            <a:r>
              <a:rPr lang="en-US" dirty="0">
                <a:solidFill>
                  <a:schemeClr val="bg2">
                    <a:lumMod val="25000"/>
                  </a:schemeClr>
                </a:solidFill>
                <a:latin typeface="+mj-lt"/>
                <a:cs typeface="Calibri"/>
              </a:rPr>
              <a:t>Monitor</a:t>
            </a:r>
          </a:p>
          <a:p>
            <a:pPr marL="742950" lvl="1" indent="-285750">
              <a:buFont typeface="Wingdings" panose="05000000000000000000" pitchFamily="2" charset="2"/>
              <a:buChar char="Ø"/>
            </a:pPr>
            <a:r>
              <a:rPr lang="en-US" dirty="0">
                <a:solidFill>
                  <a:schemeClr val="bg2">
                    <a:lumMod val="25000"/>
                  </a:schemeClr>
                </a:solidFill>
                <a:latin typeface="+mj-lt"/>
                <a:cs typeface="Calibri"/>
              </a:rPr>
              <a:t>tested the burst passing from generator -&gt; driver-&gt; monitor-&gt;.scoreboard</a:t>
            </a:r>
            <a:endParaRPr lang="en-US" sz="1600" dirty="0">
              <a:solidFill>
                <a:schemeClr val="bg2">
                  <a:lumMod val="25000"/>
                </a:schemeClr>
              </a:solidFill>
              <a:latin typeface="+mj-lt"/>
              <a:cs typeface="Calibri"/>
            </a:endParaRPr>
          </a:p>
          <a:p>
            <a:r>
              <a:rPr lang="en-US" sz="1600" b="1" dirty="0">
                <a:solidFill>
                  <a:schemeClr val="bg2">
                    <a:lumMod val="25000"/>
                  </a:schemeClr>
                </a:solidFill>
                <a:latin typeface="+mj-lt"/>
                <a:cs typeface="Calibri"/>
              </a:rPr>
              <a:t>UVM Verification Environment</a:t>
            </a:r>
          </a:p>
          <a:p>
            <a:pPr marL="742950" lvl="1" indent="-285750">
              <a:buFont typeface="Wingdings" panose="05000000000000000000" pitchFamily="2" charset="2"/>
              <a:buChar char="Ø"/>
            </a:pPr>
            <a:r>
              <a:rPr lang="en-US" sz="1600" b="1" dirty="0">
                <a:solidFill>
                  <a:schemeClr val="bg2">
                    <a:lumMod val="25000"/>
                  </a:schemeClr>
                </a:solidFill>
                <a:latin typeface="+mj-lt"/>
                <a:cs typeface="Calibri"/>
              </a:rPr>
              <a:t>  </a:t>
            </a:r>
            <a:r>
              <a:rPr lang="en-US" sz="1600" dirty="0">
                <a:solidFill>
                  <a:schemeClr val="bg2">
                    <a:lumMod val="25000"/>
                  </a:schemeClr>
                </a:solidFill>
                <a:latin typeface="+mj-lt"/>
                <a:cs typeface="Calibri"/>
              </a:rPr>
              <a:t>Sequence Item</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Write Sequence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Sequencer</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tested the burst passing from the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driver-&gt;monitor-&gt;scoreboard</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UVM testbench hierarchy</a:t>
            </a:r>
          </a:p>
          <a:p>
            <a:pPr marL="342900" indent="-342900">
              <a:buFont typeface="Wingdings" panose="05000000000000000000" pitchFamily="2" charset="2"/>
              <a:buChar char="Ø"/>
            </a:pPr>
            <a:r>
              <a:rPr lang="en-US" sz="1600" dirty="0">
                <a:solidFill>
                  <a:schemeClr val="bg2">
                    <a:lumMod val="25000"/>
                  </a:schemeClr>
                </a:solidFill>
                <a:latin typeface="+mj-lt"/>
                <a:cs typeface="Calibri"/>
              </a:rPr>
              <a:t>HLDS Document</a:t>
            </a:r>
          </a:p>
          <a:p>
            <a:pPr marL="342900" indent="-342900">
              <a:buFont typeface="Wingdings" panose="05000000000000000000" pitchFamily="2" charset="2"/>
              <a:buChar char="Ø"/>
            </a:pPr>
            <a:r>
              <a:rPr lang="en-US" sz="1600" dirty="0">
                <a:solidFill>
                  <a:schemeClr val="bg2">
                    <a:lumMod val="25000"/>
                  </a:schemeClr>
                </a:solidFill>
                <a:latin typeface="+mj-lt"/>
                <a:cs typeface="Calibri"/>
              </a:rPr>
              <a:t>PPT </a:t>
            </a:r>
          </a:p>
        </p:txBody>
      </p:sp>
      <p:sp>
        <p:nvSpPr>
          <p:cNvPr id="9" name="TextBox 8">
            <a:extLst>
              <a:ext uri="{FF2B5EF4-FFF2-40B4-BE49-F238E27FC236}">
                <a16:creationId xmlns:a16="http://schemas.microsoft.com/office/drawing/2014/main" id="{003ED2CA-972C-42EF-BD6D-66AE2CDC8C80}"/>
              </a:ext>
            </a:extLst>
          </p:cNvPr>
          <p:cNvSpPr txBox="1"/>
          <p:nvPr/>
        </p:nvSpPr>
        <p:spPr>
          <a:xfrm>
            <a:off x="8184611" y="1329558"/>
            <a:ext cx="3662261" cy="513986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dirty="0">
                <a:solidFill>
                  <a:schemeClr val="bg2">
                    <a:lumMod val="25000"/>
                  </a:schemeClr>
                </a:solidFill>
                <a:latin typeface="+mj-lt"/>
                <a:cs typeface="Calibri"/>
              </a:rPr>
              <a:t>Vijaymanikanta </a:t>
            </a:r>
            <a:r>
              <a:rPr lang="en-US" sz="2000" b="1" dirty="0" err="1">
                <a:solidFill>
                  <a:schemeClr val="bg2">
                    <a:lumMod val="25000"/>
                  </a:schemeClr>
                </a:solidFill>
                <a:latin typeface="+mj-lt"/>
                <a:cs typeface="Calibri"/>
              </a:rPr>
              <a:t>Kotagiri</a:t>
            </a:r>
            <a:endParaRPr lang="en-US" sz="1200" b="1" dirty="0">
              <a:solidFill>
                <a:schemeClr val="bg2">
                  <a:lumMod val="25000"/>
                </a:schemeClr>
              </a:solidFill>
              <a:latin typeface="+mj-lt"/>
              <a:cs typeface="Calibri"/>
            </a:endParaRPr>
          </a:p>
          <a:p>
            <a:r>
              <a:rPr lang="en-US" sz="1600" b="1" dirty="0">
                <a:solidFill>
                  <a:schemeClr val="bg2">
                    <a:lumMod val="25000"/>
                  </a:schemeClr>
                </a:solidFill>
                <a:latin typeface="+mj-lt"/>
                <a:cs typeface="Calibri"/>
              </a:rPr>
              <a:t>Design</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Fifo Memory</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Interface and top module</a:t>
            </a:r>
          </a:p>
          <a:p>
            <a:r>
              <a:rPr lang="en-US" sz="1600" b="1" dirty="0">
                <a:solidFill>
                  <a:schemeClr val="bg2">
                    <a:lumMod val="25000"/>
                  </a:schemeClr>
                </a:solidFill>
                <a:latin typeface="+mj-lt"/>
                <a:cs typeface="Calibri"/>
              </a:rPr>
              <a:t>SystemVerilog Verification Environment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Environment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Test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Testbench top</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Coverage</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the burst passing from the </a:t>
            </a:r>
          </a:p>
          <a:p>
            <a:pPr lvl="1"/>
            <a:r>
              <a:rPr lang="en-US" sz="1600" dirty="0">
                <a:solidFill>
                  <a:schemeClr val="bg2">
                    <a:lumMod val="25000"/>
                  </a:schemeClr>
                </a:solidFill>
                <a:latin typeface="+mj-lt"/>
                <a:cs typeface="Calibri"/>
              </a:rPr>
              <a:t>       monitor-&gt;scoreboard</a:t>
            </a:r>
          </a:p>
          <a:p>
            <a:r>
              <a:rPr lang="en-US" sz="1600" b="1" dirty="0">
                <a:solidFill>
                  <a:schemeClr val="bg2">
                    <a:lumMod val="25000"/>
                  </a:schemeClr>
                </a:solidFill>
                <a:latin typeface="+mj-lt"/>
                <a:cs typeface="Calibri"/>
              </a:rPr>
              <a:t>UVM Verification Environment</a:t>
            </a:r>
          </a:p>
          <a:p>
            <a:pPr marL="742950" lvl="1" indent="-285750">
              <a:buFont typeface="Wingdings" panose="05000000000000000000" pitchFamily="2" charset="2"/>
              <a:buChar char="Ø"/>
            </a:pPr>
            <a:r>
              <a:rPr lang="en-US" sz="1600" b="1" dirty="0">
                <a:solidFill>
                  <a:schemeClr val="bg2">
                    <a:lumMod val="25000"/>
                  </a:schemeClr>
                </a:solidFill>
                <a:latin typeface="+mj-lt"/>
                <a:cs typeface="Calibri"/>
              </a:rPr>
              <a:t> </a:t>
            </a:r>
            <a:r>
              <a:rPr lang="en-US" sz="1600" dirty="0">
                <a:solidFill>
                  <a:schemeClr val="bg2">
                    <a:lumMod val="25000"/>
                  </a:schemeClr>
                </a:solidFill>
                <a:latin typeface="+mj-lt"/>
                <a:cs typeface="Calibri"/>
              </a:rPr>
              <a:t>Environment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Test</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Test Bench Top</a:t>
            </a:r>
          </a:p>
          <a:p>
            <a:pPr marL="742950" lvl="1" indent="-285750">
              <a:buFont typeface="Wingdings" panose="05000000000000000000" pitchFamily="2" charset="2"/>
              <a:buChar char="Ø"/>
            </a:pPr>
            <a:r>
              <a:rPr lang="en-US" sz="1600" dirty="0">
                <a:solidFill>
                  <a:schemeClr val="bg2">
                    <a:lumMod val="25000"/>
                  </a:schemeClr>
                </a:solidFill>
                <a:latin typeface="+mj-lt"/>
                <a:cs typeface="Calibri"/>
              </a:rPr>
              <a:t>  Coverage</a:t>
            </a:r>
            <a:endParaRPr lang="en-US" sz="1200" dirty="0">
              <a:solidFill>
                <a:schemeClr val="bg2">
                  <a:lumMod val="25000"/>
                </a:schemeClr>
              </a:solidFill>
              <a:latin typeface="+mj-lt"/>
              <a:cs typeface="Calibri"/>
            </a:endParaRPr>
          </a:p>
          <a:p>
            <a:pPr marL="800100" lvl="1" indent="-342900">
              <a:buFont typeface="Wingdings" panose="05000000000000000000" pitchFamily="2" charset="2"/>
              <a:buChar char="Ø"/>
            </a:pPr>
            <a:r>
              <a:rPr lang="en-US" sz="2000" dirty="0">
                <a:solidFill>
                  <a:schemeClr val="bg2">
                    <a:lumMod val="25000"/>
                  </a:schemeClr>
                </a:solidFill>
                <a:latin typeface="+mj-lt"/>
                <a:cs typeface="Calibri"/>
              </a:rPr>
              <a:t> </a:t>
            </a:r>
            <a:r>
              <a:rPr lang="en-US" sz="1600" dirty="0">
                <a:solidFill>
                  <a:schemeClr val="bg2">
                    <a:lumMod val="25000"/>
                  </a:schemeClr>
                </a:solidFill>
                <a:latin typeface="+mj-lt"/>
                <a:cs typeface="Calibri"/>
              </a:rPr>
              <a:t> UVM Verification plan document   </a:t>
            </a:r>
          </a:p>
          <a:p>
            <a:pPr marL="342900" indent="-342900">
              <a:buFont typeface="Wingdings" panose="05000000000000000000" pitchFamily="2" charset="2"/>
              <a:buChar char="Ø"/>
            </a:pPr>
            <a:r>
              <a:rPr lang="en-US" sz="1600" dirty="0">
                <a:solidFill>
                  <a:schemeClr val="bg2">
                    <a:lumMod val="25000"/>
                  </a:schemeClr>
                </a:solidFill>
                <a:latin typeface="+mj-lt"/>
                <a:cs typeface="Calibri"/>
              </a:rPr>
              <a:t>HLDS Document</a:t>
            </a:r>
          </a:p>
          <a:p>
            <a:pPr marL="342900" indent="-342900">
              <a:buFont typeface="Wingdings" panose="05000000000000000000" pitchFamily="2" charset="2"/>
              <a:buChar char="Ø"/>
            </a:pPr>
            <a:r>
              <a:rPr lang="en-US" sz="1600" dirty="0">
                <a:solidFill>
                  <a:schemeClr val="bg2">
                    <a:lumMod val="25000"/>
                  </a:schemeClr>
                </a:solidFill>
                <a:latin typeface="+mj-lt"/>
                <a:cs typeface="Calibri"/>
              </a:rPr>
              <a:t>PPT </a:t>
            </a:r>
          </a:p>
        </p:txBody>
      </p:sp>
    </p:spTree>
    <p:extLst>
      <p:ext uri="{BB962C8B-B14F-4D97-AF65-F5344CB8AC3E}">
        <p14:creationId xmlns:p14="http://schemas.microsoft.com/office/powerpoint/2010/main" val="613087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E0CD-5A58-91E7-FA70-0DC195B40E08}"/>
              </a:ext>
            </a:extLst>
          </p:cNvPr>
          <p:cNvSpPr>
            <a:spLocks noGrp="1"/>
          </p:cNvSpPr>
          <p:nvPr>
            <p:ph type="title"/>
          </p:nvPr>
        </p:nvSpPr>
        <p:spPr>
          <a:xfrm>
            <a:off x="2721078" y="467316"/>
            <a:ext cx="6115792" cy="577047"/>
          </a:xfrm>
          <a:ln>
            <a:solidFill>
              <a:schemeClr val="tx1"/>
            </a:solidFill>
          </a:ln>
        </p:spPr>
        <p:style>
          <a:lnRef idx="1">
            <a:schemeClr val="accent6"/>
          </a:lnRef>
          <a:fillRef idx="1002">
            <a:schemeClr val="dk2"/>
          </a:fillRef>
          <a:effectRef idx="2">
            <a:schemeClr val="accent6"/>
          </a:effectRef>
          <a:fontRef idx="minor">
            <a:schemeClr val="lt1"/>
          </a:fontRef>
        </p:style>
        <p:txBody>
          <a:bodyPr>
            <a:noAutofit/>
          </a:bodyPr>
          <a:lstStyle/>
          <a:p>
            <a:r>
              <a:rPr lang="en-US" b="1" dirty="0">
                <a:solidFill>
                  <a:schemeClr val="bg1"/>
                </a:solidFill>
                <a:latin typeface="+mj-lt"/>
              </a:rPr>
              <a:t>Project Description</a:t>
            </a:r>
          </a:p>
        </p:txBody>
      </p:sp>
      <p:sp>
        <p:nvSpPr>
          <p:cNvPr id="5" name="Slide Number Placeholder 4">
            <a:extLst>
              <a:ext uri="{FF2B5EF4-FFF2-40B4-BE49-F238E27FC236}">
                <a16:creationId xmlns:a16="http://schemas.microsoft.com/office/drawing/2014/main" id="{DE898D88-3CB8-D1C0-E8F8-FE1802C8EDA8}"/>
              </a:ext>
            </a:extLst>
          </p:cNvPr>
          <p:cNvSpPr>
            <a:spLocks noGrp="1"/>
          </p:cNvSpPr>
          <p:nvPr>
            <p:ph type="sldNum" sz="quarter" idx="12"/>
          </p:nvPr>
        </p:nvSpPr>
        <p:spPr/>
        <p:txBody>
          <a:bodyPr/>
          <a:lstStyle/>
          <a:p>
            <a:fld id="{294A09A9-5501-47C1-A89A-A340965A2BE2}" type="slidenum">
              <a:rPr lang="en-US" sz="1600" smtClean="0"/>
              <a:t>3</a:t>
            </a:fld>
            <a:endParaRPr lang="en-US" dirty="0"/>
          </a:p>
        </p:txBody>
      </p:sp>
      <p:sp>
        <p:nvSpPr>
          <p:cNvPr id="6" name="TextBox 5">
            <a:extLst>
              <a:ext uri="{FF2B5EF4-FFF2-40B4-BE49-F238E27FC236}">
                <a16:creationId xmlns:a16="http://schemas.microsoft.com/office/drawing/2014/main" id="{574E7703-B0CF-4B28-AC57-3DF656E19735}"/>
              </a:ext>
            </a:extLst>
          </p:cNvPr>
          <p:cNvSpPr txBox="1"/>
          <p:nvPr/>
        </p:nvSpPr>
        <p:spPr>
          <a:xfrm>
            <a:off x="755624" y="1889996"/>
            <a:ext cx="5202723" cy="324313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285750" indent="-285750">
              <a:lnSpc>
                <a:spcPct val="140000"/>
              </a:lnSpc>
              <a:spcBef>
                <a:spcPts val="1000"/>
              </a:spcBef>
              <a:buFont typeface="Wingdings" panose="05000000000000000000" pitchFamily="2" charset="2"/>
              <a:buChar char="Ø"/>
            </a:pPr>
            <a:r>
              <a:rPr lang="en-US" sz="1700" dirty="0">
                <a:solidFill>
                  <a:schemeClr val="tx1"/>
                </a:solidFill>
                <a:latin typeface="+mj-lt"/>
                <a:cs typeface="Times New Roman" panose="02020603050405020304" pitchFamily="18" charset="0"/>
              </a:rPr>
              <a:t>An async FIFO is a buffer where data is written in one clock domain and read in another, both clock domains being asynchronous.</a:t>
            </a:r>
          </a:p>
          <a:p>
            <a:pPr marL="285750" indent="-285750">
              <a:lnSpc>
                <a:spcPct val="140000"/>
              </a:lnSpc>
              <a:spcBef>
                <a:spcPts val="1000"/>
              </a:spcBef>
              <a:buFont typeface="Wingdings" panose="05000000000000000000" pitchFamily="2" charset="2"/>
              <a:buChar char="Ø"/>
            </a:pPr>
            <a:r>
              <a:rPr lang="en-US" sz="1700" dirty="0">
                <a:solidFill>
                  <a:schemeClr val="tx1"/>
                </a:solidFill>
                <a:latin typeface="+mj-lt"/>
                <a:cs typeface="Times New Roman" panose="02020603050405020304" pitchFamily="18" charset="0"/>
              </a:rPr>
              <a:t>Need for efficient and reliable data transfer in asynchronous systems like data handling in systems with different clock frequency</a:t>
            </a:r>
          </a:p>
          <a:p>
            <a:pPr marL="285750" indent="-285750">
              <a:lnSpc>
                <a:spcPct val="140000"/>
              </a:lnSpc>
              <a:spcBef>
                <a:spcPts val="1000"/>
              </a:spcBef>
              <a:buFont typeface="Wingdings" panose="05000000000000000000" pitchFamily="2" charset="2"/>
              <a:buChar char="Ø"/>
            </a:pPr>
            <a:r>
              <a:rPr lang="en-US" sz="1700" dirty="0">
                <a:solidFill>
                  <a:sysClr val="windowText" lastClr="000000"/>
                </a:solidFill>
                <a:latin typeface="+mj-lt"/>
                <a:cs typeface="Times New Roman" panose="02020603050405020304" pitchFamily="18" charset="0"/>
              </a:rPr>
              <a:t>Asynchronous FIFOs to ensure orderly data flow in digital systems characterized by asynchronous operation</a:t>
            </a:r>
          </a:p>
        </p:txBody>
      </p:sp>
      <p:sp>
        <p:nvSpPr>
          <p:cNvPr id="7" name="TextBox 6">
            <a:extLst>
              <a:ext uri="{FF2B5EF4-FFF2-40B4-BE49-F238E27FC236}">
                <a16:creationId xmlns:a16="http://schemas.microsoft.com/office/drawing/2014/main" id="{33695744-0494-4F20-877E-281A2FF8B52A}"/>
              </a:ext>
            </a:extLst>
          </p:cNvPr>
          <p:cNvSpPr txBox="1"/>
          <p:nvPr/>
        </p:nvSpPr>
        <p:spPr>
          <a:xfrm>
            <a:off x="6457335" y="1889996"/>
            <a:ext cx="4657508" cy="326159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lnSpc>
                <a:spcPct val="140000"/>
              </a:lnSpc>
              <a:spcBef>
                <a:spcPts val="1000"/>
              </a:spcBef>
            </a:pPr>
            <a:r>
              <a:rPr lang="en-US" sz="1700" b="1" dirty="0">
                <a:solidFill>
                  <a:schemeClr val="tx1"/>
                </a:solidFill>
                <a:latin typeface="+mj-lt"/>
                <a:cs typeface="Times New Roman" panose="02020603050405020304" pitchFamily="18" charset="0"/>
              </a:rPr>
              <a:t>Specification</a:t>
            </a:r>
          </a:p>
          <a:p>
            <a:pPr marL="285750" indent="-285750">
              <a:lnSpc>
                <a:spcPct val="140000"/>
              </a:lnSpc>
              <a:spcBef>
                <a:spcPts val="1000"/>
              </a:spcBef>
              <a:buFont typeface="Wingdings" panose="05000000000000000000" pitchFamily="2" charset="2"/>
              <a:buChar char="q"/>
            </a:pPr>
            <a:r>
              <a:rPr lang="en-US" sz="1700" dirty="0">
                <a:solidFill>
                  <a:schemeClr val="tx1"/>
                </a:solidFill>
                <a:latin typeface="+mj-lt"/>
                <a:cs typeface="Times New Roman" panose="02020603050405020304" pitchFamily="18" charset="0"/>
              </a:rPr>
              <a:t>Producer clk1 </a:t>
            </a:r>
            <a:r>
              <a:rPr lang="en-US" sz="1700" dirty="0" err="1">
                <a:solidFill>
                  <a:schemeClr val="tx1"/>
                </a:solidFill>
                <a:latin typeface="+mj-lt"/>
                <a:cs typeface="Times New Roman" panose="02020603050405020304" pitchFamily="18" charset="0"/>
              </a:rPr>
              <a:t>freq</a:t>
            </a:r>
            <a:r>
              <a:rPr lang="en-US" sz="1700" dirty="0">
                <a:solidFill>
                  <a:schemeClr val="tx1"/>
                </a:solidFill>
                <a:latin typeface="+mj-lt"/>
                <a:cs typeface="Times New Roman" panose="02020603050405020304" pitchFamily="18" charset="0"/>
              </a:rPr>
              <a:t> = 250 </a:t>
            </a:r>
            <a:r>
              <a:rPr lang="en-US" sz="1700" dirty="0" err="1">
                <a:solidFill>
                  <a:schemeClr val="tx1"/>
                </a:solidFill>
                <a:latin typeface="+mj-lt"/>
                <a:cs typeface="Times New Roman" panose="02020603050405020304" pitchFamily="18" charset="0"/>
              </a:rPr>
              <a:t>Mhz</a:t>
            </a:r>
            <a:r>
              <a:rPr lang="en-US" sz="1700" dirty="0">
                <a:solidFill>
                  <a:schemeClr val="tx1"/>
                </a:solidFill>
                <a:latin typeface="+mj-lt"/>
                <a:cs typeface="Times New Roman" panose="02020603050405020304" pitchFamily="18" charset="0"/>
              </a:rPr>
              <a:t> </a:t>
            </a:r>
          </a:p>
          <a:p>
            <a:pPr>
              <a:lnSpc>
                <a:spcPct val="140000"/>
              </a:lnSpc>
              <a:spcBef>
                <a:spcPts val="1000"/>
              </a:spcBef>
            </a:pPr>
            <a:r>
              <a:rPr lang="en-US" sz="1700" dirty="0">
                <a:solidFill>
                  <a:schemeClr val="tx1"/>
                </a:solidFill>
                <a:latin typeface="+mj-lt"/>
                <a:cs typeface="Times New Roman" panose="02020603050405020304" pitchFamily="18" charset="0"/>
              </a:rPr>
              <a:t>❑ Consumer clk2 </a:t>
            </a:r>
            <a:r>
              <a:rPr lang="en-US" sz="1700" dirty="0" err="1">
                <a:solidFill>
                  <a:schemeClr val="tx1"/>
                </a:solidFill>
                <a:latin typeface="+mj-lt"/>
                <a:cs typeface="Times New Roman" panose="02020603050405020304" pitchFamily="18" charset="0"/>
              </a:rPr>
              <a:t>freq</a:t>
            </a:r>
            <a:r>
              <a:rPr lang="en-US" sz="1700" dirty="0">
                <a:solidFill>
                  <a:schemeClr val="tx1"/>
                </a:solidFill>
                <a:latin typeface="+mj-lt"/>
                <a:cs typeface="Times New Roman" panose="02020603050405020304" pitchFamily="18" charset="0"/>
              </a:rPr>
              <a:t> = 100Mhz </a:t>
            </a:r>
          </a:p>
          <a:p>
            <a:pPr>
              <a:lnSpc>
                <a:spcPct val="140000"/>
              </a:lnSpc>
              <a:spcBef>
                <a:spcPts val="1000"/>
              </a:spcBef>
            </a:pPr>
            <a:r>
              <a:rPr lang="en-US" sz="1700" dirty="0">
                <a:solidFill>
                  <a:schemeClr val="tx1"/>
                </a:solidFill>
                <a:latin typeface="+mj-lt"/>
                <a:cs typeface="Times New Roman" panose="02020603050405020304" pitchFamily="18" charset="0"/>
              </a:rPr>
              <a:t>❑ With duty-cycle of 50% </a:t>
            </a:r>
          </a:p>
          <a:p>
            <a:pPr>
              <a:lnSpc>
                <a:spcPct val="140000"/>
              </a:lnSpc>
              <a:spcBef>
                <a:spcPts val="1000"/>
              </a:spcBef>
            </a:pPr>
            <a:r>
              <a:rPr lang="en-US" sz="1700" dirty="0">
                <a:solidFill>
                  <a:schemeClr val="tx1"/>
                </a:solidFill>
                <a:latin typeface="+mj-lt"/>
                <a:cs typeface="Times New Roman" panose="02020603050405020304" pitchFamily="18" charset="0"/>
              </a:rPr>
              <a:t>❑ Max write Burst size = 150 </a:t>
            </a:r>
          </a:p>
          <a:p>
            <a:pPr marL="285750" indent="-285750">
              <a:lnSpc>
                <a:spcPct val="140000"/>
              </a:lnSpc>
              <a:spcBef>
                <a:spcPts val="1000"/>
              </a:spcBef>
              <a:buFont typeface="Wingdings" panose="05000000000000000000" pitchFamily="2" charset="2"/>
              <a:buChar char="q"/>
            </a:pPr>
            <a:r>
              <a:rPr lang="en-US" sz="1700" dirty="0">
                <a:solidFill>
                  <a:schemeClr val="tx1"/>
                </a:solidFill>
                <a:latin typeface="+mj-lt"/>
                <a:cs typeface="Times New Roman" panose="02020603050405020304" pitchFamily="18" charset="0"/>
              </a:rPr>
              <a:t>FIFO Depth = 130 (approximated to 2 power 8)</a:t>
            </a:r>
            <a:br>
              <a:rPr lang="en-US" sz="1700" dirty="0">
                <a:solidFill>
                  <a:schemeClr val="tx1"/>
                </a:solidFill>
                <a:latin typeface="+mj-lt"/>
                <a:cs typeface="Times New Roman" panose="02020603050405020304" pitchFamily="18" charset="0"/>
              </a:rPr>
            </a:br>
            <a:endParaRPr lang="en-US" sz="1700" dirty="0">
              <a:solidFill>
                <a:sysClr val="windowText" lastClr="000000"/>
              </a:solidFill>
              <a:latin typeface="+mj-lt"/>
              <a:cs typeface="Times New Roman" panose="02020603050405020304" pitchFamily="18" charset="0"/>
            </a:endParaRPr>
          </a:p>
        </p:txBody>
      </p:sp>
    </p:spTree>
    <p:extLst>
      <p:ext uri="{BB962C8B-B14F-4D97-AF65-F5344CB8AC3E}">
        <p14:creationId xmlns:p14="http://schemas.microsoft.com/office/powerpoint/2010/main" val="1321419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E0CD-5A58-91E7-FA70-0DC195B40E08}"/>
              </a:ext>
            </a:extLst>
          </p:cNvPr>
          <p:cNvSpPr>
            <a:spLocks noGrp="1"/>
          </p:cNvSpPr>
          <p:nvPr>
            <p:ph type="title"/>
          </p:nvPr>
        </p:nvSpPr>
        <p:spPr>
          <a:xfrm>
            <a:off x="2721078" y="467316"/>
            <a:ext cx="6115792" cy="577047"/>
          </a:xfrm>
          <a:ln>
            <a:solidFill>
              <a:schemeClr val="tx1"/>
            </a:solidFill>
          </a:ln>
        </p:spPr>
        <p:style>
          <a:lnRef idx="1">
            <a:schemeClr val="accent6"/>
          </a:lnRef>
          <a:fillRef idx="1002">
            <a:schemeClr val="dk2"/>
          </a:fillRef>
          <a:effectRef idx="2">
            <a:schemeClr val="accent6"/>
          </a:effectRef>
          <a:fontRef idx="minor">
            <a:schemeClr val="lt1"/>
          </a:fontRef>
        </p:style>
        <p:txBody>
          <a:bodyPr>
            <a:noAutofit/>
          </a:bodyPr>
          <a:lstStyle/>
          <a:p>
            <a:r>
              <a:rPr lang="en-US" b="1" dirty="0">
                <a:solidFill>
                  <a:schemeClr val="bg1"/>
                </a:solidFill>
                <a:latin typeface="+mj-lt"/>
              </a:rPr>
              <a:t>	Design Style</a:t>
            </a:r>
          </a:p>
        </p:txBody>
      </p:sp>
      <p:sp>
        <p:nvSpPr>
          <p:cNvPr id="5" name="Slide Number Placeholder 4">
            <a:extLst>
              <a:ext uri="{FF2B5EF4-FFF2-40B4-BE49-F238E27FC236}">
                <a16:creationId xmlns:a16="http://schemas.microsoft.com/office/drawing/2014/main" id="{DE898D88-3CB8-D1C0-E8F8-FE1802C8EDA8}"/>
              </a:ext>
            </a:extLst>
          </p:cNvPr>
          <p:cNvSpPr>
            <a:spLocks noGrp="1"/>
          </p:cNvSpPr>
          <p:nvPr>
            <p:ph type="sldNum" sz="quarter" idx="12"/>
          </p:nvPr>
        </p:nvSpPr>
        <p:spPr/>
        <p:txBody>
          <a:bodyPr/>
          <a:lstStyle/>
          <a:p>
            <a:fld id="{294A09A9-5501-47C1-A89A-A340965A2BE2}" type="slidenum">
              <a:rPr lang="en-US" sz="1600" smtClean="0"/>
              <a:t>4</a:t>
            </a:fld>
            <a:endParaRPr lang="en-US" dirty="0"/>
          </a:p>
        </p:txBody>
      </p:sp>
      <p:sp>
        <p:nvSpPr>
          <p:cNvPr id="6" name="TextBox 5">
            <a:extLst>
              <a:ext uri="{FF2B5EF4-FFF2-40B4-BE49-F238E27FC236}">
                <a16:creationId xmlns:a16="http://schemas.microsoft.com/office/drawing/2014/main" id="{B2A25D9D-9743-46DD-99D1-456D6A5DEDAD}"/>
              </a:ext>
            </a:extLst>
          </p:cNvPr>
          <p:cNvSpPr txBox="1"/>
          <p:nvPr/>
        </p:nvSpPr>
        <p:spPr>
          <a:xfrm>
            <a:off x="1162178" y="4506891"/>
            <a:ext cx="6875692" cy="1323439"/>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Full &amp; Empty Conditions</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The FIFO is empty when the read and write pointers are both equal (Either Reset or read catches to write)</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A FIFO is FULL when the pointers are again equal, that is, when the write pointer has wrapped around and caught up to the read pointer</a:t>
            </a:r>
          </a:p>
        </p:txBody>
      </p:sp>
      <p:sp>
        <p:nvSpPr>
          <p:cNvPr id="10" name="TextBox 9">
            <a:extLst>
              <a:ext uri="{FF2B5EF4-FFF2-40B4-BE49-F238E27FC236}">
                <a16:creationId xmlns:a16="http://schemas.microsoft.com/office/drawing/2014/main" id="{4EF7DA88-F8A1-4142-8278-DE375CE3FF49}"/>
              </a:ext>
            </a:extLst>
          </p:cNvPr>
          <p:cNvSpPr txBox="1"/>
          <p:nvPr/>
        </p:nvSpPr>
        <p:spPr>
          <a:xfrm>
            <a:off x="1249924" y="1217220"/>
            <a:ext cx="2721078" cy="369332"/>
          </a:xfrm>
          <a:prstGeom prst="rect">
            <a:avLst/>
          </a:prstGeom>
          <a:solidFill>
            <a:schemeClr val="bg2">
              <a:lumMod val="50000"/>
            </a:schemeClr>
          </a:solidFill>
        </p:spPr>
        <p:txBody>
          <a:bodyPr wrap="square">
            <a:spAutoFit/>
          </a:bodyPr>
          <a:lstStyle/>
          <a:p>
            <a:r>
              <a:rPr lang="en-US" sz="1800" b="1" dirty="0">
                <a:solidFill>
                  <a:schemeClr val="bg1"/>
                </a:solidFill>
                <a:latin typeface="Times New Roman" panose="02020603050405020304" pitchFamily="18" charset="0"/>
                <a:cs typeface="Times New Roman" panose="02020603050405020304" pitchFamily="18" charset="0"/>
              </a:rPr>
              <a:t>Sunburst Design Style #1</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1AE258AB-9E75-4987-8253-68D4BFEF7148}"/>
              </a:ext>
            </a:extLst>
          </p:cNvPr>
          <p:cNvSpPr/>
          <p:nvPr/>
        </p:nvSpPr>
        <p:spPr>
          <a:xfrm>
            <a:off x="1162178" y="2884639"/>
            <a:ext cx="6875693" cy="1405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On reset, both write and read pointers are set to zero</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After writing the to the memory location that is pointed, write pointer will be incremented to point next location</a:t>
            </a:r>
          </a:p>
        </p:txBody>
      </p:sp>
      <p:sp>
        <p:nvSpPr>
          <p:cNvPr id="12" name="TextBox 11">
            <a:extLst>
              <a:ext uri="{FF2B5EF4-FFF2-40B4-BE49-F238E27FC236}">
                <a16:creationId xmlns:a16="http://schemas.microsoft.com/office/drawing/2014/main" id="{15F15869-2252-40DE-A83D-EB3801F8BB2C}"/>
              </a:ext>
            </a:extLst>
          </p:cNvPr>
          <p:cNvSpPr txBox="1"/>
          <p:nvPr/>
        </p:nvSpPr>
        <p:spPr>
          <a:xfrm>
            <a:off x="1193146" y="1836390"/>
            <a:ext cx="6813755"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1 bit extra for analyzing the FULL and EMPTY conditions</a:t>
            </a:r>
          </a:p>
          <a:p>
            <a:pPr marL="285750" indent="-285750">
              <a:buFont typeface="Wingdings" panose="05000000000000000000" pitchFamily="2" charset="2"/>
              <a:buChar char="Ø"/>
            </a:pPr>
            <a:r>
              <a:rPr lang="en-US" sz="1600" dirty="0">
                <a:solidFill>
                  <a:schemeClr val="tx1"/>
                </a:solidFill>
                <a:latin typeface="Times New Roman" panose="02020603050405020304" pitchFamily="18" charset="0"/>
                <a:cs typeface="Times New Roman" panose="02020603050405020304" pitchFamily="18" charset="0"/>
              </a:rPr>
              <a:t>Use of Gray code and then compare the pointers MSB bit to check the condition</a:t>
            </a:r>
          </a:p>
        </p:txBody>
      </p:sp>
      <p:sp>
        <p:nvSpPr>
          <p:cNvPr id="16" name="TextBox 15">
            <a:extLst>
              <a:ext uri="{FF2B5EF4-FFF2-40B4-BE49-F238E27FC236}">
                <a16:creationId xmlns:a16="http://schemas.microsoft.com/office/drawing/2014/main" id="{FCDA9225-8B45-4F44-8E1A-236975113B65}"/>
              </a:ext>
            </a:extLst>
          </p:cNvPr>
          <p:cNvSpPr txBox="1"/>
          <p:nvPr/>
        </p:nvSpPr>
        <p:spPr>
          <a:xfrm>
            <a:off x="1902849" y="6211669"/>
            <a:ext cx="9094223" cy="646331"/>
          </a:xfrm>
          <a:prstGeom prst="rect">
            <a:avLst/>
          </a:prstGeom>
          <a:noFill/>
        </p:spPr>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Link: </a:t>
            </a:r>
            <a:r>
              <a:rPr lang="en-US" sz="1800"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http://www.sunburst-design.com/papers/CummingsSNUG2002SJ_FIFO1.pdf</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FE53268-7218-4B88-A1DA-CCDB30CA23BF}"/>
              </a:ext>
            </a:extLst>
          </p:cNvPr>
          <p:cNvSpPr txBox="1"/>
          <p:nvPr/>
        </p:nvSpPr>
        <p:spPr>
          <a:xfrm>
            <a:off x="8413954" y="1898037"/>
            <a:ext cx="3244645" cy="307776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US" sz="1600" b="1" dirty="0">
                <a:solidFill>
                  <a:schemeClr val="tx1"/>
                </a:solidFill>
                <a:latin typeface="+mj-lt"/>
                <a:cs typeface="Times New Roman" panose="02020603050405020304" pitchFamily="18" charset="0"/>
              </a:rPr>
              <a:t>Modifications</a:t>
            </a:r>
          </a:p>
          <a:p>
            <a:pPr marL="285750" indent="-285750">
              <a:buFont typeface="Wingdings" panose="05000000000000000000" pitchFamily="2" charset="2"/>
              <a:buChar char="§"/>
            </a:pPr>
            <a:r>
              <a:rPr lang="en-US" sz="1600" dirty="0">
                <a:solidFill>
                  <a:srgbClr val="0D0D0D"/>
                </a:solidFill>
                <a:latin typeface="+mj-lt"/>
              </a:rPr>
              <a:t>All the module are connected to the top module using interface.</a:t>
            </a:r>
            <a:r>
              <a:rPr lang="en-US" sz="1600" b="0" i="0" dirty="0">
                <a:solidFill>
                  <a:srgbClr val="0D0D0D"/>
                </a:solidFill>
                <a:effectLst/>
                <a:latin typeface="+mj-lt"/>
              </a:rPr>
              <a:t>. </a:t>
            </a:r>
            <a:endParaRPr lang="en-US" sz="1600" dirty="0">
              <a:solidFill>
                <a:srgbClr val="0D0D0D"/>
              </a:solidFill>
              <a:latin typeface="+mj-lt"/>
            </a:endParaRPr>
          </a:p>
          <a:p>
            <a:pPr marL="285750" indent="-285750">
              <a:buFont typeface="Wingdings" panose="05000000000000000000" pitchFamily="2" charset="2"/>
              <a:buChar char="§"/>
            </a:pPr>
            <a:r>
              <a:rPr lang="en-US" sz="1600" b="0" i="0" dirty="0">
                <a:solidFill>
                  <a:srgbClr val="0D0D0D"/>
                </a:solidFill>
                <a:effectLst/>
                <a:latin typeface="+mj-lt"/>
              </a:rPr>
              <a:t>Full and empty signals are calculated separately and then assigned based on the comparison of the synchronized write pointer and the next read pointer.</a:t>
            </a:r>
          </a:p>
          <a:p>
            <a:pPr marL="285750" indent="-285750">
              <a:buFont typeface="Wingdings" panose="05000000000000000000" pitchFamily="2" charset="2"/>
              <a:buChar char="§"/>
            </a:pPr>
            <a:r>
              <a:rPr lang="en-US" sz="1600" dirty="0">
                <a:solidFill>
                  <a:srgbClr val="0D0D0D"/>
                </a:solidFill>
                <a:latin typeface="+mj-lt"/>
                <a:cs typeface="Times New Roman" panose="02020603050405020304" pitchFamily="18" charset="0"/>
              </a:rPr>
              <a:t>Used more system Verilog constructs such as logic, </a:t>
            </a:r>
            <a:r>
              <a:rPr lang="en-US" sz="1600" dirty="0" err="1">
                <a:solidFill>
                  <a:srgbClr val="0D0D0D"/>
                </a:solidFill>
                <a:latin typeface="+mj-lt"/>
                <a:cs typeface="Times New Roman" panose="02020603050405020304" pitchFamily="18" charset="0"/>
              </a:rPr>
              <a:t>always_ff</a:t>
            </a:r>
            <a:r>
              <a:rPr lang="en-US" sz="1600" dirty="0">
                <a:solidFill>
                  <a:srgbClr val="0D0D0D"/>
                </a:solidFill>
                <a:latin typeface="+mj-lt"/>
                <a:cs typeface="Times New Roman" panose="02020603050405020304" pitchFamily="18" charset="0"/>
              </a:rPr>
              <a:t> for better clarity</a:t>
            </a:r>
            <a:endParaRPr lang="en-US" sz="1600" dirty="0">
              <a:solidFill>
                <a:schemeClr val="tx1"/>
              </a:solidFill>
              <a:latin typeface="+mj-lt"/>
              <a:cs typeface="Times New Roman" panose="02020603050405020304" pitchFamily="18" charset="0"/>
            </a:endParaRPr>
          </a:p>
          <a:p>
            <a:pPr marL="285750" indent="-285750">
              <a:buFont typeface="Wingdings" panose="05000000000000000000" pitchFamily="2" charset="2"/>
              <a:buChar char="Ø"/>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0575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173A4B9C-EDD8-CD72-B695-2CB320D913F3}"/>
              </a:ext>
            </a:extLst>
          </p:cNvPr>
          <p:cNvSpPr>
            <a:spLocks noGrp="1" noRot="1" noMove="1" noResize="1" noEditPoints="1" noAdjustHandles="1" noChangeArrowheads="1" noChangeShapeType="1"/>
          </p:cNvSpPr>
          <p:nvPr>
            <p:ph type="sldNum" sz="quarter" idx="12"/>
          </p:nvPr>
        </p:nvSpPr>
        <p:spPr/>
        <p:txBody>
          <a:bodyPr/>
          <a:lstStyle/>
          <a:p>
            <a:r>
              <a:rPr lang="en-US" sz="1200" dirty="0">
                <a:latin typeface="Times New Roman" panose="02020603050405020304" pitchFamily="18" charset="0"/>
                <a:cs typeface="Times New Roman" panose="02020603050405020304" pitchFamily="18" charset="0"/>
              </a:rPr>
              <a:t>3</a:t>
            </a:r>
          </a:p>
        </p:txBody>
      </p:sp>
      <p:sp>
        <p:nvSpPr>
          <p:cNvPr id="33" name="TextBox 32">
            <a:extLst>
              <a:ext uri="{FF2B5EF4-FFF2-40B4-BE49-F238E27FC236}">
                <a16:creationId xmlns:a16="http://schemas.microsoft.com/office/drawing/2014/main" id="{B098E0FF-CFDF-CDC5-FF97-AC022E7BDFCA}"/>
              </a:ext>
            </a:extLst>
          </p:cNvPr>
          <p:cNvSpPr txBox="1"/>
          <p:nvPr/>
        </p:nvSpPr>
        <p:spPr>
          <a:xfrm>
            <a:off x="2417183" y="373153"/>
            <a:ext cx="6761501" cy="461665"/>
          </a:xfrm>
          <a:prstGeom prst="rect">
            <a:avLst/>
          </a:prstGeom>
        </p:spPr>
        <p:style>
          <a:lnRef idx="2">
            <a:schemeClr val="dk1"/>
          </a:lnRef>
          <a:fillRef idx="1002">
            <a:schemeClr val="dk2"/>
          </a:fillRef>
          <a:effectRef idx="0">
            <a:schemeClr val="dk1"/>
          </a:effectRef>
          <a:fontRef idx="minor">
            <a:schemeClr val="dk1"/>
          </a:fontRef>
        </p:style>
        <p:txBody>
          <a:bodyPr wrap="square" rtlCol="0">
            <a:spAutoFit/>
          </a:bodyPr>
          <a:lstStyle/>
          <a:p>
            <a:pPr algn="ctr"/>
            <a:r>
              <a:rPr lang="en-US" sz="2400" b="1" dirty="0">
                <a:solidFill>
                  <a:schemeClr val="bg1"/>
                </a:solidFill>
                <a:latin typeface="+mj-lt"/>
              </a:rPr>
              <a:t>BLOCK DIAGRAM OF AYNCHRONOUS FIFO</a:t>
            </a:r>
          </a:p>
        </p:txBody>
      </p:sp>
      <p:pic>
        <p:nvPicPr>
          <p:cNvPr id="3" name="Picture 2">
            <a:extLst>
              <a:ext uri="{FF2B5EF4-FFF2-40B4-BE49-F238E27FC236}">
                <a16:creationId xmlns:a16="http://schemas.microsoft.com/office/drawing/2014/main" id="{DBE274BD-5FED-43ED-BC2D-714F477F7662}"/>
              </a:ext>
            </a:extLst>
          </p:cNvPr>
          <p:cNvPicPr>
            <a:picLocks noChangeAspect="1"/>
          </p:cNvPicPr>
          <p:nvPr/>
        </p:nvPicPr>
        <p:blipFill>
          <a:blip r:embed="rId2"/>
          <a:stretch>
            <a:fillRect/>
          </a:stretch>
        </p:blipFill>
        <p:spPr>
          <a:xfrm>
            <a:off x="819150" y="1034925"/>
            <a:ext cx="10553700" cy="5553075"/>
          </a:xfrm>
          <a:prstGeom prst="rect">
            <a:avLst/>
          </a:prstGeom>
        </p:spPr>
      </p:pic>
    </p:spTree>
    <p:extLst>
      <p:ext uri="{BB962C8B-B14F-4D97-AF65-F5344CB8AC3E}">
        <p14:creationId xmlns:p14="http://schemas.microsoft.com/office/powerpoint/2010/main" val="2747753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3717147" y="410197"/>
            <a:ext cx="4719231" cy="699063"/>
          </a:xfrm>
        </p:spPr>
        <p:style>
          <a:lnRef idx="1">
            <a:schemeClr val="accent6"/>
          </a:lnRef>
          <a:fillRef idx="1002">
            <a:schemeClr val="dk2"/>
          </a:fillRef>
          <a:effectRef idx="2">
            <a:schemeClr val="accent6"/>
          </a:effectRef>
          <a:fontRef idx="minor">
            <a:schemeClr val="lt1"/>
          </a:fontRef>
        </p:style>
        <p:txBody>
          <a:bodyPr wrap="square" anchor="b">
            <a:normAutofit/>
          </a:bodyPr>
          <a:lstStyle/>
          <a:p>
            <a:r>
              <a:rPr lang="en-US" b="1" dirty="0">
                <a:ln w="0"/>
                <a:solidFill>
                  <a:schemeClr val="bg1"/>
                </a:solidFill>
                <a:effectLst>
                  <a:outerShdw blurRad="38100" dist="19050" dir="2700000" algn="tl" rotWithShape="0">
                    <a:schemeClr val="dk1">
                      <a:alpha val="40000"/>
                    </a:schemeClr>
                  </a:outerShdw>
                </a:effectLst>
                <a:latin typeface="+mj-lt"/>
              </a:rPr>
              <a:t>Design Modules</a:t>
            </a:r>
          </a:p>
        </p:txBody>
      </p:sp>
      <p:sp>
        <p:nvSpPr>
          <p:cNvPr id="104" name="Slide Number Placeholder 49">
            <a:extLst>
              <a:ext uri="{FF2B5EF4-FFF2-40B4-BE49-F238E27FC236}">
                <a16:creationId xmlns:a16="http://schemas.microsoft.com/office/drawing/2014/main" id="{BC4462F5-98AF-457A-94DC-C44EA835679D}"/>
              </a:ext>
            </a:extLst>
          </p:cNvPr>
          <p:cNvSpPr>
            <a:spLocks noGrp="1"/>
          </p:cNvSpPr>
          <p:nvPr>
            <p:ph type="sldNum" sz="quarter" idx="12"/>
          </p:nvPr>
        </p:nvSpPr>
        <p:spPr>
          <a:xfrm>
            <a:off x="9982800" y="6357600"/>
            <a:ext cx="1760150" cy="460800"/>
          </a:xfrm>
        </p:spPr>
        <p:txBody>
          <a:bodyPr/>
          <a:lstStyle/>
          <a:p>
            <a:fld id="{D39607A7-8386-47DB-8578-DDEDD194E5D4}" type="slidenum">
              <a:rPr lang="en-US" sz="1800" smtClean="0"/>
              <a:pPr/>
              <a:t>6</a:t>
            </a:fld>
            <a:endParaRPr lang="en-US" sz="1800" dirty="0"/>
          </a:p>
        </p:txBody>
      </p:sp>
      <p:sp>
        <p:nvSpPr>
          <p:cNvPr id="4" name="Rectangle 3">
            <a:extLst>
              <a:ext uri="{FF2B5EF4-FFF2-40B4-BE49-F238E27FC236}">
                <a16:creationId xmlns:a16="http://schemas.microsoft.com/office/drawing/2014/main" id="{8695488C-C29A-0BD6-8854-FF964ADD1451}"/>
              </a:ext>
            </a:extLst>
          </p:cNvPr>
          <p:cNvSpPr/>
          <p:nvPr/>
        </p:nvSpPr>
        <p:spPr>
          <a:xfrm>
            <a:off x="2817370" y="2331475"/>
            <a:ext cx="2868559" cy="58592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a:t>
            </a:r>
          </a:p>
        </p:txBody>
      </p:sp>
      <p:sp>
        <p:nvSpPr>
          <p:cNvPr id="5" name="Rectangle 4">
            <a:extLst>
              <a:ext uri="{FF2B5EF4-FFF2-40B4-BE49-F238E27FC236}">
                <a16:creationId xmlns:a16="http://schemas.microsoft.com/office/drawing/2014/main" id="{787870FE-39E8-2120-D448-7CDEAE2348DF}"/>
              </a:ext>
            </a:extLst>
          </p:cNvPr>
          <p:cNvSpPr/>
          <p:nvPr/>
        </p:nvSpPr>
        <p:spPr>
          <a:xfrm>
            <a:off x="5088619" y="2917401"/>
            <a:ext cx="2064347" cy="585926"/>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Interface</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5659E22-FD87-AAB0-1124-A0654044CDAE}"/>
              </a:ext>
            </a:extLst>
          </p:cNvPr>
          <p:cNvSpPr txBox="1"/>
          <p:nvPr/>
        </p:nvSpPr>
        <p:spPr>
          <a:xfrm>
            <a:off x="2817370" y="3503327"/>
            <a:ext cx="2868560" cy="147732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dirty="0">
                <a:solidFill>
                  <a:schemeClr val="tx1"/>
                </a:solidFill>
                <a:latin typeface="Times New Roman" panose="02020603050405020304" pitchFamily="18" charset="0"/>
                <a:cs typeface="Times New Roman" panose="02020603050405020304" pitchFamily="18" charset="0"/>
              </a:rPr>
              <a:t>w2rsync</a:t>
            </a:r>
          </a:p>
          <a:p>
            <a:pPr algn="ctr"/>
            <a:r>
              <a:rPr lang="en-US" dirty="0">
                <a:solidFill>
                  <a:schemeClr val="tx1"/>
                </a:solidFill>
                <a:latin typeface="Times New Roman" panose="02020603050405020304" pitchFamily="18" charset="0"/>
                <a:cs typeface="Times New Roman" panose="02020603050405020304" pitchFamily="18" charset="0"/>
              </a:rPr>
              <a:t>r2wsync</a:t>
            </a:r>
          </a:p>
          <a:p>
            <a:pPr algn="ctr"/>
            <a:r>
              <a:rPr lang="en-US" dirty="0" err="1">
                <a:solidFill>
                  <a:schemeClr val="tx1"/>
                </a:solidFill>
                <a:latin typeface="Times New Roman" panose="02020603050405020304" pitchFamily="18" charset="0"/>
                <a:cs typeface="Times New Roman" panose="02020603050405020304" pitchFamily="18" charset="0"/>
              </a:rPr>
              <a:t>write_ptr</a:t>
            </a: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err="1">
                <a:solidFill>
                  <a:schemeClr val="tx1"/>
                </a:solidFill>
                <a:latin typeface="Times New Roman" panose="02020603050405020304" pitchFamily="18" charset="0"/>
                <a:cs typeface="Times New Roman" panose="02020603050405020304" pitchFamily="18" charset="0"/>
              </a:rPr>
              <a:t>read_ptr</a:t>
            </a: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fifo_mem</a:t>
            </a:r>
          </a:p>
        </p:txBody>
      </p:sp>
      <p:sp>
        <p:nvSpPr>
          <p:cNvPr id="6" name="Rectangle 5">
            <a:extLst>
              <a:ext uri="{FF2B5EF4-FFF2-40B4-BE49-F238E27FC236}">
                <a16:creationId xmlns:a16="http://schemas.microsoft.com/office/drawing/2014/main" id="{8C9E8FED-E2DB-490F-B734-8D9F66F1F1FE}"/>
              </a:ext>
            </a:extLst>
          </p:cNvPr>
          <p:cNvSpPr/>
          <p:nvPr/>
        </p:nvSpPr>
        <p:spPr>
          <a:xfrm>
            <a:off x="7152966" y="2331475"/>
            <a:ext cx="3052917" cy="264918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solidFill>
                  <a:schemeClr val="tx1"/>
                </a:solidFill>
                <a:latin typeface="+mj-lt"/>
              </a:rPr>
              <a:t>System Verilog Environment</a:t>
            </a:r>
            <a:br>
              <a:rPr lang="en-US" dirty="0">
                <a:solidFill>
                  <a:schemeClr val="tx1"/>
                </a:solidFill>
                <a:latin typeface="+mj-lt"/>
              </a:rPr>
            </a:br>
            <a:r>
              <a:rPr lang="en-US" dirty="0">
                <a:solidFill>
                  <a:schemeClr val="tx1"/>
                </a:solidFill>
                <a:latin typeface="+mj-lt"/>
              </a:rPr>
              <a:t>OR </a:t>
            </a:r>
          </a:p>
          <a:p>
            <a:pPr algn="ctr"/>
            <a:r>
              <a:rPr lang="en-US" dirty="0">
                <a:solidFill>
                  <a:schemeClr val="tx1"/>
                </a:solidFill>
                <a:latin typeface="+mj-lt"/>
              </a:rPr>
              <a:t>UVM Environment</a:t>
            </a:r>
          </a:p>
        </p:txBody>
      </p:sp>
    </p:spTree>
    <p:extLst>
      <p:ext uri="{BB962C8B-B14F-4D97-AF65-F5344CB8AC3E}">
        <p14:creationId xmlns:p14="http://schemas.microsoft.com/office/powerpoint/2010/main" val="1639799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E0CD-5A58-91E7-FA70-0DC195B40E08}"/>
              </a:ext>
            </a:extLst>
          </p:cNvPr>
          <p:cNvSpPr>
            <a:spLocks noGrp="1"/>
          </p:cNvSpPr>
          <p:nvPr>
            <p:ph type="title"/>
          </p:nvPr>
        </p:nvSpPr>
        <p:spPr>
          <a:xfrm>
            <a:off x="2396613" y="291368"/>
            <a:ext cx="7676535" cy="594537"/>
          </a:xfrm>
          <a:ln>
            <a:solidFill>
              <a:schemeClr val="tx1"/>
            </a:solidFill>
          </a:ln>
        </p:spPr>
        <p:style>
          <a:lnRef idx="1">
            <a:schemeClr val="accent6"/>
          </a:lnRef>
          <a:fillRef idx="1002">
            <a:schemeClr val="dk2"/>
          </a:fillRef>
          <a:effectRef idx="2">
            <a:schemeClr val="accent6"/>
          </a:effectRef>
          <a:fontRef idx="minor">
            <a:schemeClr val="lt1"/>
          </a:fontRef>
        </p:style>
        <p:txBody>
          <a:bodyPr>
            <a:noAutofit/>
          </a:bodyPr>
          <a:lstStyle/>
          <a:p>
            <a:r>
              <a:rPr lang="en-US" b="1" dirty="0">
                <a:solidFill>
                  <a:schemeClr val="bg1"/>
                </a:solidFill>
                <a:latin typeface="+mj-lt"/>
              </a:rPr>
              <a:t>System Verilog </a:t>
            </a:r>
            <a:r>
              <a:rPr lang="en-US" b="1" dirty="0" err="1">
                <a:solidFill>
                  <a:schemeClr val="bg1"/>
                </a:solidFill>
                <a:latin typeface="+mj-lt"/>
              </a:rPr>
              <a:t>Verifcation</a:t>
            </a:r>
            <a:r>
              <a:rPr lang="en-US" b="1" dirty="0">
                <a:solidFill>
                  <a:schemeClr val="bg1"/>
                </a:solidFill>
                <a:latin typeface="+mj-lt"/>
              </a:rPr>
              <a:t> Environment</a:t>
            </a:r>
          </a:p>
        </p:txBody>
      </p:sp>
      <p:sp>
        <p:nvSpPr>
          <p:cNvPr id="5" name="Slide Number Placeholder 4">
            <a:extLst>
              <a:ext uri="{FF2B5EF4-FFF2-40B4-BE49-F238E27FC236}">
                <a16:creationId xmlns:a16="http://schemas.microsoft.com/office/drawing/2014/main" id="{DE898D88-3CB8-D1C0-E8F8-FE1802C8EDA8}"/>
              </a:ext>
            </a:extLst>
          </p:cNvPr>
          <p:cNvSpPr>
            <a:spLocks noGrp="1"/>
          </p:cNvSpPr>
          <p:nvPr>
            <p:ph type="sldNum" sz="quarter" idx="12"/>
          </p:nvPr>
        </p:nvSpPr>
        <p:spPr/>
        <p:txBody>
          <a:bodyPr/>
          <a:lstStyle/>
          <a:p>
            <a:fld id="{294A09A9-5501-47C1-A89A-A340965A2BE2}" type="slidenum">
              <a:rPr lang="en-US" sz="1600" smtClean="0"/>
              <a:t>7</a:t>
            </a:fld>
            <a:endParaRPr lang="en-US" dirty="0"/>
          </a:p>
        </p:txBody>
      </p:sp>
      <p:sp>
        <p:nvSpPr>
          <p:cNvPr id="3" name="TextBox 2">
            <a:extLst>
              <a:ext uri="{FF2B5EF4-FFF2-40B4-BE49-F238E27FC236}">
                <a16:creationId xmlns:a16="http://schemas.microsoft.com/office/drawing/2014/main" id="{48CDD7B8-F480-452C-8859-8C3D81126D77}"/>
              </a:ext>
            </a:extLst>
          </p:cNvPr>
          <p:cNvSpPr txBox="1"/>
          <p:nvPr/>
        </p:nvSpPr>
        <p:spPr>
          <a:xfrm>
            <a:off x="6334432" y="1607574"/>
            <a:ext cx="4070555" cy="369332"/>
          </a:xfrm>
          <a:prstGeom prst="rect">
            <a:avLst/>
          </a:prstGeom>
          <a:noFill/>
        </p:spPr>
        <p:txBody>
          <a:bodyPr wrap="square" rtlCol="0">
            <a:spAutoFit/>
          </a:bodyPr>
          <a:lstStyle/>
          <a:p>
            <a:endParaRPr lang="en-US" dirty="0">
              <a:solidFill>
                <a:srgbClr val="FF0000"/>
              </a:solidFill>
            </a:endParaRPr>
          </a:p>
        </p:txBody>
      </p:sp>
      <p:pic>
        <p:nvPicPr>
          <p:cNvPr id="6" name="Picture 5">
            <a:extLst>
              <a:ext uri="{FF2B5EF4-FFF2-40B4-BE49-F238E27FC236}">
                <a16:creationId xmlns:a16="http://schemas.microsoft.com/office/drawing/2014/main" id="{D1968E6C-995C-4797-8C18-4767A9A53335}"/>
              </a:ext>
            </a:extLst>
          </p:cNvPr>
          <p:cNvPicPr>
            <a:picLocks noChangeAspect="1"/>
          </p:cNvPicPr>
          <p:nvPr/>
        </p:nvPicPr>
        <p:blipFill>
          <a:blip r:embed="rId2"/>
          <a:stretch>
            <a:fillRect/>
          </a:stretch>
        </p:blipFill>
        <p:spPr>
          <a:xfrm>
            <a:off x="2396613" y="1038398"/>
            <a:ext cx="7265271" cy="5780002"/>
          </a:xfrm>
          <a:prstGeom prst="rect">
            <a:avLst/>
          </a:prstGeom>
        </p:spPr>
      </p:pic>
    </p:spTree>
    <p:extLst>
      <p:ext uri="{BB962C8B-B14F-4D97-AF65-F5344CB8AC3E}">
        <p14:creationId xmlns:p14="http://schemas.microsoft.com/office/powerpoint/2010/main" val="3500195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2055289" y="570627"/>
            <a:ext cx="7040892" cy="515613"/>
          </a:xfrm>
        </p:spPr>
        <p:style>
          <a:lnRef idx="0">
            <a:scrgbClr r="0" g="0" b="0"/>
          </a:lnRef>
          <a:fillRef idx="1002">
            <a:schemeClr val="dk2"/>
          </a:fillRef>
          <a:effectRef idx="0">
            <a:scrgbClr r="0" g="0" b="0"/>
          </a:effectRef>
          <a:fontRef idx="major"/>
        </p:style>
        <p:txBody>
          <a:bodyPr>
            <a:normAutofit fontScale="90000"/>
          </a:bodyPr>
          <a:lstStyle/>
          <a:p>
            <a:r>
              <a:rPr lang="en-US" sz="3200" b="1" dirty="0">
                <a:solidFill>
                  <a:schemeClr val="bg1"/>
                </a:solidFill>
              </a:rPr>
              <a:t>SV Test bench Components </a:t>
            </a:r>
          </a:p>
        </p:txBody>
      </p:sp>
      <p:sp>
        <p:nvSpPr>
          <p:cNvPr id="7" name="Rectangle 6">
            <a:extLst>
              <a:ext uri="{FF2B5EF4-FFF2-40B4-BE49-F238E27FC236}">
                <a16:creationId xmlns:a16="http://schemas.microsoft.com/office/drawing/2014/main" id="{9AC22B83-BF4E-427C-922D-525E8C11A5E6}"/>
              </a:ext>
            </a:extLst>
          </p:cNvPr>
          <p:cNvSpPr/>
          <p:nvPr/>
        </p:nvSpPr>
        <p:spPr>
          <a:xfrm>
            <a:off x="1091380" y="3005274"/>
            <a:ext cx="4159044" cy="15780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Randomized inputs namely w_en, r_en, </a:t>
            </a:r>
            <a:r>
              <a:rPr lang="en-US" dirty="0" err="1">
                <a:ln w="0"/>
                <a:solidFill>
                  <a:schemeClr val="tx1"/>
                </a:solidFill>
                <a:effectLst>
                  <a:outerShdw blurRad="38100" dist="19050" dir="2700000" algn="tl" rotWithShape="0">
                    <a:schemeClr val="dk1">
                      <a:alpha val="40000"/>
                    </a:schemeClr>
                  </a:outerShdw>
                </a:effectLst>
                <a:latin typeface="+mj-lt"/>
              </a:rPr>
              <a:t>data_in</a:t>
            </a:r>
            <a:endParaRPr lang="en-US"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Constraint for read enable and write enable </a:t>
            </a:r>
          </a:p>
        </p:txBody>
      </p:sp>
      <p:sp>
        <p:nvSpPr>
          <p:cNvPr id="5" name="Rectangle 4">
            <a:extLst>
              <a:ext uri="{FF2B5EF4-FFF2-40B4-BE49-F238E27FC236}">
                <a16:creationId xmlns:a16="http://schemas.microsoft.com/office/drawing/2014/main" id="{436B78B1-9F81-4B63-B26C-FA41F86D02D1}"/>
              </a:ext>
            </a:extLst>
          </p:cNvPr>
          <p:cNvSpPr/>
          <p:nvPr/>
        </p:nvSpPr>
        <p:spPr>
          <a:xfrm>
            <a:off x="1091380" y="1853918"/>
            <a:ext cx="4159044" cy="63815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latin typeface="+mj-lt"/>
              </a:rPr>
              <a:t>Transaction class</a:t>
            </a:r>
            <a:endParaRPr lang="en-US" b="1" dirty="0">
              <a:ln w="0"/>
              <a:solidFill>
                <a:schemeClr val="tx1"/>
              </a:solidFill>
              <a:effectLst>
                <a:outerShdw blurRad="38100" dist="19050" dir="2700000" algn="tl" rotWithShape="0">
                  <a:schemeClr val="dk1">
                    <a:alpha val="40000"/>
                  </a:schemeClr>
                </a:outerShdw>
              </a:effectLst>
              <a:latin typeface="+mj-lt"/>
            </a:endParaRPr>
          </a:p>
        </p:txBody>
      </p:sp>
      <p:sp>
        <p:nvSpPr>
          <p:cNvPr id="15" name="TextBox 14">
            <a:extLst>
              <a:ext uri="{FF2B5EF4-FFF2-40B4-BE49-F238E27FC236}">
                <a16:creationId xmlns:a16="http://schemas.microsoft.com/office/drawing/2014/main" id="{97B094DF-B4A4-4080-A33F-79FD5964B8A6}"/>
              </a:ext>
            </a:extLst>
          </p:cNvPr>
          <p:cNvSpPr txBox="1"/>
          <p:nvPr/>
        </p:nvSpPr>
        <p:spPr>
          <a:xfrm>
            <a:off x="5650590" y="1925032"/>
            <a:ext cx="6094770" cy="1754326"/>
          </a:xfrm>
          <a:prstGeom prst="rect">
            <a:avLst/>
          </a:prstGeom>
          <a:solidFill>
            <a:schemeClr val="tx1"/>
          </a:solidFill>
        </p:spPr>
        <p:txBody>
          <a:bodyPr wrap="square">
            <a:spAutoFit/>
          </a:bodyPr>
          <a:lstStyle/>
          <a:p>
            <a:r>
              <a:rPr lang="en-US" b="0" dirty="0">
                <a:solidFill>
                  <a:srgbClr val="9CDCFE"/>
                </a:solidFill>
                <a:effectLst/>
                <a:latin typeface="Consolas" panose="020B0609020204030204" pitchFamily="49" charset="0"/>
              </a:rPr>
              <a:t>Constraints</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dor</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and</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write</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enable</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constraint</a:t>
            </a:r>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wr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w_en</a:t>
            </a:r>
            <a:r>
              <a:rPr lang="en-US" b="0" dirty="0">
                <a:solidFill>
                  <a:srgbClr val="CCCCCC"/>
                </a:solidFill>
                <a:effectLst/>
                <a:latin typeface="Consolas" panose="020B0609020204030204" pitchFamily="49" charset="0"/>
              </a:rPr>
              <a:t> </a:t>
            </a:r>
            <a:r>
              <a:rPr lang="en-US" b="0" dirty="0" err="1">
                <a:solidFill>
                  <a:srgbClr val="D4D4D4"/>
                </a:solidFill>
                <a:effectLst/>
                <a:latin typeface="Consolas" panose="020B0609020204030204" pitchFamily="49" charset="0"/>
              </a:rPr>
              <a:t>dist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50</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50</a:t>
            </a:r>
            <a:r>
              <a:rPr lang="en-US" b="0" dirty="0">
                <a:solidFill>
                  <a:srgbClr val="CCCCCC"/>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function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void</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post_randomize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r_en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w_en</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C586C0"/>
                </a:solidFill>
                <a:effectLst/>
                <a:latin typeface="Consolas" panose="020B0609020204030204" pitchFamily="49" charset="0"/>
              </a:rPr>
              <a:t>endfunction</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821812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C22B83-BF4E-427C-922D-525E8C11A5E6}"/>
              </a:ext>
            </a:extLst>
          </p:cNvPr>
          <p:cNvSpPr/>
          <p:nvPr/>
        </p:nvSpPr>
        <p:spPr>
          <a:xfrm>
            <a:off x="313401" y="1098632"/>
            <a:ext cx="5782599" cy="200590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Generated the randomized values for </a:t>
            </a:r>
            <a:r>
              <a:rPr lang="en-US" dirty="0" err="1">
                <a:ln w="0"/>
                <a:solidFill>
                  <a:schemeClr val="tx1"/>
                </a:solidFill>
                <a:effectLst>
                  <a:outerShdw blurRad="38100" dist="19050" dir="2700000" algn="tl" rotWithShape="0">
                    <a:schemeClr val="dk1">
                      <a:alpha val="40000"/>
                    </a:schemeClr>
                  </a:outerShdw>
                </a:effectLst>
                <a:latin typeface="+mj-lt"/>
              </a:rPr>
              <a:t>data_in</a:t>
            </a:r>
            <a:r>
              <a:rPr lang="en-US" dirty="0">
                <a:ln w="0"/>
                <a:solidFill>
                  <a:schemeClr val="tx1"/>
                </a:solidFill>
                <a:effectLst>
                  <a:outerShdw blurRad="38100" dist="19050" dir="2700000" algn="tl" rotWithShape="0">
                    <a:schemeClr val="dk1">
                      <a:alpha val="40000"/>
                    </a:schemeClr>
                  </a:outerShdw>
                </a:effectLst>
                <a:latin typeface="+mj-lt"/>
              </a:rPr>
              <a:t> with write enable being asserted for half of the burst length.</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And read enable being asserted for the next half of the burst length.</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generated data is transferred to driver through mailbox.</a:t>
            </a:r>
          </a:p>
          <a:p>
            <a:endParaRPr lang="en-US" dirty="0">
              <a:ln w="0"/>
              <a:solidFill>
                <a:schemeClr val="tx1"/>
              </a:solidFill>
              <a:effectLst>
                <a:outerShdw blurRad="38100" dist="19050" dir="2700000" algn="tl" rotWithShape="0">
                  <a:schemeClr val="dk1">
                    <a:alpha val="40000"/>
                  </a:schemeClr>
                </a:outerShdw>
              </a:effectLst>
              <a:latin typeface="+mj-lt"/>
            </a:endParaRPr>
          </a:p>
        </p:txBody>
      </p:sp>
      <p:sp>
        <p:nvSpPr>
          <p:cNvPr id="5" name="Rectangle 4">
            <a:extLst>
              <a:ext uri="{FF2B5EF4-FFF2-40B4-BE49-F238E27FC236}">
                <a16:creationId xmlns:a16="http://schemas.microsoft.com/office/drawing/2014/main" id="{436B78B1-9F81-4B63-B26C-FA41F86D02D1}"/>
              </a:ext>
            </a:extLst>
          </p:cNvPr>
          <p:cNvSpPr/>
          <p:nvPr/>
        </p:nvSpPr>
        <p:spPr>
          <a:xfrm>
            <a:off x="313400" y="300600"/>
            <a:ext cx="5782599" cy="63815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Generator</a:t>
            </a:r>
          </a:p>
        </p:txBody>
      </p:sp>
      <p:sp>
        <p:nvSpPr>
          <p:cNvPr id="10" name="TextBox 9">
            <a:extLst>
              <a:ext uri="{FF2B5EF4-FFF2-40B4-BE49-F238E27FC236}">
                <a16:creationId xmlns:a16="http://schemas.microsoft.com/office/drawing/2014/main" id="{F205073B-09A9-4118-8AE7-495118B1FD78}"/>
              </a:ext>
            </a:extLst>
          </p:cNvPr>
          <p:cNvSpPr txBox="1"/>
          <p:nvPr/>
        </p:nvSpPr>
        <p:spPr>
          <a:xfrm>
            <a:off x="313400" y="3264408"/>
            <a:ext cx="5782600" cy="3416320"/>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for</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int</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j</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j</a:t>
            </a:r>
            <a:r>
              <a:rPr lang="en-US" sz="1200" b="0" dirty="0">
                <a:solidFill>
                  <a:srgbClr val="D4D4D4"/>
                </a:solidFill>
                <a:effectLst/>
                <a:latin typeface="Consolas" panose="020B0609020204030204" pitchFamily="49" charset="0"/>
              </a:rPr>
              <a:t>&lt;</a:t>
            </a:r>
            <a:r>
              <a:rPr lang="en-US" sz="1200" b="0" dirty="0" err="1">
                <a:solidFill>
                  <a:srgbClr val="9CDCFE"/>
                </a:solidFill>
                <a:effectLst/>
                <a:latin typeface="Consolas" panose="020B0609020204030204" pitchFamily="49" charset="0"/>
              </a:rPr>
              <a:t>count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j</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trans</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new</a:t>
            </a:r>
            <a:r>
              <a:rPr lang="en-US" sz="1200" b="0" dirty="0">
                <a:solidFill>
                  <a:srgbClr val="CCCCCC"/>
                </a:solidFill>
                <a:effectLst/>
                <a:latin typeface="Consolas" panose="020B0609020204030204" pitchFamily="49" charset="0"/>
              </a:rPr>
              <a:t>(); </a:t>
            </a:r>
            <a:r>
              <a:rPr lang="en-US" sz="1200" b="0" dirty="0">
                <a:solidFill>
                  <a:srgbClr val="6A9955"/>
                </a:solidFill>
                <a:effectLst/>
                <a:latin typeface="Consolas" panose="020B0609020204030204" pitchFamily="49" charset="0"/>
              </a:rPr>
              <a:t>//creating trans object</a:t>
            </a:r>
          </a:p>
          <a:p>
            <a:r>
              <a:rPr lang="en-US" sz="1200" dirty="0">
                <a:solidFill>
                  <a:srgbClr val="CCCCCC"/>
                </a:solidFill>
                <a:latin typeface="Consolas" panose="020B0609020204030204" pitchFamily="49" charset="0"/>
              </a:rPr>
              <a:t>   </a:t>
            </a:r>
            <a:r>
              <a:rPr lang="en-US" sz="1200" b="0" dirty="0">
                <a:solidFill>
                  <a:srgbClr val="6A9955"/>
                </a:solidFill>
                <a:effectLst/>
                <a:latin typeface="Consolas" panose="020B0609020204030204" pitchFamily="49" charset="0"/>
              </a:rPr>
              <a:t>//randomizing the inputs</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j</a:t>
            </a:r>
            <a:r>
              <a:rPr lang="en-US" sz="1200" b="0" dirty="0">
                <a:solidFill>
                  <a:srgbClr val="D4D4D4"/>
                </a:solidFill>
                <a:effectLst/>
                <a:latin typeface="Consolas" panose="020B0609020204030204" pitchFamily="49" charset="0"/>
              </a:rPr>
              <a:t>&lt;</a:t>
            </a:r>
            <a:r>
              <a:rPr lang="en-US" sz="1200" b="0" dirty="0">
                <a:solidFill>
                  <a:srgbClr val="9CDCFE"/>
                </a:solidFill>
                <a:effectLst/>
                <a:latin typeface="Consolas" panose="020B0609020204030204" pitchFamily="49" charset="0"/>
              </a:rPr>
              <a:t>count</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2</a:t>
            </a:r>
            <a:r>
              <a:rPr lang="en-US" sz="1200" b="0" dirty="0">
                <a:solidFill>
                  <a:srgbClr val="CCCCCC"/>
                </a:solidFill>
                <a:effectLst/>
                <a:latin typeface="Consolas" panose="020B0609020204030204" pitchFamily="49" charset="0"/>
              </a:rPr>
              <a:t>) </a:t>
            </a:r>
          </a:p>
          <a:p>
            <a:r>
              <a:rPr lang="en-US" sz="1200" b="0" dirty="0">
                <a:solidFill>
                  <a:srgbClr val="DCDCAA"/>
                </a:solidFill>
                <a:effectLst/>
                <a:latin typeface="Consolas" panose="020B0609020204030204" pitchFamily="49" charset="0"/>
              </a:rPr>
              <a:t>     assert</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randomize</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with{</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trans</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r_en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endParaRPr lang="en-US" sz="1200" dirty="0">
              <a:solidFill>
                <a:srgbClr val="6A9955"/>
              </a:solidFill>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j</a:t>
            </a:r>
            <a:r>
              <a:rPr lang="en-US" sz="1200" b="0" dirty="0">
                <a:solidFill>
                  <a:srgbClr val="D4D4D4"/>
                </a:solidFill>
                <a:effectLst/>
                <a:latin typeface="Consolas" panose="020B0609020204030204" pitchFamily="49" charset="0"/>
              </a:rPr>
              <a:t>&gt;=</a:t>
            </a:r>
            <a:r>
              <a:rPr lang="en-US" sz="1200" b="0" dirty="0">
                <a:solidFill>
                  <a:srgbClr val="9CDCFE"/>
                </a:solidFill>
                <a:effectLst/>
                <a:latin typeface="Consolas" panose="020B0609020204030204" pitchFamily="49" charset="0"/>
              </a:rPr>
              <a:t>count</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2</a:t>
            </a:r>
            <a:r>
              <a:rPr lang="en-US" sz="1200" b="0" dirty="0">
                <a:solidFill>
                  <a:srgbClr val="CCCCCC"/>
                </a:solidFill>
                <a:effectLst/>
                <a:latin typeface="Consolas" panose="020B0609020204030204" pitchFamily="49" charset="0"/>
              </a:rPr>
              <a:t>)</a:t>
            </a:r>
          </a:p>
          <a:p>
            <a:r>
              <a:rPr lang="en-US" sz="1200" b="0" dirty="0">
                <a:solidFill>
                  <a:srgbClr val="DCDCAA"/>
                </a:solidFill>
                <a:effectLst/>
                <a:latin typeface="Consolas" panose="020B0609020204030204" pitchFamily="49" charset="0"/>
              </a:rPr>
              <a:t>    assert</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randomize</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with</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trans</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r_en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a:p>
            <a:r>
              <a:rPr lang="en-US" sz="1200" b="0" dirty="0">
                <a:solidFill>
                  <a:srgbClr val="6A9955"/>
                </a:solidFill>
                <a:effectLst/>
                <a:latin typeface="Consolas" panose="020B0609020204030204" pitchFamily="49" charset="0"/>
              </a:rPr>
              <a:t>    //put method to transfer the data from </a:t>
            </a:r>
            <a:r>
              <a:rPr lang="en-US" sz="1200" b="0" dirty="0" err="1">
                <a:solidFill>
                  <a:srgbClr val="6A9955"/>
                </a:solidFill>
                <a:effectLst/>
                <a:latin typeface="Consolas" panose="020B0609020204030204" pitchFamily="49" charset="0"/>
              </a:rPr>
              <a:t>genrator</a:t>
            </a:r>
            <a:r>
              <a:rPr lang="en-US" sz="1200" b="0" dirty="0">
                <a:solidFill>
                  <a:srgbClr val="6A9955"/>
                </a:solidFill>
                <a:effectLst/>
                <a:latin typeface="Consolas" panose="020B0609020204030204" pitchFamily="49" charset="0"/>
              </a:rPr>
              <a:t> to driver</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gen2driv</a:t>
            </a:r>
            <a:r>
              <a:rPr lang="en-US" sz="1200" b="0" dirty="0">
                <a:solidFill>
                  <a:srgbClr val="CCCCCC"/>
                </a:solidFill>
                <a:effectLst/>
                <a:latin typeface="Consolas" panose="020B0609020204030204" pitchFamily="49" charset="0"/>
              </a:rPr>
              <a:t>.</a:t>
            </a:r>
            <a:r>
              <a:rPr lang="en-US" sz="1200" b="0" dirty="0">
                <a:solidFill>
                  <a:srgbClr val="DCDCAA"/>
                </a:solidFill>
                <a:effectLst/>
                <a:latin typeface="Consolas" panose="020B0609020204030204" pitchFamily="49" charset="0"/>
              </a:rPr>
              <a:t>put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trans</a:t>
            </a:r>
            <a:r>
              <a:rPr lang="en-US" sz="1200" b="0" dirty="0">
                <a:solidFill>
                  <a:srgbClr val="CCCCCC"/>
                </a:solidFill>
                <a:effectLst/>
                <a:latin typeface="Consolas" panose="020B0609020204030204" pitchFamily="49" charset="0"/>
              </a:rPr>
              <a:t>); </a:t>
            </a:r>
          </a:p>
          <a:p>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$display</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"[Generator][Generator </a:t>
            </a:r>
            <a:r>
              <a:rPr lang="en-US" sz="1200" b="0" dirty="0" err="1">
                <a:solidFill>
                  <a:srgbClr val="CE9178"/>
                </a:solidFill>
                <a:effectLst/>
                <a:latin typeface="Consolas" panose="020B0609020204030204" pitchFamily="49" charset="0"/>
              </a:rPr>
              <a:t>trasaction</a:t>
            </a:r>
            <a:r>
              <a:rPr lang="en-US" sz="1200" b="0" dirty="0">
                <a:solidFill>
                  <a:srgbClr val="CE9178"/>
                </a:solidFill>
                <a:effectLst/>
                <a:latin typeface="Consolas" panose="020B0609020204030204" pitchFamily="49" charset="0"/>
              </a:rPr>
              <a:t> no=</a:t>
            </a:r>
            <a:r>
              <a:rPr lang="en-US" sz="1200" b="0" dirty="0">
                <a:solidFill>
                  <a:srgbClr val="569CD6"/>
                </a:solidFill>
                <a:effectLst/>
                <a:latin typeface="Consolas" panose="020B0609020204030204" pitchFamily="49" charset="0"/>
              </a:rPr>
              <a:t>%0d</a:t>
            </a:r>
            <a:r>
              <a:rPr lang="en-US" sz="1200" b="0" dirty="0">
                <a:solidFill>
                  <a:srgbClr val="CE9178"/>
                </a:solidFill>
                <a:effectLst/>
                <a:latin typeface="Consolas" panose="020B0609020204030204" pitchFamily="49" charset="0"/>
              </a:rPr>
              <a:t>]:</a:t>
            </a:r>
          </a:p>
          <a:p>
            <a:r>
              <a:rPr lang="en-US" sz="1200" dirty="0">
                <a:solidFill>
                  <a:srgbClr val="CE9178"/>
                </a:solidFill>
                <a:latin typeface="Consolas" panose="020B0609020204030204" pitchFamily="49" charset="0"/>
              </a:rPr>
              <a:t>    </a:t>
            </a:r>
            <a:r>
              <a:rPr lang="en-US" sz="1200" b="0" dirty="0" err="1">
                <a:solidFill>
                  <a:srgbClr val="CE9178"/>
                </a:solidFill>
                <a:effectLst/>
                <a:latin typeface="Consolas" panose="020B0609020204030204" pitchFamily="49" charset="0"/>
              </a:rPr>
              <a:t>data_in</a:t>
            </a:r>
            <a:r>
              <a:rPr lang="en-US" sz="1200" b="0" dirty="0">
                <a:solidFill>
                  <a:srgbClr val="CE9178"/>
                </a:solidFill>
                <a:effectLst/>
                <a:latin typeface="Consolas" panose="020B0609020204030204" pitchFamily="49" charset="0"/>
              </a:rPr>
              <a:t> =</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 w_en = </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 r_en =</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 "</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gen_transfer</a:t>
            </a:r>
            <a:r>
              <a:rPr lang="en-US" sz="1200" b="0" dirty="0">
                <a:solidFill>
                  <a:srgbClr val="CCCCCC"/>
                </a:solidFill>
                <a:effectLst/>
                <a:latin typeface="Consolas" panose="020B0609020204030204" pitchFamily="49" charset="0"/>
              </a:rPr>
              <a:t>,    </a:t>
            </a:r>
            <a:r>
              <a:rPr lang="en-US" sz="1200" dirty="0">
                <a:solidFill>
                  <a:srgbClr val="9CDCFE"/>
                </a:solidFill>
                <a:latin typeface="Consolas" panose="020B0609020204030204" pitchFamily="49" charset="0"/>
              </a:rPr>
              <a:t>     </a:t>
            </a:r>
          </a:p>
          <a:p>
            <a:r>
              <a:rPr lang="en-US" sz="1200" b="0" dirty="0">
                <a:solidFill>
                  <a:srgbClr val="9CDCFE"/>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    </a:t>
            </a:r>
          </a:p>
          <a:p>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gen_transfer</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61700033-4C97-41AA-8B90-84093F342140}"/>
              </a:ext>
            </a:extLst>
          </p:cNvPr>
          <p:cNvSpPr/>
          <p:nvPr/>
        </p:nvSpPr>
        <p:spPr>
          <a:xfrm>
            <a:off x="6843250" y="328049"/>
            <a:ext cx="4692445" cy="63815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Driver</a:t>
            </a:r>
          </a:p>
        </p:txBody>
      </p:sp>
      <p:sp>
        <p:nvSpPr>
          <p:cNvPr id="8" name="Rectangle 7">
            <a:extLst>
              <a:ext uri="{FF2B5EF4-FFF2-40B4-BE49-F238E27FC236}">
                <a16:creationId xmlns:a16="http://schemas.microsoft.com/office/drawing/2014/main" id="{6FADFA85-6E0E-4EC2-B0FF-8BCAB26B4F29}"/>
              </a:ext>
            </a:extLst>
          </p:cNvPr>
          <p:cNvSpPr/>
          <p:nvPr/>
        </p:nvSpPr>
        <p:spPr>
          <a:xfrm>
            <a:off x="6843249" y="1335631"/>
            <a:ext cx="4692446" cy="15593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data from generator is collected through mailbox.</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received data such as w_en, r_en and </a:t>
            </a:r>
            <a:r>
              <a:rPr lang="en-US" dirty="0" err="1">
                <a:ln w="0"/>
                <a:solidFill>
                  <a:schemeClr val="tx1"/>
                </a:solidFill>
                <a:effectLst>
                  <a:outerShdw blurRad="38100" dist="19050" dir="2700000" algn="tl" rotWithShape="0">
                    <a:schemeClr val="dk1">
                      <a:alpha val="40000"/>
                    </a:schemeClr>
                  </a:outerShdw>
                </a:effectLst>
                <a:latin typeface="+mj-lt"/>
              </a:rPr>
              <a:t>data_in</a:t>
            </a:r>
            <a:r>
              <a:rPr lang="en-US" dirty="0">
                <a:ln w="0"/>
                <a:solidFill>
                  <a:schemeClr val="tx1"/>
                </a:solidFill>
                <a:effectLst>
                  <a:outerShdw blurRad="38100" dist="19050" dir="2700000" algn="tl" rotWithShape="0">
                    <a:schemeClr val="dk1">
                      <a:alpha val="40000"/>
                    </a:schemeClr>
                  </a:outerShdw>
                </a:effectLst>
                <a:latin typeface="+mj-lt"/>
              </a:rPr>
              <a:t> are sent to DUT through interface based on certain conditions.</a:t>
            </a:r>
          </a:p>
        </p:txBody>
      </p:sp>
      <p:sp>
        <p:nvSpPr>
          <p:cNvPr id="9" name="TextBox 8">
            <a:extLst>
              <a:ext uri="{FF2B5EF4-FFF2-40B4-BE49-F238E27FC236}">
                <a16:creationId xmlns:a16="http://schemas.microsoft.com/office/drawing/2014/main" id="{8AA2FE75-D06F-4558-91E1-91C23BDC9739}"/>
              </a:ext>
            </a:extLst>
          </p:cNvPr>
          <p:cNvSpPr txBox="1"/>
          <p:nvPr/>
        </p:nvSpPr>
        <p:spPr>
          <a:xfrm>
            <a:off x="6843249" y="3264408"/>
            <a:ext cx="4734233" cy="2308324"/>
          </a:xfrm>
          <a:prstGeom prst="rect">
            <a:avLst/>
          </a:prstGeom>
          <a:solidFill>
            <a:schemeClr val="tx1"/>
          </a:solidFill>
        </p:spPr>
        <p:txBody>
          <a:bodyPr wrap="square">
            <a:spAutoFit/>
          </a:bodyPr>
          <a:lstStyle/>
          <a:p>
            <a:r>
              <a:rPr lang="en-US" sz="1200" b="0" dirty="0">
                <a:solidFill>
                  <a:srgbClr val="9CDCFE"/>
                </a:solidFill>
                <a:effectLst/>
                <a:latin typeface="Consolas" panose="020B0609020204030204" pitchFamily="49" charset="0"/>
              </a:rPr>
              <a:t>trans</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new</a:t>
            </a:r>
            <a:r>
              <a:rPr lang="en-US" sz="1200" b="0" dirty="0">
                <a:solidFill>
                  <a:srgbClr val="CCCCCC"/>
                </a:solidFill>
                <a:effectLst/>
                <a:latin typeface="Consolas" panose="020B0609020204030204" pitchFamily="49" charset="0"/>
              </a:rPr>
              <a:t>(); // creating object for transaction</a:t>
            </a:r>
          </a:p>
          <a:p>
            <a:r>
              <a:rPr lang="en-US" sz="1200" b="0" dirty="0">
                <a:solidFill>
                  <a:srgbClr val="9CDCFE"/>
                </a:solidFill>
                <a:effectLst/>
                <a:latin typeface="Consolas" panose="020B0609020204030204" pitchFamily="49" charset="0"/>
              </a:rPr>
              <a:t>gen2driv</a:t>
            </a:r>
            <a:r>
              <a:rPr lang="en-US" sz="1200" b="0" dirty="0">
                <a:solidFill>
                  <a:srgbClr val="CCCCCC"/>
                </a:solidFill>
                <a:effectLst/>
                <a:latin typeface="Consolas" panose="020B0609020204030204" pitchFamily="49" charset="0"/>
              </a:rPr>
              <a:t>.</a:t>
            </a:r>
            <a:r>
              <a:rPr lang="en-US" sz="1200" b="0" dirty="0">
                <a:solidFill>
                  <a:srgbClr val="DCDCAA"/>
                </a:solidFill>
                <a:effectLst/>
                <a:latin typeface="Consolas" panose="020B0609020204030204" pitchFamily="49" charset="0"/>
              </a:rPr>
              <a:t>get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trans</a:t>
            </a:r>
            <a:r>
              <a:rPr lang="en-US" sz="1200" b="0" dirty="0">
                <a:solidFill>
                  <a:srgbClr val="CCCCCC"/>
                </a:solidFill>
                <a:effectLst/>
                <a:latin typeface="Consolas" panose="020B0609020204030204" pitchFamily="49" charset="0"/>
              </a:rPr>
              <a:t>);//getting data sent by generator </a:t>
            </a:r>
          </a:p>
          <a:p>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negedge</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rclk</a:t>
            </a:r>
            <a:r>
              <a:rPr lang="en-US" sz="1200" b="0" dirty="0">
                <a:solidFill>
                  <a:srgbClr val="CCCCCC"/>
                </a:solidFill>
                <a:effectLst/>
                <a:latin typeface="Consolas" panose="020B0609020204030204" pitchFamily="49" charset="0"/>
              </a:rPr>
              <a:t>);</a:t>
            </a:r>
          </a:p>
          <a:p>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flag</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p:txBody>
      </p:sp>
      <p:cxnSp>
        <p:nvCxnSpPr>
          <p:cNvPr id="3" name="Straight Connector 2">
            <a:extLst>
              <a:ext uri="{FF2B5EF4-FFF2-40B4-BE49-F238E27FC236}">
                <a16:creationId xmlns:a16="http://schemas.microsoft.com/office/drawing/2014/main" id="{E6516A24-4A3E-4E83-9151-BCC43802DDEC}"/>
              </a:ext>
            </a:extLst>
          </p:cNvPr>
          <p:cNvCxnSpPr/>
          <p:nvPr/>
        </p:nvCxnSpPr>
        <p:spPr>
          <a:xfrm>
            <a:off x="6408174" y="88490"/>
            <a:ext cx="0" cy="6518787"/>
          </a:xfrm>
          <a:prstGeom prst="line">
            <a:avLst/>
          </a:prstGeom>
          <a:ln w="1905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418324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920716-3B69-4014-B328-06ADC3890FAD}"/>
              </a:ext>
            </a:extLst>
          </p:cNvPr>
          <p:cNvSpPr/>
          <p:nvPr/>
        </p:nvSpPr>
        <p:spPr>
          <a:xfrm>
            <a:off x="471948" y="446017"/>
            <a:ext cx="4483510" cy="63815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Monitor</a:t>
            </a:r>
          </a:p>
        </p:txBody>
      </p:sp>
      <p:sp>
        <p:nvSpPr>
          <p:cNvPr id="8" name="Rectangle 7">
            <a:extLst>
              <a:ext uri="{FF2B5EF4-FFF2-40B4-BE49-F238E27FC236}">
                <a16:creationId xmlns:a16="http://schemas.microsoft.com/office/drawing/2014/main" id="{D369969F-80BF-4D43-A68D-63248981DAC5}"/>
              </a:ext>
            </a:extLst>
          </p:cNvPr>
          <p:cNvSpPr/>
          <p:nvPr/>
        </p:nvSpPr>
        <p:spPr>
          <a:xfrm>
            <a:off x="508819" y="1290771"/>
            <a:ext cx="4483510" cy="12575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monitor receives input and output data from the DUT through interface.</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data is transferred to scoreboard through mailbox.</a:t>
            </a:r>
          </a:p>
        </p:txBody>
      </p:sp>
      <p:sp>
        <p:nvSpPr>
          <p:cNvPr id="9" name="TextBox 8">
            <a:extLst>
              <a:ext uri="{FF2B5EF4-FFF2-40B4-BE49-F238E27FC236}">
                <a16:creationId xmlns:a16="http://schemas.microsoft.com/office/drawing/2014/main" id="{C3E8F299-5C24-4053-9235-A296B7A7F1E4}"/>
              </a:ext>
            </a:extLst>
          </p:cNvPr>
          <p:cNvSpPr txBox="1"/>
          <p:nvPr/>
        </p:nvSpPr>
        <p:spPr>
          <a:xfrm>
            <a:off x="471948" y="2754954"/>
            <a:ext cx="4557252" cy="3970318"/>
          </a:xfrm>
          <a:prstGeom prst="rect">
            <a:avLst/>
          </a:prstGeom>
          <a:solidFill>
            <a:schemeClr val="tx1"/>
          </a:solidFill>
        </p:spPr>
        <p:txBody>
          <a:bodyPr wrap="square">
            <a:spAutoFit/>
          </a:bodyPr>
          <a:lstStyle/>
          <a:p>
            <a:r>
              <a:rPr lang="en-US" sz="1200" b="0" dirty="0">
                <a:solidFill>
                  <a:srgbClr val="9CDCFE"/>
                </a:solidFill>
                <a:effectLst/>
                <a:latin typeface="Consolas" panose="020B0609020204030204" pitchFamily="49" charset="0"/>
              </a:rPr>
              <a:t>trans</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 new</a:t>
            </a:r>
            <a:r>
              <a:rPr lang="en-US" sz="1200" b="0" dirty="0">
                <a:solidFill>
                  <a:srgbClr val="CCCCCC"/>
                </a:solidFill>
                <a:effectLst/>
                <a:latin typeface="Consolas" panose="020B0609020204030204" pitchFamily="49" charset="0"/>
              </a:rPr>
              <a:t>(); </a:t>
            </a:r>
            <a:r>
              <a:rPr lang="en-US" sz="1200" b="0" dirty="0">
                <a:solidFill>
                  <a:srgbClr val="6A9955"/>
                </a:solidFill>
                <a:effectLst/>
                <a:latin typeface="Consolas" panose="020B0609020204030204" pitchFamily="49" charset="0"/>
              </a:rPr>
              <a:t>//creating trans object</a:t>
            </a:r>
            <a:endParaRPr lang="en-US" sz="1200" b="0" dirty="0">
              <a:solidFill>
                <a:srgbClr val="CCCCCC"/>
              </a:solidFill>
              <a:effectLst/>
              <a:latin typeface="Consolas" panose="020B0609020204030204" pitchFamily="49" charset="0"/>
            </a:endParaRPr>
          </a:p>
          <a:p>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mflag</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 //setting </a:t>
            </a:r>
            <a:r>
              <a:rPr lang="en-US" sz="1200" b="0" dirty="0" err="1">
                <a:solidFill>
                  <a:srgbClr val="CCCCCC"/>
                </a:solidFill>
                <a:effectLst/>
                <a:latin typeface="Consolas" panose="020B0609020204030204" pitchFamily="49" charset="0"/>
              </a:rPr>
              <a:t>mflag</a:t>
            </a:r>
            <a:r>
              <a:rPr lang="en-US" sz="1200" b="0" dirty="0">
                <a:solidFill>
                  <a:srgbClr val="CCCCCC"/>
                </a:solidFill>
                <a:effectLst/>
                <a:latin typeface="Consolas" panose="020B0609020204030204" pitchFamily="49" charset="0"/>
              </a:rPr>
              <a:t> bit to zero</a:t>
            </a:r>
          </a:p>
          <a:p>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posedge</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rclk</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p>
          <a:p>
            <a:r>
              <a:rPr lang="en-US" sz="1200" b="0" dirty="0">
                <a:solidFill>
                  <a:srgbClr val="DCDCAA"/>
                </a:solidFill>
                <a:effectLst/>
                <a:latin typeface="Consolas" panose="020B0609020204030204" pitchFamily="49" charset="0"/>
              </a:rPr>
              <a:t>wait</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6A9955"/>
                </a:solidFill>
                <a:effectLst/>
                <a:latin typeface="Consolas" panose="020B0609020204030204" pitchFamily="49" charset="0"/>
              </a:rPr>
              <a:t>// when write enable is high </a:t>
            </a:r>
            <a:r>
              <a:rPr lang="en-US" sz="1200" b="0" dirty="0" err="1">
                <a:solidFill>
                  <a:srgbClr val="6A9955"/>
                </a:solidFill>
                <a:effectLst/>
                <a:latin typeface="Consolas" panose="020B0609020204030204" pitchFamily="49" charset="0"/>
              </a:rPr>
              <a:t>transfering</a:t>
            </a:r>
            <a:r>
              <a:rPr lang="en-US" sz="1200" b="0" dirty="0">
                <a:solidFill>
                  <a:srgbClr val="6A9955"/>
                </a:solidFill>
                <a:effectLst/>
                <a:latin typeface="Consolas" panose="020B0609020204030204" pitchFamily="49" charset="0"/>
              </a:rPr>
              <a:t> the data from interface to mailbox</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p>
          <a:p>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dirty="0">
                <a:solidFill>
                  <a:srgbClr val="CCCCCC"/>
                </a:solidFill>
                <a:latin typeface="Consolas" panose="020B0609020204030204" pitchFamily="49" charset="0"/>
              </a:rPr>
              <a:t>  </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posedge</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wclk</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posedge</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wclk</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waddr</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waddr</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raddr</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raddr</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full</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full</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empty</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empty</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p:txBody>
      </p:sp>
      <p:sp>
        <p:nvSpPr>
          <p:cNvPr id="11" name="Rectangle 10">
            <a:extLst>
              <a:ext uri="{FF2B5EF4-FFF2-40B4-BE49-F238E27FC236}">
                <a16:creationId xmlns:a16="http://schemas.microsoft.com/office/drawing/2014/main" id="{DB988DD4-4116-4CFD-9314-1B6EB84DA03A}"/>
              </a:ext>
            </a:extLst>
          </p:cNvPr>
          <p:cNvSpPr/>
          <p:nvPr/>
        </p:nvSpPr>
        <p:spPr>
          <a:xfrm>
            <a:off x="6089855" y="446017"/>
            <a:ext cx="5100481" cy="63815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Scoreboard</a:t>
            </a:r>
          </a:p>
        </p:txBody>
      </p:sp>
      <p:sp>
        <p:nvSpPr>
          <p:cNvPr id="12" name="Rectangle 11">
            <a:extLst>
              <a:ext uri="{FF2B5EF4-FFF2-40B4-BE49-F238E27FC236}">
                <a16:creationId xmlns:a16="http://schemas.microsoft.com/office/drawing/2014/main" id="{9032CC15-BF7F-4874-AA3B-874AF040EAAC}"/>
              </a:ext>
            </a:extLst>
          </p:cNvPr>
          <p:cNvSpPr/>
          <p:nvPr/>
        </p:nvSpPr>
        <p:spPr>
          <a:xfrm>
            <a:off x="6102143" y="1311192"/>
            <a:ext cx="5088193" cy="144376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scoreboard receives input and output data from the monitor through mailbox.</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reference model in the scoreboard compares the outputs and states whether the test is failed or passed</a:t>
            </a:r>
          </a:p>
        </p:txBody>
      </p:sp>
      <p:sp>
        <p:nvSpPr>
          <p:cNvPr id="14" name="TextBox 13">
            <a:extLst>
              <a:ext uri="{FF2B5EF4-FFF2-40B4-BE49-F238E27FC236}">
                <a16:creationId xmlns:a16="http://schemas.microsoft.com/office/drawing/2014/main" id="{6715F6D9-BE76-44AC-93E2-84E9282BD375}"/>
              </a:ext>
            </a:extLst>
          </p:cNvPr>
          <p:cNvSpPr txBox="1"/>
          <p:nvPr/>
        </p:nvSpPr>
        <p:spPr>
          <a:xfrm>
            <a:off x="6102143" y="3124286"/>
            <a:ext cx="5896895" cy="3231654"/>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check_fifo</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CCCCCC"/>
                </a:solidFill>
                <a:effectLst/>
                <a:latin typeface="Consolas" panose="020B0609020204030204" pitchFamily="49" charset="0"/>
              </a:rPr>
              <a:t>)//comparing the output </a:t>
            </a:r>
            <a:r>
              <a:rPr lang="en-US" sz="1200" b="0" dirty="0" err="1">
                <a:solidFill>
                  <a:srgbClr val="CCCCCC"/>
                </a:solidFill>
                <a:effectLst/>
                <a:latin typeface="Consolas" panose="020B0609020204030204" pitchFamily="49" charset="0"/>
              </a:rPr>
              <a:t>data_out</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$error</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"[SCB-FAIL][</a:t>
            </a:r>
            <a:r>
              <a:rPr lang="en-US" sz="1200" b="0" dirty="0" err="1">
                <a:solidFill>
                  <a:srgbClr val="CE9178"/>
                </a:solidFill>
                <a:effectLst/>
                <a:latin typeface="Consolas" panose="020B0609020204030204" pitchFamily="49" charset="0"/>
              </a:rPr>
              <a:t>Scb</a:t>
            </a:r>
            <a:r>
              <a:rPr lang="en-US" sz="1200" b="0" dirty="0">
                <a:solidFill>
                  <a:srgbClr val="CE9178"/>
                </a:solidFill>
                <a:effectLst/>
                <a:latin typeface="Consolas" panose="020B0609020204030204" pitchFamily="49" charset="0"/>
              </a:rPr>
              <a:t>-transfer =</a:t>
            </a:r>
            <a:r>
              <a:rPr lang="en-US" sz="1200" b="0" dirty="0">
                <a:solidFill>
                  <a:srgbClr val="569CD6"/>
                </a:solidFill>
                <a:effectLst/>
                <a:latin typeface="Consolas" panose="020B0609020204030204" pitchFamily="49" charset="0"/>
              </a:rPr>
              <a:t>%0d</a:t>
            </a:r>
            <a:r>
              <a:rPr lang="en-US" sz="1200" b="0" dirty="0">
                <a:solidFill>
                  <a:srgbClr val="CE9178"/>
                </a:solidFill>
                <a:effectLst/>
                <a:latin typeface="Consolas" panose="020B0609020204030204" pitchFamily="49" charset="0"/>
              </a:rPr>
              <a:t>] </a:t>
            </a:r>
          </a:p>
          <a:p>
            <a:r>
              <a:rPr lang="en-US" sz="1200" b="0" dirty="0">
                <a:solidFill>
                  <a:srgbClr val="CE9178"/>
                </a:solidFill>
                <a:effectLst/>
                <a:latin typeface="Consolas" panose="020B0609020204030204" pitchFamily="49" charset="0"/>
              </a:rPr>
              <a:t>   Data :: </a:t>
            </a:r>
            <a:r>
              <a:rPr lang="en-US" sz="1200" b="0" dirty="0" err="1">
                <a:solidFill>
                  <a:srgbClr val="CE9178"/>
                </a:solidFill>
                <a:effectLst/>
                <a:latin typeface="Consolas" panose="020B0609020204030204" pitchFamily="49" charset="0"/>
              </a:rPr>
              <a:t>Expected_data_out</a:t>
            </a:r>
            <a:r>
              <a:rPr lang="en-US" sz="1200" b="0" dirty="0">
                <a:solidFill>
                  <a:srgbClr val="CE9178"/>
                </a:solidFill>
                <a:effectLst/>
                <a:latin typeface="Consolas" panose="020B0609020204030204" pitchFamily="49" charset="0"/>
              </a:rPr>
              <a:t> = </a:t>
            </a:r>
            <a:r>
              <a:rPr lang="en-US" sz="1200" b="0" dirty="0">
                <a:solidFill>
                  <a:srgbClr val="569CD6"/>
                </a:solidFill>
                <a:effectLst/>
                <a:latin typeface="Consolas" panose="020B0609020204030204" pitchFamily="49" charset="0"/>
              </a:rPr>
              <a:t>%0d</a:t>
            </a:r>
            <a:r>
              <a:rPr lang="en-US" sz="1200" b="0" dirty="0">
                <a:solidFill>
                  <a:srgbClr val="CE9178"/>
                </a:solidFill>
                <a:effectLst/>
                <a:latin typeface="Consolas" panose="020B0609020204030204" pitchFamily="49" charset="0"/>
              </a:rPr>
              <a:t> </a:t>
            </a:r>
            <a:r>
              <a:rPr lang="en-US" sz="1200" b="0" dirty="0" err="1">
                <a:solidFill>
                  <a:srgbClr val="CE9178"/>
                </a:solidFill>
                <a:effectLst/>
                <a:latin typeface="Consolas" panose="020B0609020204030204" pitchFamily="49" charset="0"/>
              </a:rPr>
              <a:t>Actual_data_out</a:t>
            </a:r>
            <a:r>
              <a:rPr lang="en-US" sz="1200" b="0" dirty="0">
                <a:solidFill>
                  <a:srgbClr val="CE9178"/>
                </a:solidFill>
                <a:effectLst/>
                <a:latin typeface="Consolas" panose="020B0609020204030204" pitchFamily="49" charset="0"/>
              </a:rPr>
              <a:t> = </a:t>
            </a:r>
            <a:r>
              <a:rPr lang="en-US" sz="1200" b="0" dirty="0">
                <a:solidFill>
                  <a:srgbClr val="569CD6"/>
                </a:solidFill>
                <a:effectLst/>
                <a:latin typeface="Consolas" panose="020B0609020204030204" pitchFamily="49" charset="0"/>
              </a:rPr>
              <a:t>%0d</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   </a:t>
            </a:r>
          </a:p>
          <a:p>
            <a:r>
              <a:rPr lang="en-US" sz="1200" dirty="0">
                <a:solidFill>
                  <a:srgbClr val="CE9178"/>
                </a:solidFill>
                <a:latin typeface="Consolas" panose="020B0609020204030204" pitchFamily="49" charset="0"/>
              </a:rPr>
              <a:t>   </a:t>
            </a:r>
            <a:r>
              <a:rPr lang="en-US" sz="1200" b="0" dirty="0" err="1">
                <a:solidFill>
                  <a:srgbClr val="9CDCFE"/>
                </a:solidFill>
                <a:effectLst/>
                <a:latin typeface="Consolas" panose="020B0609020204030204" pitchFamily="49" charset="0"/>
              </a:rPr>
              <a:t>scb_transactions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check_fifo</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fail_count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//incrementing fail count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end</a:t>
            </a:r>
            <a:endParaRPr lang="en-US" sz="1200" dirty="0">
              <a:solidFill>
                <a:srgbClr val="CCCCCC"/>
              </a:solidFill>
              <a:latin typeface="Consolas" panose="020B0609020204030204" pitchFamily="49" charset="0"/>
            </a:endParaRPr>
          </a:p>
          <a:p>
            <a:r>
              <a:rPr lang="en-US" sz="1200" b="0" dirty="0">
                <a:solidFill>
                  <a:srgbClr val="C586C0"/>
                </a:solidFill>
                <a:effectLst/>
                <a:latin typeface="Consolas" panose="020B0609020204030204" pitchFamily="49" charset="0"/>
              </a:rPr>
              <a:t>else</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$display</a:t>
            </a:r>
            <a:r>
              <a:rPr lang="en-US" sz="1200" b="0" dirty="0">
                <a:solidFill>
                  <a:srgbClr val="CCCCCC"/>
                </a:solidFill>
                <a:effectLst/>
                <a:latin typeface="Consolas" panose="020B0609020204030204" pitchFamily="49" charset="0"/>
              </a:rPr>
              <a:t>(</a:t>
            </a:r>
            <a:r>
              <a:rPr lang="en-US" sz="1200" b="0" dirty="0">
                <a:solidFill>
                  <a:srgbClr val="DCDCAA"/>
                </a:solidFill>
                <a:effectLst/>
                <a:latin typeface="Consolas" panose="020B0609020204030204" pitchFamily="49" charset="0"/>
              </a:rPr>
              <a:t>$time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"[SCB-PASS][</a:t>
            </a:r>
            <a:r>
              <a:rPr lang="en-US" sz="1200" b="0" dirty="0" err="1">
                <a:solidFill>
                  <a:srgbClr val="CE9178"/>
                </a:solidFill>
                <a:effectLst/>
                <a:latin typeface="Consolas" panose="020B0609020204030204" pitchFamily="49" charset="0"/>
              </a:rPr>
              <a:t>Scb</a:t>
            </a:r>
            <a:r>
              <a:rPr lang="en-US" sz="1200" b="0" dirty="0">
                <a:solidFill>
                  <a:srgbClr val="CE9178"/>
                </a:solidFill>
                <a:effectLst/>
                <a:latin typeface="Consolas" panose="020B0609020204030204" pitchFamily="49" charset="0"/>
              </a:rPr>
              <a:t>-transfer =</a:t>
            </a:r>
            <a:r>
              <a:rPr lang="en-US" sz="1200" b="0" dirty="0">
                <a:solidFill>
                  <a:srgbClr val="569CD6"/>
                </a:solidFill>
                <a:effectLst/>
                <a:latin typeface="Consolas" panose="020B0609020204030204" pitchFamily="49" charset="0"/>
              </a:rPr>
              <a:t>%0d</a:t>
            </a:r>
            <a:r>
              <a:rPr lang="en-US" sz="1200" b="0" dirty="0">
                <a:solidFill>
                  <a:srgbClr val="CE9178"/>
                </a:solidFill>
                <a:effectLst/>
                <a:latin typeface="Consolas" panose="020B0609020204030204" pitchFamily="49" charset="0"/>
              </a:rPr>
              <a:t>] </a:t>
            </a:r>
          </a:p>
          <a:p>
            <a:r>
              <a:rPr lang="en-US" sz="1200" dirty="0">
                <a:solidFill>
                  <a:srgbClr val="CE9178"/>
                </a:solidFill>
                <a:latin typeface="Consolas" panose="020B0609020204030204" pitchFamily="49" charset="0"/>
              </a:rPr>
              <a:t>    </a:t>
            </a:r>
            <a:r>
              <a:rPr lang="en-US" sz="1200" b="0" dirty="0">
                <a:solidFill>
                  <a:srgbClr val="CE9178"/>
                </a:solidFill>
                <a:effectLst/>
                <a:latin typeface="Consolas" panose="020B0609020204030204" pitchFamily="49" charset="0"/>
              </a:rPr>
              <a:t>Data :: </a:t>
            </a:r>
            <a:r>
              <a:rPr lang="en-US" sz="1200" b="0" dirty="0" err="1">
                <a:solidFill>
                  <a:srgbClr val="CE9178"/>
                </a:solidFill>
                <a:effectLst/>
                <a:latin typeface="Consolas" panose="020B0609020204030204" pitchFamily="49" charset="0"/>
              </a:rPr>
              <a:t>Expected_data_out</a:t>
            </a:r>
            <a:r>
              <a:rPr lang="en-US" sz="1200" b="0" dirty="0">
                <a:solidFill>
                  <a:srgbClr val="CE9178"/>
                </a:solidFill>
                <a:effectLst/>
                <a:latin typeface="Consolas" panose="020B0609020204030204" pitchFamily="49" charset="0"/>
              </a:rPr>
              <a:t> = </a:t>
            </a:r>
            <a:r>
              <a:rPr lang="en-US" sz="1200" b="0" dirty="0">
                <a:solidFill>
                  <a:srgbClr val="569CD6"/>
                </a:solidFill>
                <a:effectLst/>
                <a:latin typeface="Consolas" panose="020B0609020204030204" pitchFamily="49" charset="0"/>
              </a:rPr>
              <a:t>%0d</a:t>
            </a:r>
            <a:r>
              <a:rPr lang="en-US" sz="1200" b="0" dirty="0">
                <a:solidFill>
                  <a:srgbClr val="CE9178"/>
                </a:solidFill>
                <a:effectLst/>
                <a:latin typeface="Consolas" panose="020B0609020204030204" pitchFamily="49" charset="0"/>
              </a:rPr>
              <a:t> </a:t>
            </a:r>
            <a:r>
              <a:rPr lang="en-US" sz="1200" b="0" dirty="0" err="1">
                <a:solidFill>
                  <a:srgbClr val="CE9178"/>
                </a:solidFill>
                <a:effectLst/>
                <a:latin typeface="Consolas" panose="020B0609020204030204" pitchFamily="49" charset="0"/>
              </a:rPr>
              <a:t>Actual_data_out</a:t>
            </a:r>
            <a:r>
              <a:rPr lang="en-US" sz="1200" b="0" dirty="0">
                <a:solidFill>
                  <a:srgbClr val="CE9178"/>
                </a:solidFill>
                <a:effectLst/>
                <a:latin typeface="Consolas" panose="020B0609020204030204" pitchFamily="49" charset="0"/>
              </a:rPr>
              <a:t> =</a:t>
            </a:r>
            <a:r>
              <a:rPr lang="en-US" sz="1200" b="0" dirty="0">
                <a:solidFill>
                  <a:srgbClr val="569CD6"/>
                </a:solidFill>
                <a:effectLst/>
                <a:latin typeface="Consolas" panose="020B0609020204030204" pitchFamily="49" charset="0"/>
              </a:rPr>
              <a:t> %0d</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dirty="0">
                <a:solidFill>
                  <a:srgbClr val="CCCCCC"/>
                </a:solidFill>
                <a:latin typeface="Consolas" panose="020B0609020204030204" pitchFamily="49" charset="0"/>
              </a:rPr>
              <a:t>    </a:t>
            </a:r>
            <a:r>
              <a:rPr lang="en-US" sz="1200" b="0" dirty="0" err="1">
                <a:solidFill>
                  <a:srgbClr val="9CDCFE"/>
                </a:solidFill>
                <a:effectLst/>
                <a:latin typeface="Consolas" panose="020B0609020204030204" pitchFamily="49" charset="0"/>
              </a:rPr>
              <a:t>scb_transactions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check_fifo</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trans</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     	</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p>
          <a:p>
            <a:r>
              <a:rPr lang="en-US" sz="1200" dirty="0">
                <a:solidFill>
                  <a:srgbClr val="CCCCCC"/>
                </a:solidFill>
                <a:latin typeface="Consolas" panose="020B0609020204030204" pitchFamily="49" charset="0"/>
              </a:rPr>
              <a:t>    </a:t>
            </a:r>
            <a:r>
              <a:rPr lang="en-US" sz="1200" b="0" dirty="0" err="1">
                <a:solidFill>
                  <a:srgbClr val="9CDCFE"/>
                </a:solidFill>
                <a:effectLst/>
                <a:latin typeface="Consolas" panose="020B0609020204030204" pitchFamily="49" charset="0"/>
              </a:rPr>
              <a:t>pass_count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//incrementing pass count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a:p>
            <a:endParaRPr lang="en-US" sz="1200" b="0" dirty="0">
              <a:solidFill>
                <a:srgbClr val="CCCCCC"/>
              </a:solidFill>
              <a:effectLst/>
              <a:latin typeface="Consolas" panose="020B0609020204030204" pitchFamily="49" charset="0"/>
            </a:endParaRPr>
          </a:p>
        </p:txBody>
      </p:sp>
      <p:cxnSp>
        <p:nvCxnSpPr>
          <p:cNvPr id="15" name="Straight Connector 14">
            <a:extLst>
              <a:ext uri="{FF2B5EF4-FFF2-40B4-BE49-F238E27FC236}">
                <a16:creationId xmlns:a16="http://schemas.microsoft.com/office/drawing/2014/main" id="{D193180C-03BA-42F0-8886-251E9F4E1B41}"/>
              </a:ext>
            </a:extLst>
          </p:cNvPr>
          <p:cNvCxnSpPr/>
          <p:nvPr/>
        </p:nvCxnSpPr>
        <p:spPr>
          <a:xfrm>
            <a:off x="5582264" y="169606"/>
            <a:ext cx="0" cy="6518787"/>
          </a:xfrm>
          <a:prstGeom prst="line">
            <a:avLst/>
          </a:prstGeom>
          <a:ln w="1905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149210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E0CD-5A58-91E7-FA70-0DC195B40E08}"/>
              </a:ext>
            </a:extLst>
          </p:cNvPr>
          <p:cNvSpPr>
            <a:spLocks noGrp="1"/>
          </p:cNvSpPr>
          <p:nvPr>
            <p:ph type="title"/>
          </p:nvPr>
        </p:nvSpPr>
        <p:spPr>
          <a:xfrm>
            <a:off x="2396613" y="291368"/>
            <a:ext cx="7676535" cy="594537"/>
          </a:xfrm>
          <a:ln>
            <a:solidFill>
              <a:schemeClr val="tx1"/>
            </a:solidFill>
          </a:ln>
        </p:spPr>
        <p:style>
          <a:lnRef idx="1">
            <a:schemeClr val="accent6"/>
          </a:lnRef>
          <a:fillRef idx="1002">
            <a:schemeClr val="dk2"/>
          </a:fillRef>
          <a:effectRef idx="2">
            <a:schemeClr val="accent6"/>
          </a:effectRef>
          <a:fontRef idx="minor">
            <a:schemeClr val="lt1"/>
          </a:fontRef>
        </p:style>
        <p:txBody>
          <a:bodyPr>
            <a:noAutofit/>
          </a:bodyPr>
          <a:lstStyle/>
          <a:p>
            <a:r>
              <a:rPr lang="en-US" b="1" dirty="0">
                <a:solidFill>
                  <a:schemeClr val="bg1"/>
                </a:solidFill>
                <a:latin typeface="+mj-lt"/>
              </a:rPr>
              <a:t>UVM  Verification Environment</a:t>
            </a:r>
          </a:p>
        </p:txBody>
      </p:sp>
      <p:sp>
        <p:nvSpPr>
          <p:cNvPr id="5" name="Slide Number Placeholder 4">
            <a:extLst>
              <a:ext uri="{FF2B5EF4-FFF2-40B4-BE49-F238E27FC236}">
                <a16:creationId xmlns:a16="http://schemas.microsoft.com/office/drawing/2014/main" id="{DE898D88-3CB8-D1C0-E8F8-FE1802C8EDA8}"/>
              </a:ext>
            </a:extLst>
          </p:cNvPr>
          <p:cNvSpPr>
            <a:spLocks noGrp="1"/>
          </p:cNvSpPr>
          <p:nvPr>
            <p:ph type="sldNum" sz="quarter" idx="12"/>
          </p:nvPr>
        </p:nvSpPr>
        <p:spPr/>
        <p:txBody>
          <a:bodyPr/>
          <a:lstStyle/>
          <a:p>
            <a:fld id="{294A09A9-5501-47C1-A89A-A340965A2BE2}" type="slidenum">
              <a:rPr lang="en-US" sz="1600" smtClean="0"/>
              <a:t>11</a:t>
            </a:fld>
            <a:endParaRPr lang="en-US" dirty="0"/>
          </a:p>
        </p:txBody>
      </p:sp>
      <p:pic>
        <p:nvPicPr>
          <p:cNvPr id="6" name="Picture 5">
            <a:extLst>
              <a:ext uri="{FF2B5EF4-FFF2-40B4-BE49-F238E27FC236}">
                <a16:creationId xmlns:a16="http://schemas.microsoft.com/office/drawing/2014/main" id="{92AAC43B-8C2F-4EE0-A432-F25E862C2ABC}"/>
              </a:ext>
            </a:extLst>
          </p:cNvPr>
          <p:cNvPicPr>
            <a:picLocks noChangeAspect="1"/>
          </p:cNvPicPr>
          <p:nvPr/>
        </p:nvPicPr>
        <p:blipFill>
          <a:blip r:embed="rId2"/>
          <a:stretch>
            <a:fillRect/>
          </a:stretch>
        </p:blipFill>
        <p:spPr>
          <a:xfrm>
            <a:off x="2850403" y="961497"/>
            <a:ext cx="7178354" cy="5818393"/>
          </a:xfrm>
          <a:prstGeom prst="rect">
            <a:avLst/>
          </a:prstGeom>
        </p:spPr>
      </p:pic>
    </p:spTree>
    <p:extLst>
      <p:ext uri="{BB962C8B-B14F-4D97-AF65-F5344CB8AC3E}">
        <p14:creationId xmlns:p14="http://schemas.microsoft.com/office/powerpoint/2010/main" val="392704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929928" y="280219"/>
            <a:ext cx="7040892" cy="545110"/>
          </a:xfrm>
        </p:spPr>
        <p:style>
          <a:lnRef idx="0">
            <a:scrgbClr r="0" g="0" b="0"/>
          </a:lnRef>
          <a:fillRef idx="1002">
            <a:schemeClr val="dk2"/>
          </a:fillRef>
          <a:effectRef idx="0">
            <a:scrgbClr r="0" g="0" b="0"/>
          </a:effectRef>
          <a:fontRef idx="major"/>
        </p:style>
        <p:txBody>
          <a:bodyPr>
            <a:normAutofit fontScale="90000"/>
          </a:bodyPr>
          <a:lstStyle/>
          <a:p>
            <a:r>
              <a:rPr lang="en-US" sz="3200" b="1" dirty="0">
                <a:solidFill>
                  <a:schemeClr val="bg1"/>
                </a:solidFill>
              </a:rPr>
              <a:t>UVM Test bench Components </a:t>
            </a:r>
          </a:p>
        </p:txBody>
      </p:sp>
      <p:sp>
        <p:nvSpPr>
          <p:cNvPr id="7" name="Rectangle 6">
            <a:extLst>
              <a:ext uri="{FF2B5EF4-FFF2-40B4-BE49-F238E27FC236}">
                <a16:creationId xmlns:a16="http://schemas.microsoft.com/office/drawing/2014/main" id="{9AC22B83-BF4E-427C-922D-525E8C11A5E6}"/>
              </a:ext>
            </a:extLst>
          </p:cNvPr>
          <p:cNvSpPr/>
          <p:nvPr/>
        </p:nvSpPr>
        <p:spPr>
          <a:xfrm>
            <a:off x="754627" y="1345372"/>
            <a:ext cx="408345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Sequence item</a:t>
            </a:r>
          </a:p>
        </p:txBody>
      </p:sp>
      <p:sp>
        <p:nvSpPr>
          <p:cNvPr id="5" name="Rectangle 4">
            <a:extLst>
              <a:ext uri="{FF2B5EF4-FFF2-40B4-BE49-F238E27FC236}">
                <a16:creationId xmlns:a16="http://schemas.microsoft.com/office/drawing/2014/main" id="{5B1BE633-827C-4BE9-9D55-D5D35510249B}"/>
              </a:ext>
            </a:extLst>
          </p:cNvPr>
          <p:cNvSpPr/>
          <p:nvPr/>
        </p:nvSpPr>
        <p:spPr>
          <a:xfrm>
            <a:off x="6044381" y="1345372"/>
            <a:ext cx="566583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Sequencer</a:t>
            </a:r>
          </a:p>
        </p:txBody>
      </p:sp>
      <p:sp>
        <p:nvSpPr>
          <p:cNvPr id="6" name="Rectangle 5">
            <a:extLst>
              <a:ext uri="{FF2B5EF4-FFF2-40B4-BE49-F238E27FC236}">
                <a16:creationId xmlns:a16="http://schemas.microsoft.com/office/drawing/2014/main" id="{7C992FD9-3334-49CA-8C73-9E35DDB392E4}"/>
              </a:ext>
            </a:extLst>
          </p:cNvPr>
          <p:cNvSpPr/>
          <p:nvPr/>
        </p:nvSpPr>
        <p:spPr>
          <a:xfrm>
            <a:off x="679041" y="2086641"/>
            <a:ext cx="4159044" cy="15780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actual randomization of all the inputs happens in the Sequence and sent through the sequencer to the driver.</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Constraint for read enable and write enable </a:t>
            </a:r>
          </a:p>
        </p:txBody>
      </p:sp>
      <p:sp>
        <p:nvSpPr>
          <p:cNvPr id="8" name="TextBox 7">
            <a:extLst>
              <a:ext uri="{FF2B5EF4-FFF2-40B4-BE49-F238E27FC236}">
                <a16:creationId xmlns:a16="http://schemas.microsoft.com/office/drawing/2014/main" id="{8258A947-7A94-4259-BC1C-238D151201C4}"/>
              </a:ext>
            </a:extLst>
          </p:cNvPr>
          <p:cNvSpPr txBox="1"/>
          <p:nvPr/>
        </p:nvSpPr>
        <p:spPr>
          <a:xfrm>
            <a:off x="679040" y="4098758"/>
            <a:ext cx="4159045" cy="1600438"/>
          </a:xfrm>
          <a:prstGeom prst="rect">
            <a:avLst/>
          </a:prstGeom>
          <a:solidFill>
            <a:schemeClr val="tx1"/>
          </a:solidFill>
        </p:spPr>
        <p:txBody>
          <a:bodyPr wrap="square">
            <a:spAutoFit/>
          </a:bodyPr>
          <a:lstStyle/>
          <a:p>
            <a:r>
              <a:rPr lang="en-US" sz="1400" b="0" dirty="0">
                <a:solidFill>
                  <a:srgbClr val="6A9955"/>
                </a:solidFill>
                <a:effectLst/>
                <a:latin typeface="Consolas" panose="020B0609020204030204" pitchFamily="49" charset="0"/>
              </a:rPr>
              <a:t>//constraints for equal write and read enable</a:t>
            </a:r>
            <a:endParaRPr lang="en-US" sz="1400" b="0" dirty="0">
              <a:solidFill>
                <a:srgbClr val="CCCCCC"/>
              </a:solidFill>
              <a:effectLst/>
              <a:latin typeface="Consolas" panose="020B0609020204030204" pitchFamily="49" charset="0"/>
            </a:endParaRPr>
          </a:p>
          <a:p>
            <a:r>
              <a:rPr lang="en-US" sz="1400" b="0" dirty="0">
                <a:solidFill>
                  <a:srgbClr val="CCCCCC"/>
                </a:solidFill>
                <a:effectLst/>
                <a:latin typeface="Consolas" panose="020B0609020204030204" pitchFamily="49" charset="0"/>
              </a:rPr>
              <a:t>constraint </a:t>
            </a:r>
            <a:r>
              <a:rPr lang="en-US" sz="1400" b="0" dirty="0" err="1">
                <a:solidFill>
                  <a:srgbClr val="CCCCCC"/>
                </a:solidFill>
                <a:effectLst/>
                <a:latin typeface="Consolas" panose="020B0609020204030204" pitchFamily="49" charset="0"/>
              </a:rPr>
              <a:t>wr</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w_en </a:t>
            </a:r>
            <a:r>
              <a:rPr lang="en-US" sz="1400" b="0" dirty="0" err="1">
                <a:solidFill>
                  <a:srgbClr val="D4D4D4"/>
                </a:solidFill>
                <a:effectLst/>
                <a:latin typeface="Consolas" panose="020B0609020204030204" pitchFamily="49" charset="0"/>
              </a:rPr>
              <a:t>dist</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1</a:t>
            </a:r>
            <a:r>
              <a:rPr lang="en-US" sz="1400" b="0" dirty="0">
                <a:solidFill>
                  <a:srgbClr val="D4D4D4"/>
                </a:solidFill>
                <a:effectLst/>
                <a:latin typeface="Consolas" panose="020B0609020204030204" pitchFamily="49" charset="0"/>
              </a:rPr>
              <a:t>:/</a:t>
            </a:r>
            <a:r>
              <a:rPr lang="en-US" sz="1400" b="0" dirty="0">
                <a:solidFill>
                  <a:srgbClr val="B5CEA8"/>
                </a:solidFill>
                <a:effectLst/>
                <a:latin typeface="Consolas" panose="020B0609020204030204" pitchFamily="49" charset="0"/>
              </a:rPr>
              <a:t>50</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0</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a:t>
            </a:r>
            <a:r>
              <a:rPr lang="en-US" sz="1400" b="0" dirty="0">
                <a:solidFill>
                  <a:srgbClr val="B5CEA8"/>
                </a:solidFill>
                <a:effectLst/>
                <a:latin typeface="Consolas" panose="020B0609020204030204" pitchFamily="49" charset="0"/>
              </a:rPr>
              <a:t>50</a:t>
            </a:r>
            <a:r>
              <a:rPr lang="en-US" sz="1400" b="0" dirty="0">
                <a:solidFill>
                  <a:srgbClr val="CCCCCC"/>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 </a:t>
            </a:r>
          </a:p>
          <a:p>
            <a:r>
              <a:rPr lang="en-US" sz="1400" b="0" dirty="0">
                <a:solidFill>
                  <a:srgbClr val="CCCCCC"/>
                </a:solidFill>
                <a:effectLst/>
                <a:latin typeface="Consolas" panose="020B0609020204030204" pitchFamily="49" charset="0"/>
              </a:rPr>
              <a:t>function void</a:t>
            </a:r>
            <a:r>
              <a:rPr lang="en-US" sz="1400" b="0" dirty="0">
                <a:solidFill>
                  <a:srgbClr val="DCDCAA"/>
                </a:solidFill>
                <a:effectLst/>
                <a:latin typeface="Consolas" panose="020B0609020204030204" pitchFamily="49" charset="0"/>
              </a:rPr>
              <a:t> </a:t>
            </a:r>
            <a:r>
              <a:rPr lang="en-US" sz="1400" b="0" dirty="0" err="1">
                <a:solidFill>
                  <a:srgbClr val="DCDCAA"/>
                </a:solidFill>
                <a:effectLst/>
                <a:latin typeface="Consolas" panose="020B0609020204030204" pitchFamily="49" charset="0"/>
              </a:rPr>
              <a:t>post_randomize</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r_en</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b="0" dirty="0">
                <a:solidFill>
                  <a:srgbClr val="9CDCFE"/>
                </a:solidFill>
                <a:effectLst/>
                <a:latin typeface="Consolas" panose="020B0609020204030204" pitchFamily="49" charset="0"/>
              </a:rPr>
              <a:t>w_en</a:t>
            </a:r>
            <a:r>
              <a:rPr lang="en-US" sz="1400" b="0" dirty="0">
                <a:solidFill>
                  <a:srgbClr val="CCCCCC"/>
                </a:solidFill>
                <a:effectLst/>
                <a:latin typeface="Consolas" panose="020B0609020204030204" pitchFamily="49" charset="0"/>
              </a:rPr>
              <a:t>;</a:t>
            </a:r>
          </a:p>
          <a:p>
            <a:r>
              <a:rPr lang="en-US" sz="1400" b="0" dirty="0" err="1">
                <a:solidFill>
                  <a:srgbClr val="9CDCFE"/>
                </a:solidFill>
                <a:effectLst/>
                <a:latin typeface="Consolas" panose="020B0609020204030204" pitchFamily="49" charset="0"/>
              </a:rPr>
              <a:t>endfunction</a:t>
            </a:r>
            <a:endParaRPr lang="en-US" sz="1400" b="0" dirty="0">
              <a:solidFill>
                <a:srgbClr val="CCCCCC"/>
              </a:solidFill>
              <a:effectLst/>
              <a:latin typeface="Consolas" panose="020B0609020204030204" pitchFamily="49" charset="0"/>
            </a:endParaRPr>
          </a:p>
        </p:txBody>
      </p:sp>
      <p:sp>
        <p:nvSpPr>
          <p:cNvPr id="9" name="Rectangle 8">
            <a:extLst>
              <a:ext uri="{FF2B5EF4-FFF2-40B4-BE49-F238E27FC236}">
                <a16:creationId xmlns:a16="http://schemas.microsoft.com/office/drawing/2014/main" id="{7B4C544C-A232-4272-90E9-B0228DC238F8}"/>
              </a:ext>
            </a:extLst>
          </p:cNvPr>
          <p:cNvSpPr/>
          <p:nvPr/>
        </p:nvSpPr>
        <p:spPr>
          <a:xfrm>
            <a:off x="6096000" y="2086641"/>
            <a:ext cx="5665839" cy="157807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sz="1800" b="0" i="0" u="none" strike="noStrike" baseline="0" dirty="0">
                <a:solidFill>
                  <a:srgbClr val="0D0D0D"/>
                </a:solidFill>
                <a:latin typeface="TimesNewRomanPSMT"/>
              </a:rPr>
              <a:t>The sequencer controls the generation and sequencing of stimulus transactions.</a:t>
            </a:r>
            <a:r>
              <a:rPr lang="en-US" dirty="0">
                <a:ln w="0"/>
                <a:solidFill>
                  <a:schemeClr val="tx1"/>
                </a:solidFill>
                <a:effectLst>
                  <a:outerShdw blurRad="38100" dist="19050" dir="2700000" algn="tl" rotWithShape="0">
                    <a:schemeClr val="dk1">
                      <a:alpha val="40000"/>
                    </a:schemeClr>
                  </a:outerShdw>
                </a:effectLst>
                <a:latin typeface="+mj-lt"/>
              </a:rPr>
              <a:t>.</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Build phase and connect phase are the phases of UVM used in the Sequencer to connect to </a:t>
            </a:r>
            <a:r>
              <a:rPr lang="en-US" dirty="0" err="1">
                <a:ln w="0"/>
                <a:solidFill>
                  <a:schemeClr val="tx1"/>
                </a:solidFill>
                <a:effectLst>
                  <a:outerShdw blurRad="38100" dist="19050" dir="2700000" algn="tl" rotWithShape="0">
                    <a:schemeClr val="dk1">
                      <a:alpha val="40000"/>
                    </a:schemeClr>
                  </a:outerShdw>
                </a:effectLst>
                <a:latin typeface="+mj-lt"/>
              </a:rPr>
              <a:t>thedriver</a:t>
            </a:r>
            <a:r>
              <a:rPr lang="en-US" dirty="0">
                <a:ln w="0"/>
                <a:solidFill>
                  <a:schemeClr val="tx1"/>
                </a:solidFill>
                <a:effectLst>
                  <a:outerShdw blurRad="38100" dist="19050" dir="2700000" algn="tl" rotWithShape="0">
                    <a:schemeClr val="dk1">
                      <a:alpha val="40000"/>
                    </a:schemeClr>
                  </a:outerShdw>
                </a:effectLst>
                <a:latin typeface="+mj-lt"/>
              </a:rPr>
              <a:t> and pass on the item from sequencer to the driver.</a:t>
            </a:r>
          </a:p>
        </p:txBody>
      </p:sp>
      <p:sp>
        <p:nvSpPr>
          <p:cNvPr id="10" name="TextBox 9">
            <a:extLst>
              <a:ext uri="{FF2B5EF4-FFF2-40B4-BE49-F238E27FC236}">
                <a16:creationId xmlns:a16="http://schemas.microsoft.com/office/drawing/2014/main" id="{74F76AD8-6088-45A4-859A-2759A0552C4A}"/>
              </a:ext>
            </a:extLst>
          </p:cNvPr>
          <p:cNvSpPr txBox="1"/>
          <p:nvPr/>
        </p:nvSpPr>
        <p:spPr>
          <a:xfrm>
            <a:off x="6096000" y="3979163"/>
            <a:ext cx="5721759" cy="2462213"/>
          </a:xfrm>
          <a:prstGeom prst="rect">
            <a:avLst/>
          </a:prstGeom>
          <a:solidFill>
            <a:schemeClr val="tx1"/>
          </a:solidFill>
        </p:spPr>
        <p:txBody>
          <a:bodyPr wrap="square">
            <a:spAutoFit/>
          </a:bodyPr>
          <a:lstStyle/>
          <a:p>
            <a:r>
              <a:rPr lang="en-US" sz="1400" b="0" dirty="0">
                <a:solidFill>
                  <a:srgbClr val="6A9955"/>
                </a:solidFill>
                <a:effectLst/>
                <a:latin typeface="Consolas" panose="020B0609020204030204" pitchFamily="49" charset="0"/>
              </a:rPr>
              <a:t>//Build phase</a:t>
            </a:r>
            <a:endParaRPr lang="en-US" sz="1400" b="0" dirty="0">
              <a:solidFill>
                <a:srgbClr val="CCCCCC"/>
              </a:solidFill>
              <a:effectLst/>
              <a:latin typeface="Consolas" panose="020B0609020204030204" pitchFamily="49" charset="0"/>
            </a:endParaRPr>
          </a:p>
          <a:p>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function</a:t>
            </a:r>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void</a:t>
            </a:r>
            <a:r>
              <a:rPr lang="en-US" sz="1400" b="0" dirty="0">
                <a:solidFill>
                  <a:srgbClr val="CCCCCC"/>
                </a:solidFill>
                <a:effectLst/>
                <a:latin typeface="Consolas" panose="020B0609020204030204" pitchFamily="49" charset="0"/>
              </a:rPr>
              <a:t> </a:t>
            </a:r>
            <a:r>
              <a:rPr lang="en-US" sz="1400" b="0" dirty="0" err="1">
                <a:solidFill>
                  <a:srgbClr val="DCDCAA"/>
                </a:solidFill>
                <a:effectLst/>
                <a:latin typeface="Consolas" panose="020B0609020204030204" pitchFamily="49" charset="0"/>
              </a:rPr>
              <a:t>build_phase</a:t>
            </a:r>
            <a:r>
              <a:rPr lang="en-US" sz="1400" b="0" dirty="0">
                <a:solidFill>
                  <a:srgbClr val="CCCCCC"/>
                </a:solidFill>
                <a:effectLst/>
                <a:latin typeface="Consolas" panose="020B0609020204030204" pitchFamily="49" charset="0"/>
              </a:rPr>
              <a:t>(</a:t>
            </a:r>
            <a:r>
              <a:rPr lang="en-US" sz="1400" b="0" dirty="0" err="1">
                <a:solidFill>
                  <a:srgbClr val="569CD6"/>
                </a:solidFill>
                <a:effectLst/>
                <a:latin typeface="Consolas" panose="020B0609020204030204" pitchFamily="49" charset="0"/>
              </a:rPr>
              <a:t>uvm_phase</a:t>
            </a: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phase</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err="1">
                <a:solidFill>
                  <a:srgbClr val="569CD6"/>
                </a:solidFill>
                <a:effectLst/>
                <a:latin typeface="Consolas" panose="020B0609020204030204" pitchFamily="49" charset="0"/>
              </a:rPr>
              <a:t>super</a:t>
            </a:r>
            <a:r>
              <a:rPr lang="en-US" sz="1400" b="0" dirty="0" err="1">
                <a:solidFill>
                  <a:srgbClr val="CCCCCC"/>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build_phase</a:t>
            </a:r>
            <a:r>
              <a:rPr lang="en-US" sz="1400" b="0" dirty="0">
                <a:solidFill>
                  <a:srgbClr val="CCCCCC"/>
                </a:solidFill>
                <a:effectLst/>
                <a:latin typeface="Consolas" panose="020B0609020204030204" pitchFamily="49" charset="0"/>
              </a:rPr>
              <a:t>(</a:t>
            </a:r>
            <a:r>
              <a:rPr lang="en-US" sz="1400" b="0" dirty="0">
                <a:solidFill>
                  <a:srgbClr val="9CDCFE"/>
                </a:solidFill>
                <a:effectLst/>
                <a:latin typeface="Consolas" panose="020B0609020204030204" pitchFamily="49" charset="0"/>
              </a:rPr>
              <a:t>phase</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err="1">
                <a:solidFill>
                  <a:srgbClr val="4FC1FF"/>
                </a:solidFill>
                <a:effectLst/>
                <a:latin typeface="Consolas" panose="020B0609020204030204" pitchFamily="49" charset="0"/>
              </a:rPr>
              <a:t>uvm_info</a:t>
            </a:r>
            <a:r>
              <a:rPr lang="en-US" sz="1400" b="0" dirty="0">
                <a:solidFill>
                  <a:srgbClr val="CCCCCC"/>
                </a:solidFill>
                <a:effectLst/>
                <a:latin typeface="Consolas" panose="020B0609020204030204" pitchFamily="49" charset="0"/>
              </a:rPr>
              <a:t>(</a:t>
            </a:r>
            <a:r>
              <a:rPr lang="en-US" sz="1400" b="0" dirty="0">
                <a:solidFill>
                  <a:srgbClr val="CE9178"/>
                </a:solidFill>
                <a:effectLst/>
                <a:latin typeface="Consolas" panose="020B0609020204030204" pitchFamily="49" charset="0"/>
              </a:rPr>
              <a:t>"SEQUENCER"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"Build </a:t>
            </a:r>
            <a:r>
              <a:rPr lang="en-US" sz="1400" b="0" dirty="0" err="1">
                <a:solidFill>
                  <a:srgbClr val="CE9178"/>
                </a:solidFill>
                <a:effectLst/>
                <a:latin typeface="Consolas" panose="020B0609020204030204" pitchFamily="49" charset="0"/>
              </a:rPr>
              <a:t>Phase!"</a:t>
            </a:r>
            <a:r>
              <a:rPr lang="en-US" sz="1400" b="0" dirty="0" err="1">
                <a:solidFill>
                  <a:srgbClr val="CCCCCC"/>
                </a:solidFill>
                <a:effectLst/>
                <a:latin typeface="Consolas" panose="020B0609020204030204" pitchFamily="49" charset="0"/>
              </a:rPr>
              <a:t>,UVM_LOW</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err="1">
                <a:solidFill>
                  <a:srgbClr val="C586C0"/>
                </a:solidFill>
                <a:effectLst/>
                <a:latin typeface="Consolas" panose="020B0609020204030204" pitchFamily="49" charset="0"/>
              </a:rPr>
              <a:t>endfunction</a:t>
            </a:r>
            <a:endParaRPr lang="en-US" sz="1400" b="0" dirty="0">
              <a:solidFill>
                <a:srgbClr val="CCCCCC"/>
              </a:solidFill>
              <a:effectLst/>
              <a:latin typeface="Consolas" panose="020B0609020204030204" pitchFamily="49" charset="0"/>
            </a:endParaRPr>
          </a:p>
          <a:p>
            <a:r>
              <a:rPr lang="en-US" sz="1400" b="0" dirty="0">
                <a:solidFill>
                  <a:srgbClr val="CCCCCC"/>
                </a:solidFill>
                <a:effectLst/>
                <a:latin typeface="Consolas" panose="020B0609020204030204" pitchFamily="49" charset="0"/>
              </a:rPr>
              <a:t>    </a:t>
            </a:r>
          </a:p>
          <a:p>
            <a:r>
              <a:rPr lang="en-US" sz="1400" b="0" dirty="0">
                <a:solidFill>
                  <a:srgbClr val="CCCCCC"/>
                </a:solidFill>
                <a:effectLst/>
                <a:latin typeface="Consolas" panose="020B0609020204030204" pitchFamily="49" charset="0"/>
              </a:rPr>
              <a:t>    </a:t>
            </a:r>
            <a:r>
              <a:rPr lang="en-US" sz="1400" b="0" dirty="0">
                <a:solidFill>
                  <a:srgbClr val="6A9955"/>
                </a:solidFill>
                <a:effectLst/>
                <a:latin typeface="Consolas" panose="020B0609020204030204" pitchFamily="49" charset="0"/>
              </a:rPr>
              <a:t>//connect phase</a:t>
            </a:r>
            <a:endParaRPr lang="en-US" sz="1400" b="0" dirty="0">
              <a:solidFill>
                <a:srgbClr val="CCCCCC"/>
              </a:solidFill>
              <a:effectLst/>
              <a:latin typeface="Consolas" panose="020B0609020204030204" pitchFamily="49" charset="0"/>
            </a:endParaRPr>
          </a:p>
          <a:p>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function</a:t>
            </a:r>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void</a:t>
            </a:r>
            <a:r>
              <a:rPr lang="en-US" sz="1400" b="0" dirty="0">
                <a:solidFill>
                  <a:srgbClr val="CCCCCC"/>
                </a:solidFill>
                <a:effectLst/>
                <a:latin typeface="Consolas" panose="020B0609020204030204" pitchFamily="49" charset="0"/>
              </a:rPr>
              <a:t> </a:t>
            </a:r>
            <a:r>
              <a:rPr lang="en-US" sz="1400" b="0" dirty="0" err="1">
                <a:solidFill>
                  <a:srgbClr val="DCDCAA"/>
                </a:solidFill>
                <a:effectLst/>
                <a:latin typeface="Consolas" panose="020B0609020204030204" pitchFamily="49" charset="0"/>
              </a:rPr>
              <a:t>connect_phase</a:t>
            </a:r>
            <a:r>
              <a:rPr lang="en-US" sz="1400" b="0" dirty="0">
                <a:solidFill>
                  <a:srgbClr val="CCCCCC"/>
                </a:solidFill>
                <a:effectLst/>
                <a:latin typeface="Consolas" panose="020B0609020204030204" pitchFamily="49" charset="0"/>
              </a:rPr>
              <a:t>(</a:t>
            </a:r>
            <a:r>
              <a:rPr lang="en-US" sz="1400" b="0" dirty="0" err="1">
                <a:solidFill>
                  <a:srgbClr val="569CD6"/>
                </a:solidFill>
                <a:effectLst/>
                <a:latin typeface="Consolas" panose="020B0609020204030204" pitchFamily="49" charset="0"/>
              </a:rPr>
              <a:t>uvm_phase</a:t>
            </a: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phase</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err="1">
                <a:solidFill>
                  <a:srgbClr val="569CD6"/>
                </a:solidFill>
                <a:effectLst/>
                <a:latin typeface="Consolas" panose="020B0609020204030204" pitchFamily="49" charset="0"/>
              </a:rPr>
              <a:t>super</a:t>
            </a:r>
            <a:r>
              <a:rPr lang="en-US" sz="1400" b="0" dirty="0" err="1">
                <a:solidFill>
                  <a:srgbClr val="CCCCCC"/>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connect_phase</a:t>
            </a:r>
            <a:r>
              <a:rPr lang="en-US" sz="1400" b="0" dirty="0">
                <a:solidFill>
                  <a:srgbClr val="CCCCCC"/>
                </a:solidFill>
                <a:effectLst/>
                <a:latin typeface="Consolas" panose="020B0609020204030204" pitchFamily="49" charset="0"/>
              </a:rPr>
              <a:t>(</a:t>
            </a:r>
            <a:r>
              <a:rPr lang="en-US" sz="1400" b="0" dirty="0">
                <a:solidFill>
                  <a:srgbClr val="9CDCFE"/>
                </a:solidFill>
                <a:effectLst/>
                <a:latin typeface="Consolas" panose="020B0609020204030204" pitchFamily="49" charset="0"/>
              </a:rPr>
              <a:t>phase</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err="1">
                <a:solidFill>
                  <a:srgbClr val="4FC1FF"/>
                </a:solidFill>
                <a:effectLst/>
                <a:latin typeface="Consolas" panose="020B0609020204030204" pitchFamily="49" charset="0"/>
              </a:rPr>
              <a:t>uvm_info</a:t>
            </a:r>
            <a:r>
              <a:rPr lang="en-US" sz="1400" b="0" dirty="0">
                <a:solidFill>
                  <a:srgbClr val="CCCCCC"/>
                </a:solidFill>
                <a:effectLst/>
                <a:latin typeface="Consolas" panose="020B0609020204030204" pitchFamily="49" charset="0"/>
              </a:rPr>
              <a:t>(</a:t>
            </a:r>
            <a:r>
              <a:rPr lang="en-US" sz="1400" b="0" dirty="0">
                <a:solidFill>
                  <a:srgbClr val="CE9178"/>
                </a:solidFill>
                <a:effectLst/>
                <a:latin typeface="Consolas" panose="020B0609020204030204" pitchFamily="49" charset="0"/>
              </a:rPr>
              <a:t>"SEQUENCER"</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"Connect </a:t>
            </a:r>
            <a:r>
              <a:rPr lang="en-US" sz="1400" b="0" dirty="0" err="1">
                <a:solidFill>
                  <a:srgbClr val="CE9178"/>
                </a:solidFill>
                <a:effectLst/>
                <a:latin typeface="Consolas" panose="020B0609020204030204" pitchFamily="49" charset="0"/>
              </a:rPr>
              <a:t>Phase!"</a:t>
            </a:r>
            <a:r>
              <a:rPr lang="en-US" sz="1400" b="0" dirty="0" err="1">
                <a:solidFill>
                  <a:srgbClr val="CCCCCC"/>
                </a:solidFill>
                <a:effectLst/>
                <a:latin typeface="Consolas" panose="020B0609020204030204" pitchFamily="49" charset="0"/>
              </a:rPr>
              <a:t>,UVM_LOW</a:t>
            </a:r>
            <a:r>
              <a:rPr lang="en-US" sz="1400" b="0" dirty="0">
                <a:solidFill>
                  <a:srgbClr val="CCCCCC"/>
                </a:solidFill>
                <a:effectLst/>
                <a:latin typeface="Consolas" panose="020B0609020204030204" pitchFamily="49" charset="0"/>
              </a:rPr>
              <a:t>)</a:t>
            </a:r>
          </a:p>
          <a:p>
            <a:r>
              <a:rPr lang="en-US" sz="1400" b="0" dirty="0">
                <a:solidFill>
                  <a:srgbClr val="CCCCCC"/>
                </a:solidFill>
                <a:effectLst/>
                <a:latin typeface="Consolas" panose="020B0609020204030204" pitchFamily="49" charset="0"/>
              </a:rPr>
              <a:t>    </a:t>
            </a:r>
            <a:r>
              <a:rPr lang="en-US" sz="1400" b="0" dirty="0" err="1">
                <a:solidFill>
                  <a:srgbClr val="C586C0"/>
                </a:solidFill>
                <a:effectLst/>
                <a:latin typeface="Consolas" panose="020B0609020204030204" pitchFamily="49" charset="0"/>
              </a:rPr>
              <a:t>endfunction</a:t>
            </a:r>
            <a:endParaRPr lang="en-US" sz="1400" b="0" dirty="0">
              <a:solidFill>
                <a:srgbClr val="CCCCCC"/>
              </a:solidFill>
              <a:effectLst/>
              <a:latin typeface="Consolas" panose="020B0609020204030204" pitchFamily="49" charset="0"/>
            </a:endParaRPr>
          </a:p>
        </p:txBody>
      </p:sp>
      <p:cxnSp>
        <p:nvCxnSpPr>
          <p:cNvPr id="11" name="Straight Connector 10">
            <a:extLst>
              <a:ext uri="{FF2B5EF4-FFF2-40B4-BE49-F238E27FC236}">
                <a16:creationId xmlns:a16="http://schemas.microsoft.com/office/drawing/2014/main" id="{A39A81DF-81EA-43BB-90BE-CC04FD449DCF}"/>
              </a:ext>
            </a:extLst>
          </p:cNvPr>
          <p:cNvCxnSpPr>
            <a:cxnSpLocks/>
          </p:cNvCxnSpPr>
          <p:nvPr/>
        </p:nvCxnSpPr>
        <p:spPr>
          <a:xfrm>
            <a:off x="5589638" y="1153643"/>
            <a:ext cx="0" cy="5534750"/>
          </a:xfrm>
          <a:prstGeom prst="line">
            <a:avLst/>
          </a:prstGeom>
          <a:ln w="1905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040021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C22B83-BF4E-427C-922D-525E8C11A5E6}"/>
              </a:ext>
            </a:extLst>
          </p:cNvPr>
          <p:cNvSpPr/>
          <p:nvPr/>
        </p:nvSpPr>
        <p:spPr>
          <a:xfrm>
            <a:off x="1283382" y="4111759"/>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Write Sequence </a:t>
            </a:r>
          </a:p>
        </p:txBody>
      </p:sp>
      <p:sp>
        <p:nvSpPr>
          <p:cNvPr id="5" name="Rectangle 4">
            <a:extLst>
              <a:ext uri="{FF2B5EF4-FFF2-40B4-BE49-F238E27FC236}">
                <a16:creationId xmlns:a16="http://schemas.microsoft.com/office/drawing/2014/main" id="{5B1BE633-827C-4BE9-9D55-D5D35510249B}"/>
              </a:ext>
            </a:extLst>
          </p:cNvPr>
          <p:cNvSpPr/>
          <p:nvPr/>
        </p:nvSpPr>
        <p:spPr>
          <a:xfrm>
            <a:off x="7499556" y="4105677"/>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Read Sequence</a:t>
            </a:r>
          </a:p>
        </p:txBody>
      </p:sp>
      <p:sp>
        <p:nvSpPr>
          <p:cNvPr id="8" name="TextBox 7">
            <a:extLst>
              <a:ext uri="{FF2B5EF4-FFF2-40B4-BE49-F238E27FC236}">
                <a16:creationId xmlns:a16="http://schemas.microsoft.com/office/drawing/2014/main" id="{800D9F94-CCB7-46EC-B055-4A7C78CE138A}"/>
              </a:ext>
            </a:extLst>
          </p:cNvPr>
          <p:cNvSpPr txBox="1"/>
          <p:nvPr/>
        </p:nvSpPr>
        <p:spPr>
          <a:xfrm>
            <a:off x="2698957" y="482232"/>
            <a:ext cx="6094770" cy="3693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l"/>
            <a:r>
              <a:rPr lang="en-US" sz="1800" b="0" i="0" u="none" strike="noStrike" baseline="0" dirty="0">
                <a:solidFill>
                  <a:srgbClr val="0D0D0D"/>
                </a:solidFill>
                <a:latin typeface="TimesNewRomanPSMT"/>
              </a:rPr>
              <a:t>Sequences control the generation of stimulus to drive the DUT.</a:t>
            </a:r>
            <a:endParaRPr lang="en-US" dirty="0"/>
          </a:p>
        </p:txBody>
      </p:sp>
      <p:sp>
        <p:nvSpPr>
          <p:cNvPr id="9" name="TextBox 8">
            <a:extLst>
              <a:ext uri="{FF2B5EF4-FFF2-40B4-BE49-F238E27FC236}">
                <a16:creationId xmlns:a16="http://schemas.microsoft.com/office/drawing/2014/main" id="{C99B7A7D-5402-4FCD-85C9-CFAB62CA05B4}"/>
              </a:ext>
            </a:extLst>
          </p:cNvPr>
          <p:cNvSpPr txBox="1"/>
          <p:nvPr/>
        </p:nvSpPr>
        <p:spPr>
          <a:xfrm>
            <a:off x="377086" y="4496051"/>
            <a:ext cx="5369256" cy="1938992"/>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for</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i</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i</a:t>
            </a:r>
            <a:r>
              <a:rPr lang="en-US" sz="1200" b="0" dirty="0">
                <a:solidFill>
                  <a:srgbClr val="D4D4D4"/>
                </a:solidFill>
                <a:effectLst/>
                <a:latin typeface="Consolas" panose="020B0609020204030204" pitchFamily="49" charset="0"/>
              </a:rPr>
              <a:t>&lt;</a:t>
            </a:r>
            <a:r>
              <a:rPr lang="en-US" sz="1200" b="0" dirty="0" err="1">
                <a:solidFill>
                  <a:srgbClr val="9CDCFE"/>
                </a:solidFill>
                <a:effectLst/>
                <a:latin typeface="Consolas" panose="020B0609020204030204" pitchFamily="49" charset="0"/>
              </a:rPr>
              <a:t>num</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i</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p>
          <a:p>
            <a:r>
              <a:rPr lang="en-US" sz="1200" dirty="0">
                <a:solidFill>
                  <a:srgbClr val="C586C0"/>
                </a:solidFill>
                <a:latin typeface="Consolas" panose="020B0609020204030204" pitchFamily="49" charset="0"/>
              </a:rPr>
              <a:t>b</a:t>
            </a:r>
            <a:r>
              <a:rPr lang="en-US" sz="1200" b="0" dirty="0">
                <a:solidFill>
                  <a:srgbClr val="C586C0"/>
                </a:solidFill>
                <a:effectLst/>
                <a:latin typeface="Consolas" panose="020B0609020204030204" pitchFamily="49" charset="0"/>
              </a:rPr>
              <a:t>egin</a:t>
            </a:r>
            <a:endParaRPr lang="en-US" sz="1200" dirty="0">
              <a:solidFill>
                <a:srgbClr val="CCCCCC"/>
              </a:solidFill>
              <a:latin typeface="Consolas" panose="020B0609020204030204" pitchFamily="49" charset="0"/>
            </a:endParaRPr>
          </a:p>
          <a:p>
            <a:r>
              <a:rPr lang="en-US" sz="1200" dirty="0">
                <a:solidFill>
                  <a:srgbClr val="9CDCFE"/>
                </a:solidFill>
                <a:latin typeface="Consolas" panose="020B0609020204030204" pitchFamily="49" charset="0"/>
              </a:rPr>
              <a:t>   </a:t>
            </a:r>
            <a:r>
              <a:rPr lang="en-US" sz="1200" b="0" dirty="0" err="1">
                <a:solidFill>
                  <a:srgbClr val="9CDCFE"/>
                </a:solidFill>
                <a:effectLst/>
                <a:latin typeface="Consolas" panose="020B0609020204030204" pitchFamily="49" charset="0"/>
              </a:rPr>
              <a:t>fifo_pkt_wr</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fifo_seq_item</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256</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type_id</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p>
          <a:p>
            <a:r>
              <a:rPr lang="en-US" sz="1200" dirty="0">
                <a:solidFill>
                  <a:srgbClr val="DCDCAA"/>
                </a:solidFill>
                <a:latin typeface="Consolas" panose="020B0609020204030204" pitchFamily="49" charset="0"/>
              </a:rPr>
              <a:t>   </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fifo_pkt_wr</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a:p>
            <a:r>
              <a:rPr lang="en-US" sz="1200" b="0" dirty="0">
                <a:solidFill>
                  <a:srgbClr val="DCDCAA"/>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start_item</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fifo_pkt_wr</a:t>
            </a:r>
            <a:r>
              <a:rPr lang="en-US" sz="1200" b="0" dirty="0">
                <a:solidFill>
                  <a:srgbClr val="CCCCCC"/>
                </a:solidFill>
                <a:effectLst/>
                <a:latin typeface="Consolas" panose="020B0609020204030204" pitchFamily="49" charset="0"/>
              </a:rPr>
              <a:t>);</a:t>
            </a:r>
          </a:p>
          <a:p>
            <a:r>
              <a:rPr lang="en-US" sz="1200" b="0" dirty="0">
                <a:solidFill>
                  <a:srgbClr val="6A9955"/>
                </a:solidFill>
                <a:effectLst/>
                <a:latin typeface="Consolas" panose="020B0609020204030204" pitchFamily="49" charset="0"/>
              </a:rPr>
              <a:t>   // randomizing with write_enable-1 and read enable-0</a:t>
            </a:r>
            <a:endParaRPr lang="en-US" sz="1200" b="0" dirty="0">
              <a:solidFill>
                <a:srgbClr val="CCCCCC"/>
              </a:solidFill>
              <a:effectLst/>
              <a:latin typeface="Consolas" panose="020B0609020204030204" pitchFamily="49" charset="0"/>
            </a:endParaRPr>
          </a:p>
          <a:p>
            <a:r>
              <a:rPr lang="en-US" sz="1200" b="0" dirty="0">
                <a:solidFill>
                  <a:srgbClr val="DCDCAA"/>
                </a:solidFill>
                <a:effectLst/>
                <a:latin typeface="Consolas" panose="020B0609020204030204" pitchFamily="49" charset="0"/>
              </a:rPr>
              <a:t>   assert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fifo_pkt_wr</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randomize</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with</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w_en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r_en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DCDCAA"/>
                </a:solidFill>
                <a:effectLst/>
                <a:latin typeface="Consolas" panose="020B0609020204030204" pitchFamily="49" charset="0"/>
              </a:rPr>
              <a:t> </a:t>
            </a:r>
          </a:p>
          <a:p>
            <a:r>
              <a:rPr lang="en-US" sz="1200" b="0" dirty="0">
                <a:solidFill>
                  <a:srgbClr val="DCDCAA"/>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finish_item</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fifo_pkt_wr</a:t>
            </a:r>
            <a:r>
              <a:rPr lang="en-US" sz="1200" b="0" dirty="0">
                <a:solidFill>
                  <a:srgbClr val="CCCCCC"/>
                </a:solidFill>
                <a:effectLst/>
                <a:latin typeface="Consolas" panose="020B0609020204030204" pitchFamily="49" charset="0"/>
              </a:rPr>
              <a:t>);</a:t>
            </a:r>
          </a:p>
          <a:p>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041283EF-6C78-4368-9099-C808A268469F}"/>
              </a:ext>
            </a:extLst>
          </p:cNvPr>
          <p:cNvSpPr txBox="1"/>
          <p:nvPr/>
        </p:nvSpPr>
        <p:spPr>
          <a:xfrm>
            <a:off x="6403487" y="4489135"/>
            <a:ext cx="5322937" cy="1938992"/>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for</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i</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i</a:t>
            </a:r>
            <a:r>
              <a:rPr lang="en-US" sz="1200" b="0" dirty="0">
                <a:solidFill>
                  <a:srgbClr val="D4D4D4"/>
                </a:solidFill>
                <a:effectLst/>
                <a:latin typeface="Consolas" panose="020B0609020204030204" pitchFamily="49" charset="0"/>
              </a:rPr>
              <a:t>&lt;</a:t>
            </a:r>
            <a:r>
              <a:rPr lang="en-US" sz="1200" b="0" dirty="0" err="1">
                <a:solidFill>
                  <a:srgbClr val="9CDCFE"/>
                </a:solidFill>
                <a:effectLst/>
                <a:latin typeface="Consolas" panose="020B0609020204030204" pitchFamily="49" charset="0"/>
              </a:rPr>
              <a:t>num</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i</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p>
          <a:p>
            <a:r>
              <a:rPr lang="en-US" sz="1200" dirty="0">
                <a:solidFill>
                  <a:srgbClr val="C586C0"/>
                </a:solidFill>
                <a:latin typeface="Consolas" panose="020B0609020204030204" pitchFamily="49" charset="0"/>
              </a:rPr>
              <a:t>b</a:t>
            </a:r>
            <a:r>
              <a:rPr lang="en-US" sz="1200" b="0" dirty="0">
                <a:solidFill>
                  <a:srgbClr val="C586C0"/>
                </a:solidFill>
                <a:effectLst/>
                <a:latin typeface="Consolas" panose="020B0609020204030204" pitchFamily="49" charset="0"/>
              </a:rPr>
              <a:t>egin</a:t>
            </a:r>
            <a:endParaRPr lang="en-US" sz="1200" dirty="0">
              <a:solidFill>
                <a:srgbClr val="CCCCCC"/>
              </a:solidFill>
              <a:latin typeface="Consolas" panose="020B0609020204030204" pitchFamily="49" charset="0"/>
            </a:endParaRPr>
          </a:p>
          <a:p>
            <a:r>
              <a:rPr lang="en-US" sz="1200" b="0" dirty="0">
                <a:solidFill>
                  <a:srgbClr val="9CDCFE"/>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fifo_rd_pkt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fifo_seq_item</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256</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p>
          <a:p>
            <a:r>
              <a:rPr lang="en-US" sz="1200" b="0" dirty="0">
                <a:solidFill>
                  <a:srgbClr val="CCCCCC"/>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fifo_rd_pkt</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a:p>
            <a:r>
              <a:rPr lang="en-US" sz="1200" b="0" dirty="0">
                <a:solidFill>
                  <a:srgbClr val="DCDCAA"/>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start_item</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fifo_rd_pkt</a:t>
            </a:r>
            <a:r>
              <a:rPr lang="en-US" sz="1200" b="0" dirty="0">
                <a:solidFill>
                  <a:srgbClr val="CCCCCC"/>
                </a:solidFill>
                <a:effectLst/>
                <a:latin typeface="Consolas" panose="020B0609020204030204" pitchFamily="49" charset="0"/>
              </a:rPr>
              <a:t>);</a:t>
            </a:r>
          </a:p>
          <a:p>
            <a:r>
              <a:rPr lang="en-US" sz="1200" b="0" dirty="0">
                <a:solidFill>
                  <a:srgbClr val="6A9955"/>
                </a:solidFill>
                <a:effectLst/>
                <a:latin typeface="Consolas" panose="020B0609020204030204" pitchFamily="49" charset="0"/>
              </a:rPr>
              <a:t> //randomizing with write_enable-0 and read enable-1</a:t>
            </a:r>
            <a:endParaRPr lang="en-US" sz="1200" b="0" dirty="0">
              <a:solidFill>
                <a:srgbClr val="CCCCCC"/>
              </a:solidFill>
              <a:effectLst/>
              <a:latin typeface="Consolas" panose="020B0609020204030204" pitchFamily="49" charset="0"/>
            </a:endParaRPr>
          </a:p>
          <a:p>
            <a:r>
              <a:rPr lang="en-US" sz="1200" b="0" dirty="0">
                <a:solidFill>
                  <a:srgbClr val="DCDCAA"/>
                </a:solidFill>
                <a:effectLst/>
                <a:latin typeface="Consolas" panose="020B0609020204030204" pitchFamily="49" charset="0"/>
              </a:rPr>
              <a:t>  assert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fifo_rd_pkt</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randomize</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with</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w_en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r_en</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finish_item</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fifo_rd_pkt</a:t>
            </a:r>
            <a:r>
              <a:rPr lang="en-US" sz="1200" b="0" dirty="0">
                <a:solidFill>
                  <a:srgbClr val="CCCCCC"/>
                </a:solidFill>
                <a:effectLst/>
                <a:latin typeface="Consolas" panose="020B0609020204030204" pitchFamily="49" charset="0"/>
              </a:rPr>
              <a:t>);</a:t>
            </a:r>
          </a:p>
          <a:p>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p:txBody>
      </p:sp>
      <p:cxnSp>
        <p:nvCxnSpPr>
          <p:cNvPr id="11" name="Straight Connector 10">
            <a:extLst>
              <a:ext uri="{FF2B5EF4-FFF2-40B4-BE49-F238E27FC236}">
                <a16:creationId xmlns:a16="http://schemas.microsoft.com/office/drawing/2014/main" id="{8C69FD06-1EA7-4533-B4BF-F345FD8A4D71}"/>
              </a:ext>
            </a:extLst>
          </p:cNvPr>
          <p:cNvCxnSpPr>
            <a:cxnSpLocks/>
          </p:cNvCxnSpPr>
          <p:nvPr/>
        </p:nvCxnSpPr>
        <p:spPr>
          <a:xfrm>
            <a:off x="5938379" y="3694471"/>
            <a:ext cx="26730" cy="2979174"/>
          </a:xfrm>
          <a:prstGeom prst="line">
            <a:avLst/>
          </a:prstGeom>
          <a:ln w="19050"/>
        </p:spPr>
        <p:style>
          <a:lnRef idx="1">
            <a:schemeClr val="accent3"/>
          </a:lnRef>
          <a:fillRef idx="0">
            <a:schemeClr val="accent3"/>
          </a:fillRef>
          <a:effectRef idx="0">
            <a:schemeClr val="accent3"/>
          </a:effectRef>
          <a:fontRef idx="minor">
            <a:schemeClr val="tx1"/>
          </a:fontRef>
        </p:style>
      </p:cxnSp>
      <p:cxnSp>
        <p:nvCxnSpPr>
          <p:cNvPr id="17" name="Straight Connector 16">
            <a:extLst>
              <a:ext uri="{FF2B5EF4-FFF2-40B4-BE49-F238E27FC236}">
                <a16:creationId xmlns:a16="http://schemas.microsoft.com/office/drawing/2014/main" id="{B20751F9-95D4-4ED0-87A1-E508A5F73B2B}"/>
              </a:ext>
            </a:extLst>
          </p:cNvPr>
          <p:cNvCxnSpPr/>
          <p:nvPr/>
        </p:nvCxnSpPr>
        <p:spPr>
          <a:xfrm>
            <a:off x="293434" y="3694471"/>
            <a:ext cx="11289890" cy="0"/>
          </a:xfrm>
          <a:prstGeom prst="line">
            <a:avLst/>
          </a:prstGeom>
          <a:ln w="19050"/>
        </p:spPr>
        <p:style>
          <a:lnRef idx="1">
            <a:schemeClr val="accent3"/>
          </a:lnRef>
          <a:fillRef idx="0">
            <a:schemeClr val="accent3"/>
          </a:fillRef>
          <a:effectRef idx="0">
            <a:schemeClr val="accent3"/>
          </a:effectRef>
          <a:fontRef idx="minor">
            <a:schemeClr val="tx1"/>
          </a:fontRef>
        </p:style>
      </p:cxnSp>
      <p:sp>
        <p:nvSpPr>
          <p:cNvPr id="18" name="TextBox 17">
            <a:extLst>
              <a:ext uri="{FF2B5EF4-FFF2-40B4-BE49-F238E27FC236}">
                <a16:creationId xmlns:a16="http://schemas.microsoft.com/office/drawing/2014/main" id="{641656C4-1A24-4AC6-9270-CC3D061682C9}"/>
              </a:ext>
            </a:extLst>
          </p:cNvPr>
          <p:cNvSpPr txBox="1"/>
          <p:nvPr/>
        </p:nvSpPr>
        <p:spPr>
          <a:xfrm>
            <a:off x="2312731" y="1594198"/>
            <a:ext cx="7841533" cy="1938992"/>
          </a:xfrm>
          <a:prstGeom prst="rect">
            <a:avLst/>
          </a:prstGeom>
          <a:solidFill>
            <a:schemeClr val="tx1"/>
          </a:solidFill>
        </p:spPr>
        <p:txBody>
          <a:bodyPr wrap="square">
            <a:spAutoFit/>
          </a:bodyPr>
          <a:lstStyle/>
          <a:p>
            <a:r>
              <a:rPr lang="en-US" sz="1200" b="0" dirty="0">
                <a:solidFill>
                  <a:srgbClr val="569CD6"/>
                </a:solidFill>
                <a:effectLst/>
                <a:latin typeface="Consolas" panose="020B0609020204030204" pitchFamily="49" charset="0"/>
              </a:rPr>
              <a:t>task</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body</a:t>
            </a:r>
            <a:r>
              <a:rPr lang="en-US" sz="1200" b="0" dirty="0">
                <a:solidFill>
                  <a:srgbClr val="CCCCCC"/>
                </a:solidFill>
                <a:effectLst/>
                <a:latin typeface="Consolas" panose="020B0609020204030204" pitchFamily="49" charset="0"/>
              </a:rPr>
              <a:t>();</a:t>
            </a:r>
          </a:p>
          <a:p>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fifo_pkt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fifo_seq_item</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256</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type_id</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 (</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fifo_pkt</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b="0" dirty="0">
                <a:solidFill>
                  <a:srgbClr val="DCDCAA"/>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start_item</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fifo_pkt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no_rst</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constraint_mode</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0</a:t>
            </a:r>
            <a:r>
              <a:rPr lang="en-US" sz="1200" b="0" dirty="0">
                <a:solidFill>
                  <a:srgbClr val="CCCCCC"/>
                </a:solidFill>
                <a:effectLst/>
                <a:latin typeface="Consolas" panose="020B0609020204030204" pitchFamily="49" charset="0"/>
              </a:rPr>
              <a:t>);</a:t>
            </a:r>
          </a:p>
          <a:p>
            <a:r>
              <a:rPr lang="en-US" sz="1200" b="0" dirty="0">
                <a:solidFill>
                  <a:srgbClr val="6A9955"/>
                </a:solidFill>
                <a:effectLst/>
                <a:latin typeface="Consolas" panose="020B0609020204030204" pitchFamily="49" charset="0"/>
              </a:rPr>
              <a:t>    // randomizing with write_</a:t>
            </a:r>
            <a:r>
              <a:rPr lang="en-US" sz="1200" dirty="0">
                <a:solidFill>
                  <a:srgbClr val="6A9955"/>
                </a:solidFill>
                <a:latin typeface="Consolas" panose="020B0609020204030204" pitchFamily="49" charset="0"/>
              </a:rPr>
              <a:t>reset</a:t>
            </a:r>
            <a:r>
              <a:rPr lang="en-US" sz="1200" b="0" dirty="0">
                <a:solidFill>
                  <a:srgbClr val="6A9955"/>
                </a:solidFill>
                <a:effectLst/>
                <a:latin typeface="Consolas" panose="020B0609020204030204" pitchFamily="49" charset="0"/>
              </a:rPr>
              <a:t>-0 and read reset-0</a:t>
            </a:r>
            <a:endParaRPr lang="en-US" sz="1200" b="0" dirty="0">
              <a:solidFill>
                <a:srgbClr val="CCCCCC"/>
              </a:solidFill>
              <a:effectLst/>
              <a:latin typeface="Consolas" panose="020B0609020204030204" pitchFamily="49" charset="0"/>
            </a:endParaRPr>
          </a:p>
          <a:p>
            <a:r>
              <a:rPr lang="en-US" sz="1200" b="0" dirty="0">
                <a:solidFill>
                  <a:srgbClr val="DCDCAA"/>
                </a:solidFill>
                <a:effectLst/>
                <a:latin typeface="Consolas" panose="020B0609020204030204" pitchFamily="49" charset="0"/>
              </a:rPr>
              <a:t>    assert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fifo_pkt</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randomize</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with {</a:t>
            </a:r>
            <a:r>
              <a:rPr lang="en-US" sz="1200" b="0" dirty="0" err="1">
                <a:solidFill>
                  <a:srgbClr val="D4D4D4"/>
                </a:solidFill>
                <a:effectLst/>
                <a:latin typeface="Consolas" panose="020B0609020204030204" pitchFamily="49" charset="0"/>
              </a:rPr>
              <a:t>fifo_pkt.w_rst_n</a:t>
            </a:r>
            <a:r>
              <a:rPr lang="en-US" sz="1200" b="0" dirty="0">
                <a:solidFill>
                  <a:srgbClr val="D4D4D4"/>
                </a:solidFill>
                <a:effectLst/>
                <a:latin typeface="Consolas" panose="020B0609020204030204" pitchFamily="49" charset="0"/>
              </a:rPr>
              <a:t>==0;fifo_pkt.r_rst_n==0;});</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finish_item</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fifo_pkt</a:t>
            </a:r>
            <a:r>
              <a:rPr lang="en-US" sz="1200" b="0" dirty="0">
                <a:solidFill>
                  <a:srgbClr val="CCCCCC"/>
                </a:solidFill>
                <a:effectLst/>
                <a:latin typeface="Consolas" panose="020B0609020204030204" pitchFamily="49" charset="0"/>
              </a:rPr>
              <a:t>);</a:t>
            </a:r>
          </a:p>
          <a:p>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a:p>
            <a:r>
              <a:rPr lang="en-US" sz="1200" b="0" dirty="0" err="1">
                <a:solidFill>
                  <a:srgbClr val="C586C0"/>
                </a:solidFill>
                <a:effectLst/>
                <a:latin typeface="Consolas" panose="020B0609020204030204" pitchFamily="49" charset="0"/>
              </a:rPr>
              <a:t>endtask</a:t>
            </a:r>
            <a:endParaRPr lang="en-US" sz="1200" b="0" dirty="0">
              <a:solidFill>
                <a:srgbClr val="CCCCCC"/>
              </a:solidFill>
              <a:effectLst/>
              <a:latin typeface="Consolas" panose="020B0609020204030204" pitchFamily="49" charset="0"/>
            </a:endParaRPr>
          </a:p>
        </p:txBody>
      </p:sp>
      <p:sp>
        <p:nvSpPr>
          <p:cNvPr id="19" name="Rectangle 18">
            <a:extLst>
              <a:ext uri="{FF2B5EF4-FFF2-40B4-BE49-F238E27FC236}">
                <a16:creationId xmlns:a16="http://schemas.microsoft.com/office/drawing/2014/main" id="{563C665D-7258-4474-9A1C-9720719A20F2}"/>
              </a:ext>
            </a:extLst>
          </p:cNvPr>
          <p:cNvSpPr/>
          <p:nvPr/>
        </p:nvSpPr>
        <p:spPr>
          <a:xfrm>
            <a:off x="4298541" y="1217199"/>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Reset Sequence </a:t>
            </a:r>
          </a:p>
        </p:txBody>
      </p:sp>
    </p:spTree>
    <p:extLst>
      <p:ext uri="{BB962C8B-B14F-4D97-AF65-F5344CB8AC3E}">
        <p14:creationId xmlns:p14="http://schemas.microsoft.com/office/powerpoint/2010/main" val="2212136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C22B83-BF4E-427C-922D-525E8C11A5E6}"/>
              </a:ext>
            </a:extLst>
          </p:cNvPr>
          <p:cNvSpPr/>
          <p:nvPr/>
        </p:nvSpPr>
        <p:spPr>
          <a:xfrm>
            <a:off x="1171268" y="445645"/>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Driver</a:t>
            </a:r>
          </a:p>
        </p:txBody>
      </p:sp>
      <p:sp>
        <p:nvSpPr>
          <p:cNvPr id="5" name="Rectangle 4">
            <a:extLst>
              <a:ext uri="{FF2B5EF4-FFF2-40B4-BE49-F238E27FC236}">
                <a16:creationId xmlns:a16="http://schemas.microsoft.com/office/drawing/2014/main" id="{5B1BE633-827C-4BE9-9D55-D5D35510249B}"/>
              </a:ext>
            </a:extLst>
          </p:cNvPr>
          <p:cNvSpPr/>
          <p:nvPr/>
        </p:nvSpPr>
        <p:spPr>
          <a:xfrm>
            <a:off x="7691285" y="402996"/>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Agent</a:t>
            </a:r>
          </a:p>
        </p:txBody>
      </p:sp>
      <p:sp>
        <p:nvSpPr>
          <p:cNvPr id="4" name="Rectangle 3">
            <a:extLst>
              <a:ext uri="{FF2B5EF4-FFF2-40B4-BE49-F238E27FC236}">
                <a16:creationId xmlns:a16="http://schemas.microsoft.com/office/drawing/2014/main" id="{F1810629-FFC6-431C-88A1-461B7073B278}"/>
              </a:ext>
            </a:extLst>
          </p:cNvPr>
          <p:cNvSpPr/>
          <p:nvPr/>
        </p:nvSpPr>
        <p:spPr>
          <a:xfrm>
            <a:off x="294968" y="1098632"/>
            <a:ext cx="5523272" cy="200590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driver is responsible for converting transaction-level stimulus generated by the sequencer into signals.</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It drives the actual interface</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There are Build Phase, Connect Phase and Run Phase responsible for connecting and responsible for performing different operations.</a:t>
            </a:r>
          </a:p>
          <a:p>
            <a:endParaRPr lang="en-US" dirty="0">
              <a:ln w="0"/>
              <a:solidFill>
                <a:schemeClr val="tx1"/>
              </a:solidFill>
              <a:effectLst>
                <a:outerShdw blurRad="38100" dist="19050" dir="2700000" algn="tl" rotWithShape="0">
                  <a:schemeClr val="dk1">
                    <a:alpha val="40000"/>
                  </a:schemeClr>
                </a:outerShdw>
              </a:effectLst>
              <a:latin typeface="+mj-lt"/>
            </a:endParaRPr>
          </a:p>
        </p:txBody>
      </p:sp>
      <p:sp>
        <p:nvSpPr>
          <p:cNvPr id="6" name="TextBox 5">
            <a:extLst>
              <a:ext uri="{FF2B5EF4-FFF2-40B4-BE49-F238E27FC236}">
                <a16:creationId xmlns:a16="http://schemas.microsoft.com/office/drawing/2014/main" id="{B058C627-59D5-4E5F-B32B-C58DC18D704D}"/>
              </a:ext>
            </a:extLst>
          </p:cNvPr>
          <p:cNvSpPr txBox="1"/>
          <p:nvPr/>
        </p:nvSpPr>
        <p:spPr>
          <a:xfrm>
            <a:off x="294968" y="3285896"/>
            <a:ext cx="5523272" cy="3046988"/>
          </a:xfrm>
          <a:prstGeom prst="rect">
            <a:avLst/>
          </a:prstGeom>
          <a:solidFill>
            <a:schemeClr val="tx1"/>
          </a:solidFill>
        </p:spPr>
        <p:txBody>
          <a:bodyPr wrap="square">
            <a:spAutoFit/>
          </a:bodyPr>
          <a:lstStyle/>
          <a:p>
            <a:r>
              <a:rPr lang="en-US" sz="1200" b="0" dirty="0">
                <a:solidFill>
                  <a:srgbClr val="569CD6"/>
                </a:solidFill>
                <a:effectLst/>
                <a:latin typeface="Consolas" panose="020B0609020204030204" pitchFamily="49" charset="0"/>
              </a:rPr>
              <a:t>task</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drive</a:t>
            </a:r>
            <a:r>
              <a:rPr lang="en-US" sz="1200" b="0" dirty="0">
                <a:solidFill>
                  <a:srgbClr val="CCCCCC"/>
                </a:solidFill>
                <a:effectLst/>
                <a:latin typeface="Consolas" panose="020B0609020204030204" pitchFamily="49" charset="0"/>
              </a:rPr>
              <a:t>(</a:t>
            </a:r>
            <a:r>
              <a:rPr lang="en-US" sz="1200" b="0" dirty="0" err="1">
                <a:solidFill>
                  <a:srgbClr val="569CD6"/>
                </a:solidFill>
                <a:effectLst/>
                <a:latin typeface="Consolas" panose="020B0609020204030204" pitchFamily="49" charset="0"/>
              </a:rPr>
              <a:t>fifo_seq_item</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w_rst_n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r_rst_n</a:t>
            </a:r>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w_rst_n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w_rst_n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r_rst_n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r_rst_n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else</a:t>
            </a:r>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w_rst_n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w_rst_n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r_rst_n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r_rst_n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drv_pkt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posedge</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wclk</a:t>
            </a:r>
            <a:r>
              <a:rPr lang="en-US" sz="1200" b="0" dirty="0">
                <a:solidFill>
                  <a:srgbClr val="CCCCCC"/>
                </a:solidFill>
                <a:effectLst/>
                <a:latin typeface="Consolas" panose="020B0609020204030204" pitchFamily="49" charset="0"/>
              </a:rPr>
              <a:t>);    </a:t>
            </a:r>
          </a:p>
          <a:p>
            <a:endParaRPr lang="en-US" sz="1200" b="0" dirty="0">
              <a:solidFill>
                <a:srgbClr val="CCCCCC"/>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2FE81CFF-7473-45EE-A9DD-7C03DDD34BE6}"/>
              </a:ext>
            </a:extLst>
          </p:cNvPr>
          <p:cNvSpPr/>
          <p:nvPr/>
        </p:nvSpPr>
        <p:spPr>
          <a:xfrm>
            <a:off x="6258233" y="1098633"/>
            <a:ext cx="5523272" cy="18584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It typically consists of a driver, monitor, sequencer</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create method for the sequencer , driver, and monitor using the factory registration methods from the </a:t>
            </a:r>
            <a:r>
              <a:rPr lang="en-US" dirty="0" err="1">
                <a:ln w="0"/>
                <a:solidFill>
                  <a:schemeClr val="tx1"/>
                </a:solidFill>
                <a:effectLst>
                  <a:outerShdw blurRad="38100" dist="19050" dir="2700000" algn="tl" rotWithShape="0">
                    <a:schemeClr val="dk1">
                      <a:alpha val="40000"/>
                    </a:schemeClr>
                  </a:outerShdw>
                </a:effectLst>
                <a:latin typeface="+mj-lt"/>
              </a:rPr>
              <a:t>uvm_object</a:t>
            </a:r>
            <a:r>
              <a:rPr lang="en-US" dirty="0">
                <a:ln w="0"/>
                <a:solidFill>
                  <a:schemeClr val="tx1"/>
                </a:solidFill>
                <a:effectLst>
                  <a:outerShdw blurRad="38100" dist="19050" dir="2700000" algn="tl" rotWithShape="0">
                    <a:schemeClr val="dk1">
                      <a:alpha val="40000"/>
                    </a:schemeClr>
                  </a:outerShdw>
                </a:effectLst>
                <a:latin typeface="+mj-lt"/>
              </a:rPr>
              <a:t> class in build phase.</a:t>
            </a:r>
          </a:p>
          <a:p>
            <a:endParaRPr lang="en-US" dirty="0">
              <a:ln w="0"/>
              <a:solidFill>
                <a:schemeClr val="tx1"/>
              </a:solidFill>
              <a:effectLst>
                <a:outerShdw blurRad="38100" dist="19050" dir="2700000" algn="tl" rotWithShape="0">
                  <a:schemeClr val="dk1">
                    <a:alpha val="40000"/>
                  </a:schemeClr>
                </a:outerShdw>
              </a:effectLst>
              <a:latin typeface="+mj-lt"/>
            </a:endParaRPr>
          </a:p>
        </p:txBody>
      </p:sp>
      <p:sp>
        <p:nvSpPr>
          <p:cNvPr id="9" name="TextBox 8">
            <a:extLst>
              <a:ext uri="{FF2B5EF4-FFF2-40B4-BE49-F238E27FC236}">
                <a16:creationId xmlns:a16="http://schemas.microsoft.com/office/drawing/2014/main" id="{F4F892B4-95C7-4401-A89A-8815E1AB4B90}"/>
              </a:ext>
            </a:extLst>
          </p:cNvPr>
          <p:cNvSpPr txBox="1"/>
          <p:nvPr/>
        </p:nvSpPr>
        <p:spPr>
          <a:xfrm>
            <a:off x="6258233" y="3313477"/>
            <a:ext cx="5523272" cy="1938992"/>
          </a:xfrm>
          <a:prstGeom prst="rect">
            <a:avLst/>
          </a:prstGeom>
          <a:solidFill>
            <a:schemeClr val="tx1"/>
          </a:solidFill>
        </p:spPr>
        <p:txBody>
          <a:bodyPr wrap="square">
            <a:spAutoFit/>
          </a:bodyPr>
          <a:lstStyle/>
          <a:p>
            <a:r>
              <a:rPr lang="en-US" sz="1200" b="0" dirty="0">
                <a:solidFill>
                  <a:srgbClr val="6A9955"/>
                </a:solidFill>
                <a:effectLst/>
                <a:latin typeface="Consolas" panose="020B0609020204030204" pitchFamily="49" charset="0"/>
              </a:rPr>
              <a:t>//build phase</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void</a:t>
            </a:r>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build_phase</a:t>
            </a:r>
            <a:r>
              <a:rPr lang="en-US" sz="1200" b="0" dirty="0">
                <a:solidFill>
                  <a:srgbClr val="CCCCCC"/>
                </a:solidFill>
                <a:effectLst/>
                <a:latin typeface="Consolas" panose="020B0609020204030204" pitchFamily="49" charset="0"/>
              </a:rPr>
              <a:t> (</a:t>
            </a:r>
            <a:r>
              <a:rPr lang="en-US" sz="1200" b="0" dirty="0" err="1">
                <a:solidFill>
                  <a:srgbClr val="569CD6"/>
                </a:solidFill>
                <a:effectLst/>
                <a:latin typeface="Consolas" panose="020B0609020204030204" pitchFamily="49" charset="0"/>
              </a:rPr>
              <a:t>uvm_phase</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phase</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569CD6"/>
                </a:solidFill>
                <a:effectLst/>
                <a:latin typeface="Consolas" panose="020B0609020204030204" pitchFamily="49" charset="0"/>
              </a:rPr>
              <a:t>super</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build_phase</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phase</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uvm_info</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"AGENT CLASS"</a:t>
            </a:r>
            <a:r>
              <a:rPr lang="en-US" sz="1200" b="0" dirty="0">
                <a:solidFill>
                  <a:srgbClr val="CCCCCC"/>
                </a:solidFill>
                <a:effectLst/>
                <a:latin typeface="Consolas" panose="020B0609020204030204" pitchFamily="49" charset="0"/>
              </a:rPr>
              <a:t>, </a:t>
            </a:r>
            <a:r>
              <a:rPr lang="en-US" sz="1200" b="0" dirty="0">
                <a:solidFill>
                  <a:srgbClr val="CE9178"/>
                </a:solidFill>
                <a:effectLst/>
                <a:latin typeface="Consolas" panose="020B0609020204030204" pitchFamily="49" charset="0"/>
              </a:rPr>
              <a:t>"BUILD PHASE!"</a:t>
            </a:r>
            <a:r>
              <a:rPr lang="en-US" sz="1200" b="0" dirty="0">
                <a:solidFill>
                  <a:srgbClr val="CCCCCC"/>
                </a:solidFill>
                <a:effectLst/>
                <a:latin typeface="Consolas" panose="020B0609020204030204" pitchFamily="49" charset="0"/>
              </a:rPr>
              <a:t>,UVM_LOW)</a:t>
            </a:r>
          </a:p>
          <a:p>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s0</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4EC9B0"/>
                </a:solidFill>
                <a:effectLst/>
                <a:latin typeface="Consolas" panose="020B0609020204030204" pitchFamily="49" charset="0"/>
              </a:rPr>
              <a:t>sequencer</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"s0"</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d0</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4EC9B0"/>
                </a:solidFill>
                <a:effectLst/>
                <a:latin typeface="Consolas" panose="020B0609020204030204" pitchFamily="49" charset="0"/>
              </a:rPr>
              <a:t>driver</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"d0"</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4EC9B0"/>
                </a:solidFill>
                <a:effectLst/>
                <a:latin typeface="Consolas" panose="020B0609020204030204" pitchFamily="49" charset="0"/>
              </a:rPr>
              <a:t>monitor</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mon</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C586C0"/>
                </a:solidFill>
                <a:effectLst/>
                <a:latin typeface="Consolas" panose="020B0609020204030204" pitchFamily="49" charset="0"/>
              </a:rPr>
              <a:t>endfunction</a:t>
            </a:r>
            <a:endParaRPr lang="en-US" sz="1200" b="0" dirty="0">
              <a:solidFill>
                <a:srgbClr val="CCCCCC"/>
              </a:solidFill>
              <a:effectLst/>
              <a:latin typeface="Consolas" panose="020B0609020204030204" pitchFamily="49" charset="0"/>
            </a:endParaRPr>
          </a:p>
          <a:p>
            <a:endParaRPr lang="en-US" sz="1200" b="0" dirty="0">
              <a:solidFill>
                <a:srgbClr val="CCCCCC"/>
              </a:solidFill>
              <a:effectLst/>
              <a:latin typeface="Consolas" panose="020B0609020204030204" pitchFamily="49" charset="0"/>
            </a:endParaRPr>
          </a:p>
        </p:txBody>
      </p:sp>
      <p:cxnSp>
        <p:nvCxnSpPr>
          <p:cNvPr id="10" name="Straight Connector 9">
            <a:extLst>
              <a:ext uri="{FF2B5EF4-FFF2-40B4-BE49-F238E27FC236}">
                <a16:creationId xmlns:a16="http://schemas.microsoft.com/office/drawing/2014/main" id="{177A10B3-92B5-4CBD-96E7-0B431F39EB80}"/>
              </a:ext>
            </a:extLst>
          </p:cNvPr>
          <p:cNvCxnSpPr/>
          <p:nvPr/>
        </p:nvCxnSpPr>
        <p:spPr>
          <a:xfrm>
            <a:off x="6034549" y="169606"/>
            <a:ext cx="0" cy="6518787"/>
          </a:xfrm>
          <a:prstGeom prst="line">
            <a:avLst/>
          </a:prstGeom>
          <a:ln w="1905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113703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C22B83-BF4E-427C-922D-525E8C11A5E6}"/>
              </a:ext>
            </a:extLst>
          </p:cNvPr>
          <p:cNvSpPr/>
          <p:nvPr/>
        </p:nvSpPr>
        <p:spPr>
          <a:xfrm>
            <a:off x="1193390" y="651362"/>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Monitor</a:t>
            </a:r>
          </a:p>
        </p:txBody>
      </p:sp>
      <p:sp>
        <p:nvSpPr>
          <p:cNvPr id="5" name="Rectangle 4">
            <a:extLst>
              <a:ext uri="{FF2B5EF4-FFF2-40B4-BE49-F238E27FC236}">
                <a16:creationId xmlns:a16="http://schemas.microsoft.com/office/drawing/2014/main" id="{5B1BE633-827C-4BE9-9D55-D5D35510249B}"/>
              </a:ext>
            </a:extLst>
          </p:cNvPr>
          <p:cNvSpPr/>
          <p:nvPr/>
        </p:nvSpPr>
        <p:spPr>
          <a:xfrm>
            <a:off x="6902246" y="651362"/>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Scoreboard</a:t>
            </a:r>
          </a:p>
        </p:txBody>
      </p:sp>
      <p:sp>
        <p:nvSpPr>
          <p:cNvPr id="4" name="Rectangle 3">
            <a:extLst>
              <a:ext uri="{FF2B5EF4-FFF2-40B4-BE49-F238E27FC236}">
                <a16:creationId xmlns:a16="http://schemas.microsoft.com/office/drawing/2014/main" id="{9152A2BF-7F78-4583-A088-11B6BFE366A1}"/>
              </a:ext>
            </a:extLst>
          </p:cNvPr>
          <p:cNvSpPr/>
          <p:nvPr/>
        </p:nvSpPr>
        <p:spPr>
          <a:xfrm>
            <a:off x="412955" y="1423097"/>
            <a:ext cx="5523272" cy="148970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monitor continually gathers   input and output data from the DUT and transforms it to the scoreboard.</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Monitor uses Build Phase to ensure proper connection with the interface using </a:t>
            </a:r>
            <a:r>
              <a:rPr lang="en-US" dirty="0" err="1">
                <a:ln w="0"/>
                <a:solidFill>
                  <a:schemeClr val="tx1"/>
                </a:solidFill>
                <a:effectLst>
                  <a:outerShdw blurRad="38100" dist="19050" dir="2700000" algn="tl" rotWithShape="0">
                    <a:schemeClr val="dk1">
                      <a:alpha val="40000"/>
                    </a:schemeClr>
                  </a:outerShdw>
                </a:effectLst>
                <a:latin typeface="+mj-lt"/>
              </a:rPr>
              <a:t>uvm_config_db</a:t>
            </a:r>
            <a:endParaRPr lang="en-US" dirty="0">
              <a:ln w="0"/>
              <a:solidFill>
                <a:schemeClr val="tx1"/>
              </a:solidFill>
              <a:effectLst>
                <a:outerShdw blurRad="38100" dist="19050" dir="2700000" algn="tl" rotWithShape="0">
                  <a:schemeClr val="dk1">
                    <a:alpha val="40000"/>
                  </a:schemeClr>
                </a:outerShdw>
              </a:effectLst>
              <a:latin typeface="+mj-lt"/>
            </a:endParaRPr>
          </a:p>
          <a:p>
            <a:endParaRPr lang="en-US" dirty="0">
              <a:ln w="0"/>
              <a:solidFill>
                <a:schemeClr val="tx1"/>
              </a:solidFill>
              <a:effectLst>
                <a:outerShdw blurRad="38100" dist="19050" dir="2700000" algn="tl" rotWithShape="0">
                  <a:schemeClr val="dk1">
                    <a:alpha val="40000"/>
                  </a:schemeClr>
                </a:outerShdw>
              </a:effectLst>
              <a:latin typeface="+mj-lt"/>
            </a:endParaRPr>
          </a:p>
        </p:txBody>
      </p:sp>
      <p:sp>
        <p:nvSpPr>
          <p:cNvPr id="6" name="Rectangle 5">
            <a:extLst>
              <a:ext uri="{FF2B5EF4-FFF2-40B4-BE49-F238E27FC236}">
                <a16:creationId xmlns:a16="http://schemas.microsoft.com/office/drawing/2014/main" id="{2D699799-590D-4839-A252-C0337EEA3EE8}"/>
              </a:ext>
            </a:extLst>
          </p:cNvPr>
          <p:cNvSpPr/>
          <p:nvPr/>
        </p:nvSpPr>
        <p:spPr>
          <a:xfrm>
            <a:off x="6255775" y="1423097"/>
            <a:ext cx="5523272" cy="200590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There is a write method to push the values into the queue and task read method to get the values from the reference queue and compare the output with the actual </a:t>
            </a:r>
            <a:r>
              <a:rPr lang="en-US" dirty="0" err="1">
                <a:ln w="0"/>
                <a:solidFill>
                  <a:schemeClr val="tx1"/>
                </a:solidFill>
                <a:effectLst>
                  <a:outerShdw blurRad="38100" dist="19050" dir="2700000" algn="tl" rotWithShape="0">
                    <a:schemeClr val="dk1">
                      <a:alpha val="40000"/>
                    </a:schemeClr>
                  </a:outerShdw>
                </a:effectLst>
                <a:latin typeface="+mj-lt"/>
              </a:rPr>
              <a:t>data_out</a:t>
            </a:r>
            <a:r>
              <a:rPr lang="en-US" dirty="0">
                <a:ln w="0"/>
                <a:solidFill>
                  <a:schemeClr val="tx1"/>
                </a:solidFill>
                <a:effectLst>
                  <a:outerShdw blurRad="38100" dist="19050" dir="2700000" algn="tl" rotWithShape="0">
                    <a:schemeClr val="dk1">
                      <a:alpha val="40000"/>
                    </a:schemeClr>
                  </a:outerShdw>
                </a:effectLst>
                <a:latin typeface="+mj-lt"/>
              </a:rPr>
              <a:t>.</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Scoreboard contains an analysis port and that is connected to different components in the </a:t>
            </a:r>
            <a:r>
              <a:rPr lang="en-US" dirty="0" err="1">
                <a:ln w="0"/>
                <a:solidFill>
                  <a:schemeClr val="tx1"/>
                </a:solidFill>
                <a:effectLst>
                  <a:outerShdw blurRad="38100" dist="19050" dir="2700000" algn="tl" rotWithShape="0">
                    <a:schemeClr val="dk1">
                      <a:alpha val="40000"/>
                    </a:schemeClr>
                  </a:outerShdw>
                </a:effectLst>
                <a:latin typeface="+mj-lt"/>
              </a:rPr>
              <a:t>uvm</a:t>
            </a:r>
            <a:r>
              <a:rPr lang="en-US" dirty="0">
                <a:ln w="0"/>
                <a:solidFill>
                  <a:schemeClr val="tx1"/>
                </a:solidFill>
                <a:effectLst>
                  <a:outerShdw blurRad="38100" dist="19050" dir="2700000" algn="tl" rotWithShape="0">
                    <a:schemeClr val="dk1">
                      <a:alpha val="40000"/>
                    </a:schemeClr>
                  </a:outerShdw>
                </a:effectLst>
                <a:latin typeface="+mj-lt"/>
              </a:rPr>
              <a:t> testbench hierarchy.</a:t>
            </a:r>
          </a:p>
          <a:p>
            <a:endParaRPr lang="en-US" dirty="0">
              <a:ln w="0"/>
              <a:solidFill>
                <a:schemeClr val="tx1"/>
              </a:solidFill>
              <a:effectLst>
                <a:outerShdw blurRad="38100" dist="19050" dir="2700000" algn="tl" rotWithShape="0">
                  <a:schemeClr val="dk1">
                    <a:alpha val="40000"/>
                  </a:schemeClr>
                </a:outerShdw>
              </a:effectLst>
              <a:latin typeface="+mj-lt"/>
            </a:endParaRPr>
          </a:p>
        </p:txBody>
      </p:sp>
      <p:sp>
        <p:nvSpPr>
          <p:cNvPr id="8" name="TextBox 7">
            <a:extLst>
              <a:ext uri="{FF2B5EF4-FFF2-40B4-BE49-F238E27FC236}">
                <a16:creationId xmlns:a16="http://schemas.microsoft.com/office/drawing/2014/main" id="{D8613119-10B1-41D9-8177-F45F3F4B3B6F}"/>
              </a:ext>
            </a:extLst>
          </p:cNvPr>
          <p:cNvSpPr txBox="1"/>
          <p:nvPr/>
        </p:nvSpPr>
        <p:spPr>
          <a:xfrm>
            <a:off x="412955" y="3185029"/>
            <a:ext cx="5523272" cy="3231654"/>
          </a:xfrm>
          <a:prstGeom prst="rect">
            <a:avLst/>
          </a:prstGeom>
          <a:solidFill>
            <a:schemeClr val="tx1"/>
          </a:solidFill>
        </p:spPr>
        <p:txBody>
          <a:bodyPr wrap="square">
            <a:spAutoFit/>
          </a:bodyPr>
          <a:lstStyle/>
          <a:p>
            <a:r>
              <a:rPr lang="en-US" sz="1200" b="0" dirty="0">
                <a:solidFill>
                  <a:srgbClr val="C586C0"/>
                </a:solidFill>
                <a:effectLst/>
                <a:latin typeface="Consolas" panose="020B0609020204030204" pitchFamily="49" charset="0"/>
              </a:rPr>
              <a:t>forever</a:t>
            </a:r>
            <a:r>
              <a:rPr lang="en-US" sz="1200" b="0" dirty="0">
                <a:solidFill>
                  <a:srgbClr val="CCCCCC"/>
                </a:solidFill>
                <a:effectLst/>
                <a:latin typeface="Consolas" panose="020B0609020204030204" pitchFamily="49" charset="0"/>
              </a:rPr>
              <a:t> </a:t>
            </a:r>
          </a:p>
          <a:p>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err="1">
                <a:solidFill>
                  <a:srgbClr val="9CDCFE"/>
                </a:solidFill>
                <a:effectLst/>
                <a:latin typeface="Consolas" panose="020B0609020204030204" pitchFamily="49" charset="0"/>
              </a:rPr>
              <a:t>mon_pkt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fifo_seq_item</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8</a:t>
            </a:r>
            <a:r>
              <a:rPr lang="en-US" sz="1200" b="0" dirty="0">
                <a:solidFill>
                  <a:srgbClr val="CCCCCC"/>
                </a:solidFill>
                <a:effectLst/>
                <a:latin typeface="Consolas" panose="020B0609020204030204" pitchFamily="49" charset="0"/>
              </a:rPr>
              <a:t>,</a:t>
            </a:r>
            <a:r>
              <a:rPr lang="en-US" sz="1200" b="0" dirty="0">
                <a:solidFill>
                  <a:srgbClr val="B5CEA8"/>
                </a:solidFill>
                <a:effectLst/>
                <a:latin typeface="Consolas" panose="020B0609020204030204" pitchFamily="49" charset="0"/>
              </a:rPr>
              <a:t>256</a:t>
            </a:r>
            <a:r>
              <a:rPr lang="en-US" sz="1200" b="0" dirty="0">
                <a:solidFill>
                  <a:srgbClr val="CCCCCC"/>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"mon_pkt"</a:t>
            </a:r>
            <a:r>
              <a:rPr lang="en-US" sz="1200" b="0" dirty="0">
                <a:solidFill>
                  <a:srgbClr val="CCCCCC"/>
                </a:solidFill>
                <a:effectLst/>
                <a:latin typeface="Consolas" panose="020B0609020204030204" pitchFamily="49" charset="0"/>
              </a:rPr>
              <a:t>);</a:t>
            </a:r>
          </a:p>
          <a:p>
            <a:r>
              <a:rPr lang="en-US" sz="1200" b="0" dirty="0">
                <a:solidFill>
                  <a:srgbClr val="9CDCFE"/>
                </a:solidFill>
                <a:effectLst/>
                <a:latin typeface="Consolas" panose="020B0609020204030204" pitchFamily="49" charset="0"/>
              </a:rPr>
              <a:t>wait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w_rst_n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&amp;&amp;</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r_rst_n</a:t>
            </a:r>
            <a:r>
              <a:rPr lang="en-US" sz="1200" b="0" dirty="0">
                <a:solidFill>
                  <a:srgbClr val="CCCCCC"/>
                </a:solidFill>
                <a:effectLst/>
                <a:latin typeface="Consolas" panose="020B0609020204030204" pitchFamily="49" charset="0"/>
              </a:rPr>
              <a:t>);</a:t>
            </a:r>
          </a:p>
          <a:p>
            <a:br>
              <a:rPr lang="en-US" sz="1200" b="0" dirty="0">
                <a:solidFill>
                  <a:srgbClr val="CCCCCC"/>
                </a:solidFill>
                <a:effectLst/>
                <a:latin typeface="Consolas" panose="020B0609020204030204" pitchFamily="49" charset="0"/>
              </a:rPr>
            </a:br>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&amp;</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posedge</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wclk</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r_en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waddr</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waddr</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raddr</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raddr</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data_in</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data_out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full</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full</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mon_pkt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empty</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vif</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empty</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BD7310C-0C37-4A82-9A1C-F2B10E227067}"/>
              </a:ext>
            </a:extLst>
          </p:cNvPr>
          <p:cNvSpPr txBox="1"/>
          <p:nvPr/>
        </p:nvSpPr>
        <p:spPr>
          <a:xfrm>
            <a:off x="6255775" y="3554361"/>
            <a:ext cx="5523272" cy="2492990"/>
          </a:xfrm>
          <a:prstGeom prst="rect">
            <a:avLst/>
          </a:prstGeom>
          <a:solidFill>
            <a:schemeClr val="tx1"/>
          </a:solidFill>
        </p:spPr>
        <p:txBody>
          <a:bodyPr wrap="square">
            <a:spAutoFit/>
          </a:bodyPr>
          <a:lstStyle/>
          <a:p>
            <a:r>
              <a:rPr lang="en-US" sz="1200" b="0" dirty="0">
                <a:solidFill>
                  <a:srgbClr val="6A9955"/>
                </a:solidFill>
                <a:effectLst/>
                <a:latin typeface="Consolas" panose="020B0609020204030204" pitchFamily="49" charset="0"/>
              </a:rPr>
              <a:t>//checking the output values from received from DUT </a:t>
            </a:r>
            <a:r>
              <a:rPr lang="en-US" sz="1200" b="0" dirty="0" err="1">
                <a:solidFill>
                  <a:srgbClr val="6A9955"/>
                </a:solidFill>
                <a:effectLst/>
                <a:latin typeface="Consolas" panose="020B0609020204030204" pitchFamily="49" charset="0"/>
              </a:rPr>
              <a:t>nad</a:t>
            </a:r>
            <a:r>
              <a:rPr lang="en-US" sz="1200" b="0" dirty="0">
                <a:solidFill>
                  <a:srgbClr val="6A9955"/>
                </a:solidFill>
                <a:effectLst/>
                <a:latin typeface="Consolas" panose="020B0609020204030204" pitchFamily="49" charset="0"/>
              </a:rPr>
              <a:t> the testbench(monitor)</a:t>
            </a:r>
            <a:endParaRPr lang="en-US" sz="1200" b="0" dirty="0">
              <a:solidFill>
                <a:srgbClr val="CCCCCC"/>
              </a:solidFill>
              <a:effectLst/>
              <a:latin typeface="Consolas" panose="020B0609020204030204" pitchFamily="49" charset="0"/>
            </a:endParaRPr>
          </a:p>
          <a:p>
            <a:r>
              <a:rPr lang="en-US" sz="1200" b="0" dirty="0">
                <a:solidFill>
                  <a:srgbClr val="C586C0"/>
                </a:solidFill>
                <a:effectLst/>
                <a:latin typeface="Consolas" panose="020B0609020204030204" pitchFamily="49" charset="0"/>
              </a:rPr>
              <a:t>if</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actual</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expected_data</a:t>
            </a:r>
            <a:r>
              <a:rPr lang="en-US" sz="1200" b="0" dirty="0">
                <a:solidFill>
                  <a:srgbClr val="CCCCCC"/>
                </a:solidFill>
                <a:effectLst/>
                <a:latin typeface="Consolas" panose="020B0609020204030204" pitchFamily="49" charset="0"/>
              </a:rPr>
              <a:t>)</a:t>
            </a:r>
          </a:p>
          <a:p>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uvm_error</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"Comparing read"</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sformatf</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"transaction failed</a:t>
            </a:r>
          </a:p>
          <a:p>
            <a:r>
              <a:rPr lang="en-US" sz="1200" dirty="0">
                <a:solidFill>
                  <a:srgbClr val="CE9178"/>
                </a:solidFill>
                <a:latin typeface="Consolas" panose="020B0609020204030204" pitchFamily="49" charset="0"/>
              </a:rPr>
              <a:t>    </a:t>
            </a:r>
            <a:r>
              <a:rPr lang="en-US" sz="1200" b="0" dirty="0">
                <a:solidFill>
                  <a:srgbClr val="CE9178"/>
                </a:solidFill>
                <a:effectLst/>
                <a:latin typeface="Consolas" panose="020B0609020204030204" pitchFamily="49" charset="0"/>
              </a:rPr>
              <a:t>actual=</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 </a:t>
            </a:r>
            <a:r>
              <a:rPr lang="en-US" sz="1200" b="0" dirty="0" err="1">
                <a:solidFill>
                  <a:srgbClr val="CE9178"/>
                </a:solidFill>
                <a:effectLst/>
                <a:latin typeface="Consolas" panose="020B0609020204030204" pitchFamily="49" charset="0"/>
              </a:rPr>
              <a:t>expected_data</a:t>
            </a:r>
            <a:r>
              <a:rPr lang="en-US" sz="1200" b="0" dirty="0">
                <a:solidFill>
                  <a:srgbClr val="CE9178"/>
                </a:solidFill>
                <a:effectLst/>
                <a:latin typeface="Consolas" panose="020B0609020204030204" pitchFamily="49" charset="0"/>
              </a:rPr>
              <a:t>=</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actual</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expected_data</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end</a:t>
            </a:r>
            <a:r>
              <a:rPr lang="en-US" sz="1200" b="0" dirty="0">
                <a:solidFill>
                  <a:srgbClr val="CCCCCC"/>
                </a:solidFill>
                <a:effectLst/>
                <a:latin typeface="Consolas" panose="020B0609020204030204" pitchFamily="49" charset="0"/>
              </a:rPr>
              <a:t>  </a:t>
            </a:r>
          </a:p>
          <a:p>
            <a:r>
              <a:rPr lang="en-US" sz="1200" b="0" dirty="0">
                <a:solidFill>
                  <a:srgbClr val="C586C0"/>
                </a:solidFill>
                <a:effectLst/>
                <a:latin typeface="Consolas" panose="020B0609020204030204" pitchFamily="49" charset="0"/>
              </a:rPr>
              <a:t>else</a:t>
            </a:r>
            <a:r>
              <a:rPr lang="en-US" sz="1200" b="0" dirty="0">
                <a:solidFill>
                  <a:srgbClr val="CCCCCC"/>
                </a:solidFill>
                <a:effectLst/>
                <a:latin typeface="Consolas" panose="020B0609020204030204" pitchFamily="49" charset="0"/>
              </a:rPr>
              <a:t> </a:t>
            </a:r>
          </a:p>
          <a:p>
            <a:r>
              <a:rPr lang="en-US" sz="1200" b="0" dirty="0">
                <a:solidFill>
                  <a:srgbClr val="C586C0"/>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uvm_info</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"Comparing read"</a:t>
            </a:r>
            <a:r>
              <a:rPr lang="en-US" sz="1200" b="0" dirty="0">
                <a:solidFill>
                  <a:srgbClr val="CCCCCC"/>
                </a:solidFill>
                <a:effectLst/>
                <a:latin typeface="Consolas" panose="020B0609020204030204" pitchFamily="49" charset="0"/>
              </a:rPr>
              <a:t>, </a:t>
            </a:r>
            <a:r>
              <a:rPr lang="en-US" sz="1200" b="0" dirty="0">
                <a:solidFill>
                  <a:srgbClr val="DCDCAA"/>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sformatf</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"transaction passed</a:t>
            </a:r>
            <a:r>
              <a:rPr lang="en-US" sz="1200" b="0" dirty="0">
                <a:solidFill>
                  <a:srgbClr val="CCCCCC"/>
                </a:solidFill>
                <a:effectLst/>
                <a:latin typeface="Consolas" panose="020B0609020204030204" pitchFamily="49" charset="0"/>
              </a:rPr>
              <a:t>)</a:t>
            </a:r>
          </a:p>
          <a:p>
            <a:r>
              <a:rPr lang="en-US" sz="1200" b="0" dirty="0">
                <a:solidFill>
                  <a:srgbClr val="CE9178"/>
                </a:solidFill>
                <a:effectLst/>
                <a:latin typeface="Consolas" panose="020B0609020204030204" pitchFamily="49" charset="0"/>
              </a:rPr>
              <a:t>   actual=</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 </a:t>
            </a:r>
            <a:r>
              <a:rPr lang="en-US" sz="1200" b="0" dirty="0" err="1">
                <a:solidFill>
                  <a:srgbClr val="CE9178"/>
                </a:solidFill>
                <a:effectLst/>
                <a:latin typeface="Consolas" panose="020B0609020204030204" pitchFamily="49" charset="0"/>
              </a:rPr>
              <a:t>expected_data</a:t>
            </a:r>
            <a:r>
              <a:rPr lang="en-US" sz="1200" b="0" dirty="0">
                <a:solidFill>
                  <a:srgbClr val="CE9178"/>
                </a:solidFill>
                <a:effectLst/>
                <a:latin typeface="Consolas" panose="020B0609020204030204" pitchFamily="49" charset="0"/>
              </a:rPr>
              <a:t>=</a:t>
            </a:r>
            <a:r>
              <a:rPr lang="en-US" sz="1200" b="0" dirty="0">
                <a:solidFill>
                  <a:srgbClr val="569CD6"/>
                </a:solidFill>
                <a:effectLst/>
                <a:latin typeface="Consolas" panose="020B0609020204030204" pitchFamily="49" charset="0"/>
              </a:rPr>
              <a:t>%d</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actual</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expected_data</a:t>
            </a:r>
            <a:r>
              <a:rPr lang="en-US" sz="1200" b="0" dirty="0">
                <a:solidFill>
                  <a:srgbClr val="CCCCCC"/>
                </a:solidFill>
                <a:effectLst/>
                <a:latin typeface="Consolas" panose="020B0609020204030204" pitchFamily="49" charset="0"/>
              </a:rPr>
              <a:t>), UVM_LOW </a:t>
            </a:r>
          </a:p>
          <a:p>
            <a:r>
              <a:rPr lang="en-US" sz="1200" b="0" dirty="0">
                <a:solidFill>
                  <a:srgbClr val="CCCCCC"/>
                </a:solidFill>
                <a:effectLst/>
                <a:latin typeface="Consolas" panose="020B0609020204030204" pitchFamily="49" charset="0"/>
              </a:rPr>
              <a:t> </a:t>
            </a:r>
            <a:r>
              <a:rPr lang="en-US" sz="1200" b="0" dirty="0">
                <a:solidFill>
                  <a:srgbClr val="C586C0"/>
                </a:solidFill>
                <a:effectLst/>
                <a:latin typeface="Consolas" panose="020B0609020204030204" pitchFamily="49" charset="0"/>
              </a:rPr>
              <a:t>end</a:t>
            </a:r>
            <a:endParaRPr lang="en-US" sz="1200" b="0" dirty="0">
              <a:solidFill>
                <a:srgbClr val="CCCCCC"/>
              </a:solidFill>
              <a:effectLst/>
              <a:latin typeface="Consolas" panose="020B0609020204030204" pitchFamily="49" charset="0"/>
            </a:endParaRPr>
          </a:p>
          <a:p>
            <a:endParaRPr lang="en-US" sz="1200" b="0" dirty="0">
              <a:solidFill>
                <a:srgbClr val="CCCCCC"/>
              </a:solidFill>
              <a:effectLst/>
              <a:latin typeface="Consolas" panose="020B0609020204030204" pitchFamily="49" charset="0"/>
            </a:endParaRPr>
          </a:p>
        </p:txBody>
      </p:sp>
      <p:cxnSp>
        <p:nvCxnSpPr>
          <p:cNvPr id="10" name="Straight Connector 9">
            <a:extLst>
              <a:ext uri="{FF2B5EF4-FFF2-40B4-BE49-F238E27FC236}">
                <a16:creationId xmlns:a16="http://schemas.microsoft.com/office/drawing/2014/main" id="{D3CB3E48-C840-448F-BA01-058D2438016C}"/>
              </a:ext>
            </a:extLst>
          </p:cNvPr>
          <p:cNvCxnSpPr/>
          <p:nvPr/>
        </p:nvCxnSpPr>
        <p:spPr>
          <a:xfrm>
            <a:off x="6096000" y="221225"/>
            <a:ext cx="0" cy="6518787"/>
          </a:xfrm>
          <a:prstGeom prst="line">
            <a:avLst/>
          </a:prstGeom>
          <a:ln w="1905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734141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C22B83-BF4E-427C-922D-525E8C11A5E6}"/>
              </a:ext>
            </a:extLst>
          </p:cNvPr>
          <p:cNvSpPr/>
          <p:nvPr/>
        </p:nvSpPr>
        <p:spPr>
          <a:xfrm>
            <a:off x="1193390" y="651362"/>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Environment</a:t>
            </a:r>
          </a:p>
        </p:txBody>
      </p:sp>
      <p:sp>
        <p:nvSpPr>
          <p:cNvPr id="5" name="Rectangle 4">
            <a:extLst>
              <a:ext uri="{FF2B5EF4-FFF2-40B4-BE49-F238E27FC236}">
                <a16:creationId xmlns:a16="http://schemas.microsoft.com/office/drawing/2014/main" id="{5B1BE633-827C-4BE9-9D55-D5D35510249B}"/>
              </a:ext>
            </a:extLst>
          </p:cNvPr>
          <p:cNvSpPr/>
          <p:nvPr/>
        </p:nvSpPr>
        <p:spPr>
          <a:xfrm>
            <a:off x="6894872" y="651362"/>
            <a:ext cx="2986548" cy="383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latin typeface="+mj-lt"/>
              </a:rPr>
              <a:t> Test</a:t>
            </a:r>
          </a:p>
        </p:txBody>
      </p:sp>
      <p:sp>
        <p:nvSpPr>
          <p:cNvPr id="4" name="Rectangle 3">
            <a:extLst>
              <a:ext uri="{FF2B5EF4-FFF2-40B4-BE49-F238E27FC236}">
                <a16:creationId xmlns:a16="http://schemas.microsoft.com/office/drawing/2014/main" id="{9152A2BF-7F78-4583-A088-11B6BFE366A1}"/>
              </a:ext>
            </a:extLst>
          </p:cNvPr>
          <p:cNvSpPr/>
          <p:nvPr/>
        </p:nvSpPr>
        <p:spPr>
          <a:xfrm>
            <a:off x="412953" y="1295882"/>
            <a:ext cx="5523272" cy="192623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latin typeface="+mj-lt"/>
            </a:endParaRP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Environment follows the same pattern as the agent does but environment calls the create method for agent, scoreboard and coverage using the factory registration methods in the build phase.</a:t>
            </a:r>
          </a:p>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Also connects the monitor analysis port to the scoreboard and coverage analysis port</a:t>
            </a:r>
          </a:p>
          <a:p>
            <a:pPr marL="285750" indent="-285750">
              <a:buFont typeface="Arial" panose="020B0604020202020204" pitchFamily="34" charset="0"/>
              <a:buChar char="•"/>
            </a:pPr>
            <a:endParaRPr lang="en-US" dirty="0">
              <a:ln w="0"/>
              <a:solidFill>
                <a:schemeClr val="tx1"/>
              </a:solidFill>
              <a:effectLst>
                <a:outerShdw blurRad="38100" dist="19050" dir="2700000" algn="tl" rotWithShape="0">
                  <a:schemeClr val="dk1">
                    <a:alpha val="40000"/>
                  </a:schemeClr>
                </a:outerShdw>
              </a:effectLst>
              <a:latin typeface="+mj-lt"/>
            </a:endParaRPr>
          </a:p>
        </p:txBody>
      </p:sp>
      <p:sp>
        <p:nvSpPr>
          <p:cNvPr id="6" name="Rectangle 5">
            <a:extLst>
              <a:ext uri="{FF2B5EF4-FFF2-40B4-BE49-F238E27FC236}">
                <a16:creationId xmlns:a16="http://schemas.microsoft.com/office/drawing/2014/main" id="{2D699799-590D-4839-A252-C0337EEA3EE8}"/>
              </a:ext>
            </a:extLst>
          </p:cNvPr>
          <p:cNvSpPr/>
          <p:nvPr/>
        </p:nvSpPr>
        <p:spPr>
          <a:xfrm>
            <a:off x="6255775" y="1295882"/>
            <a:ext cx="5523272" cy="10203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dirty="0">
                <a:ln w="0"/>
                <a:solidFill>
                  <a:schemeClr val="tx1"/>
                </a:solidFill>
                <a:effectLst>
                  <a:outerShdw blurRad="38100" dist="19050" dir="2700000" algn="tl" rotWithShape="0">
                    <a:schemeClr val="dk1">
                      <a:alpha val="40000"/>
                    </a:schemeClr>
                  </a:outerShdw>
                </a:effectLst>
                <a:latin typeface="+mj-lt"/>
              </a:rPr>
              <a:t>The three sequences are used here.one for reset and other two to generate the tests for read and write separately.</a:t>
            </a:r>
          </a:p>
        </p:txBody>
      </p:sp>
      <p:sp>
        <p:nvSpPr>
          <p:cNvPr id="8" name="TextBox 7">
            <a:extLst>
              <a:ext uri="{FF2B5EF4-FFF2-40B4-BE49-F238E27FC236}">
                <a16:creationId xmlns:a16="http://schemas.microsoft.com/office/drawing/2014/main" id="{D8613119-10B1-41D9-8177-F45F3F4B3B6F}"/>
              </a:ext>
            </a:extLst>
          </p:cNvPr>
          <p:cNvSpPr txBox="1"/>
          <p:nvPr/>
        </p:nvSpPr>
        <p:spPr>
          <a:xfrm>
            <a:off x="412955" y="3445704"/>
            <a:ext cx="5523272" cy="1200329"/>
          </a:xfrm>
          <a:prstGeom prst="rect">
            <a:avLst/>
          </a:prstGeom>
          <a:solidFill>
            <a:schemeClr val="tx1"/>
          </a:solidFill>
        </p:spPr>
        <p:txBody>
          <a:bodyPr wrap="square">
            <a:spAutoFit/>
          </a:bodyPr>
          <a:lstStyle/>
          <a:p>
            <a:r>
              <a:rPr lang="en-US" sz="1200" b="0" dirty="0">
                <a:solidFill>
                  <a:srgbClr val="6A9955"/>
                </a:solidFill>
                <a:effectLst/>
                <a:latin typeface="Consolas" panose="020B0609020204030204" pitchFamily="49" charset="0"/>
              </a:rPr>
              <a:t>//Build Phase</a:t>
            </a:r>
            <a:endParaRPr lang="en-US" sz="1200" b="0" dirty="0">
              <a:solidFill>
                <a:srgbClr val="CCCCCC"/>
              </a:solidFill>
              <a:effectLst/>
              <a:latin typeface="Consolas" panose="020B0609020204030204" pitchFamily="49" charset="0"/>
            </a:endParaRPr>
          </a:p>
          <a:p>
            <a:endParaRPr lang="en-US" sz="1200" b="0" dirty="0">
              <a:solidFill>
                <a:srgbClr val="9CDCFE"/>
              </a:solidFill>
              <a:effectLst/>
              <a:latin typeface="Consolas" panose="020B0609020204030204" pitchFamily="49" charset="0"/>
            </a:endParaRPr>
          </a:p>
          <a:p>
            <a:r>
              <a:rPr lang="en-US" sz="1200" b="0" dirty="0" err="1">
                <a:solidFill>
                  <a:srgbClr val="9CDCFE"/>
                </a:solidFill>
                <a:effectLst/>
                <a:latin typeface="Consolas" panose="020B0609020204030204" pitchFamily="49" charset="0"/>
              </a:rPr>
              <a:t>agnt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agent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agnt</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 //Agent</a:t>
            </a:r>
          </a:p>
          <a:p>
            <a:r>
              <a:rPr lang="en-US" sz="1200" b="0" dirty="0" err="1">
                <a:solidFill>
                  <a:srgbClr val="9CDCFE"/>
                </a:solidFill>
                <a:effectLst/>
                <a:latin typeface="Consolas" panose="020B0609020204030204" pitchFamily="49" charset="0"/>
              </a:rPr>
              <a:t>scb</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4EC9B0"/>
                </a:solidFill>
                <a:effectLst/>
                <a:latin typeface="Consolas" panose="020B0609020204030204" pitchFamily="49" charset="0"/>
              </a:rPr>
              <a:t>scoreboard</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scb</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 //Scoreboard</a:t>
            </a:r>
          </a:p>
          <a:p>
            <a:r>
              <a:rPr lang="en-US" sz="1200" b="0" dirty="0" err="1">
                <a:solidFill>
                  <a:srgbClr val="9CDCFE"/>
                </a:solidFill>
                <a:effectLst/>
                <a:latin typeface="Consolas" panose="020B0609020204030204" pitchFamily="49" charset="0"/>
              </a:rPr>
              <a:t>cov</a:t>
            </a:r>
            <a:r>
              <a:rPr lang="en-US" sz="1200" b="0" dirty="0">
                <a:solidFill>
                  <a:srgbClr val="D4D4D4"/>
                </a:solidFill>
                <a:effectLst/>
                <a:latin typeface="Consolas" panose="020B0609020204030204" pitchFamily="49" charset="0"/>
              </a:rPr>
              <a:t>=</a:t>
            </a:r>
            <a:r>
              <a:rPr lang="en-US" sz="1200" b="0" dirty="0">
                <a:solidFill>
                  <a:srgbClr val="4EC9B0"/>
                </a:solidFill>
                <a:effectLst/>
                <a:latin typeface="Consolas" panose="020B0609020204030204" pitchFamily="49" charset="0"/>
              </a:rPr>
              <a:t>coverage</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cov</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 //Coverage</a:t>
            </a:r>
          </a:p>
          <a:p>
            <a:endParaRPr lang="en-US" sz="12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BD7310C-0C37-4A82-9A1C-F2B10E227067}"/>
              </a:ext>
            </a:extLst>
          </p:cNvPr>
          <p:cNvSpPr txBox="1"/>
          <p:nvPr/>
        </p:nvSpPr>
        <p:spPr>
          <a:xfrm>
            <a:off x="6308724" y="2427145"/>
            <a:ext cx="5523272" cy="3970318"/>
          </a:xfrm>
          <a:prstGeom prst="rect">
            <a:avLst/>
          </a:prstGeom>
          <a:solidFill>
            <a:schemeClr val="tx1"/>
          </a:solidFill>
        </p:spPr>
        <p:txBody>
          <a:bodyPr wrap="square">
            <a:spAutoFit/>
          </a:bodyPr>
          <a:lstStyle/>
          <a:p>
            <a:r>
              <a:rPr lang="en-US" sz="1200" b="0" dirty="0">
                <a:solidFill>
                  <a:srgbClr val="569CD6"/>
                </a:solidFill>
                <a:effectLst/>
                <a:latin typeface="Consolas" panose="020B0609020204030204" pitchFamily="49" charset="0"/>
              </a:rPr>
              <a:t>task</a:t>
            </a:r>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run_phase</a:t>
            </a:r>
            <a:r>
              <a:rPr lang="en-US" sz="1200" b="0" dirty="0">
                <a:solidFill>
                  <a:srgbClr val="CCCCCC"/>
                </a:solidFill>
                <a:effectLst/>
                <a:latin typeface="Consolas" panose="020B0609020204030204" pitchFamily="49" charset="0"/>
              </a:rPr>
              <a:t>(</a:t>
            </a:r>
            <a:r>
              <a:rPr lang="en-US" sz="1200" b="0" dirty="0" err="1">
                <a:solidFill>
                  <a:srgbClr val="569CD6"/>
                </a:solidFill>
                <a:effectLst/>
                <a:latin typeface="Consolas" panose="020B0609020204030204" pitchFamily="49" charset="0"/>
              </a:rPr>
              <a:t>uvm_phase</a:t>
            </a:r>
            <a:r>
              <a:rPr lang="en-US" sz="1200" b="0" dirty="0">
                <a:solidFill>
                  <a:srgbClr val="CCCCCC"/>
                </a:solidFill>
                <a:effectLst/>
                <a:latin typeface="Consolas" panose="020B0609020204030204" pitchFamily="49" charset="0"/>
              </a:rPr>
              <a:t> </a:t>
            </a:r>
            <a:r>
              <a:rPr lang="en-US" sz="1200" b="0" dirty="0">
                <a:solidFill>
                  <a:srgbClr val="9CDCFE"/>
                </a:solidFill>
                <a:effectLst/>
                <a:latin typeface="Consolas" panose="020B0609020204030204" pitchFamily="49" charset="0"/>
              </a:rPr>
              <a:t>phase</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569CD6"/>
                </a:solidFill>
                <a:effectLst/>
                <a:latin typeface="Consolas" panose="020B0609020204030204" pitchFamily="49" charset="0"/>
              </a:rPr>
              <a:t>super</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run_phase</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phase</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4FC1FF"/>
                </a:solidFill>
                <a:effectLst/>
                <a:latin typeface="Consolas" panose="020B0609020204030204" pitchFamily="49" charset="0"/>
              </a:rPr>
              <a:t>uvm_info</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"TEST CLASS"</a:t>
            </a:r>
            <a:r>
              <a:rPr lang="en-US" sz="1200" b="0" dirty="0">
                <a:solidFill>
                  <a:srgbClr val="CCCCCC"/>
                </a:solidFill>
                <a:effectLst/>
                <a:latin typeface="Consolas" panose="020B0609020204030204" pitchFamily="49" charset="0"/>
              </a:rPr>
              <a:t>, </a:t>
            </a:r>
            <a:r>
              <a:rPr lang="en-US" sz="1200" b="0" dirty="0">
                <a:solidFill>
                  <a:srgbClr val="CE9178"/>
                </a:solidFill>
                <a:effectLst/>
                <a:latin typeface="Consolas" panose="020B0609020204030204" pitchFamily="49" charset="0"/>
              </a:rPr>
              <a:t>"INSIDE RUN PHASE!"</a:t>
            </a:r>
            <a:r>
              <a:rPr lang="en-US" sz="1200" b="0" dirty="0">
                <a:solidFill>
                  <a:srgbClr val="CCCCCC"/>
                </a:solidFill>
                <a:effectLst/>
                <a:latin typeface="Consolas" panose="020B0609020204030204" pitchFamily="49" charset="0"/>
              </a:rPr>
              <a:t>,UVM_LOW)</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phase</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raise_objection</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//reset sequence     </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reset_seq</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fifo_sequence</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reset_seq</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reset_seq</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start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e0</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agnt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s0</a:t>
            </a:r>
            <a:r>
              <a:rPr lang="en-US" sz="1200" b="0" dirty="0">
                <a:solidFill>
                  <a:srgbClr val="CCCCCC"/>
                </a:solidFill>
                <a:effectLst/>
                <a:latin typeface="Consolas" panose="020B0609020204030204" pitchFamily="49" charset="0"/>
              </a:rPr>
              <a:t>);        </a:t>
            </a:r>
          </a:p>
          <a:p>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10</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//write sequence</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write_seq</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fifo_sequence_wr</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write_seq</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write_seq</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start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e0</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agnt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s0</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4</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//read sequence</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read_seq</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err="1">
                <a:solidFill>
                  <a:srgbClr val="4EC9B0"/>
                </a:solidFill>
                <a:effectLst/>
                <a:latin typeface="Consolas" panose="020B0609020204030204" pitchFamily="49" charset="0"/>
              </a:rPr>
              <a:t>sequence_fifo_rd</a:t>
            </a:r>
            <a:r>
              <a:rPr lang="en-US" sz="1200" b="0" dirty="0">
                <a:solidFill>
                  <a:srgbClr val="D4D4D4"/>
                </a:solidFill>
                <a:effectLst/>
                <a:latin typeface="Consolas" panose="020B0609020204030204" pitchFamily="49" charset="0"/>
              </a:rPr>
              <a:t>::</a:t>
            </a:r>
            <a:r>
              <a:rPr lang="en-US" sz="1200" b="0" dirty="0" err="1">
                <a:solidFill>
                  <a:srgbClr val="4EC9B0"/>
                </a:solidFill>
                <a:effectLst/>
                <a:latin typeface="Consolas" panose="020B0609020204030204" pitchFamily="49" charset="0"/>
              </a:rPr>
              <a:t>type_id</a:t>
            </a:r>
            <a:r>
              <a:rPr lang="en-US" sz="1200" b="0" dirty="0">
                <a:solidFill>
                  <a:srgbClr val="D4D4D4"/>
                </a:solidFill>
                <a:effectLst/>
                <a:latin typeface="Consolas" panose="020B0609020204030204" pitchFamily="49" charset="0"/>
              </a:rPr>
              <a:t>::</a:t>
            </a:r>
            <a:r>
              <a:rPr lang="en-US" sz="1200" b="0" dirty="0">
                <a:solidFill>
                  <a:srgbClr val="DCDCAA"/>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a:t>
            </a:r>
            <a:r>
              <a:rPr lang="en-US" sz="1200" b="0" dirty="0" err="1">
                <a:solidFill>
                  <a:srgbClr val="CE9178"/>
                </a:solidFill>
                <a:effectLst/>
                <a:latin typeface="Consolas" panose="020B0609020204030204" pitchFamily="49" charset="0"/>
              </a:rPr>
              <a:t>read_seq</a:t>
            </a:r>
            <a:r>
              <a:rPr lang="en-US" sz="1200" b="0" dirty="0">
                <a:solidFill>
                  <a:srgbClr val="CE9178"/>
                </a:solidFill>
                <a:effectLst/>
                <a:latin typeface="Consolas" panose="020B0609020204030204" pitchFamily="49" charset="0"/>
              </a:rPr>
              <a:t>"</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read_seq</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start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e0</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agnt</a:t>
            </a:r>
            <a:r>
              <a:rPr lang="en-US" sz="1200" b="0" dirty="0">
                <a:solidFill>
                  <a:srgbClr val="CCCCCC"/>
                </a:solidFill>
                <a:effectLst/>
                <a:latin typeface="Consolas" panose="020B0609020204030204" pitchFamily="49" charset="0"/>
              </a:rPr>
              <a:t>.</a:t>
            </a:r>
            <a:r>
              <a:rPr lang="en-US" sz="1200" b="0" dirty="0">
                <a:solidFill>
                  <a:srgbClr val="9CDCFE"/>
                </a:solidFill>
                <a:effectLst/>
                <a:latin typeface="Consolas" panose="020B0609020204030204" pitchFamily="49" charset="0"/>
              </a:rPr>
              <a:t>s0</a:t>
            </a:r>
            <a:r>
              <a:rPr lang="en-US" sz="1200" b="0" dirty="0">
                <a:solidFill>
                  <a:srgbClr val="CCCCCC"/>
                </a:solidFill>
                <a:effectLst/>
                <a:latin typeface="Consolas" panose="020B0609020204030204" pitchFamily="49" charset="0"/>
              </a:rPr>
              <a:t>);</a:t>
            </a:r>
          </a:p>
          <a:p>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B5CEA8"/>
                </a:solidFill>
                <a:effectLst/>
                <a:latin typeface="Consolas" panose="020B0609020204030204" pitchFamily="49" charset="0"/>
              </a:rPr>
              <a:t>10</a:t>
            </a:r>
            <a:r>
              <a:rPr lang="en-US" sz="1200" b="0" dirty="0">
                <a:solidFill>
                  <a:srgbClr val="CCCCCC"/>
                </a:solidFill>
                <a:effectLst/>
                <a:latin typeface="Consolas" panose="020B0609020204030204" pitchFamily="49" charset="0"/>
              </a:rPr>
              <a:t>;</a:t>
            </a:r>
          </a:p>
          <a:p>
            <a:endParaRPr lang="en-US" sz="1200" b="0" dirty="0">
              <a:solidFill>
                <a:srgbClr val="CCCCCC"/>
              </a:solidFill>
              <a:effectLst/>
              <a:latin typeface="Consolas" panose="020B0609020204030204" pitchFamily="49" charset="0"/>
            </a:endParaRPr>
          </a:p>
          <a:p>
            <a:r>
              <a:rPr lang="en-US" sz="1200" b="0" dirty="0">
                <a:solidFill>
                  <a:srgbClr val="CCCCCC"/>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phase</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drop_objection</a:t>
            </a:r>
            <a:r>
              <a:rPr lang="en-US" sz="1200" b="0" dirty="0">
                <a:solidFill>
                  <a:srgbClr val="CCCCCC"/>
                </a:solidFill>
                <a:effectLst/>
                <a:latin typeface="Consolas" panose="020B0609020204030204" pitchFamily="49" charset="0"/>
              </a:rPr>
              <a:t>(</a:t>
            </a:r>
            <a:r>
              <a:rPr lang="en-US" sz="1200" b="0" dirty="0">
                <a:solidFill>
                  <a:srgbClr val="569CD6"/>
                </a:solidFill>
                <a:effectLst/>
                <a:latin typeface="Consolas" panose="020B0609020204030204" pitchFamily="49" charset="0"/>
              </a:rPr>
              <a:t>this</a:t>
            </a:r>
            <a:r>
              <a:rPr lang="en-US" sz="1200" b="0" dirty="0">
                <a:solidFill>
                  <a:srgbClr val="CCCCCC"/>
                </a:solidFill>
                <a:effectLst/>
                <a:latin typeface="Consolas" panose="020B0609020204030204" pitchFamily="49" charset="0"/>
              </a:rPr>
              <a:t>);</a:t>
            </a:r>
          </a:p>
          <a:p>
            <a:r>
              <a:rPr lang="en-US" sz="1200" b="0" dirty="0" err="1">
                <a:solidFill>
                  <a:srgbClr val="C586C0"/>
                </a:solidFill>
                <a:effectLst/>
                <a:latin typeface="Consolas" panose="020B0609020204030204" pitchFamily="49" charset="0"/>
              </a:rPr>
              <a:t>endtask</a:t>
            </a:r>
            <a:endParaRPr lang="en-US" sz="1200" b="0" dirty="0">
              <a:solidFill>
                <a:srgbClr val="CCCCCC"/>
              </a:solidFill>
              <a:effectLst/>
              <a:latin typeface="Consolas" panose="020B0609020204030204" pitchFamily="49" charset="0"/>
            </a:endParaRPr>
          </a:p>
          <a:p>
            <a:endParaRPr lang="en-US" sz="1200" b="0" dirty="0">
              <a:solidFill>
                <a:srgbClr val="CCCCCC"/>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2B74F9B1-E826-4565-8638-5364D9EC05E4}"/>
              </a:ext>
            </a:extLst>
          </p:cNvPr>
          <p:cNvSpPr txBox="1"/>
          <p:nvPr/>
        </p:nvSpPr>
        <p:spPr>
          <a:xfrm>
            <a:off x="412955" y="5003764"/>
            <a:ext cx="5523272" cy="1384995"/>
          </a:xfrm>
          <a:prstGeom prst="rect">
            <a:avLst/>
          </a:prstGeom>
          <a:solidFill>
            <a:schemeClr val="tx1"/>
          </a:solidFill>
        </p:spPr>
        <p:txBody>
          <a:bodyPr wrap="square">
            <a:spAutoFit/>
          </a:bodyPr>
          <a:lstStyle/>
          <a:p>
            <a:r>
              <a:rPr lang="en-US" sz="1200" b="0" dirty="0">
                <a:solidFill>
                  <a:srgbClr val="6A9955"/>
                </a:solidFill>
                <a:effectLst/>
                <a:latin typeface="Consolas" panose="020B0609020204030204" pitchFamily="49" charset="0"/>
              </a:rPr>
              <a:t>//Connect Phase</a:t>
            </a:r>
            <a:endParaRPr lang="en-US" sz="1200" b="0" dirty="0">
              <a:solidFill>
                <a:srgbClr val="CCCCCC"/>
              </a:solidFill>
              <a:effectLst/>
              <a:latin typeface="Consolas" panose="020B0609020204030204" pitchFamily="49" charset="0"/>
            </a:endParaRPr>
          </a:p>
          <a:p>
            <a:endParaRPr lang="en-US" sz="1200" b="0" dirty="0">
              <a:solidFill>
                <a:srgbClr val="9CDCFE"/>
              </a:solidFill>
              <a:effectLst/>
              <a:latin typeface="Consolas" panose="020B0609020204030204" pitchFamily="49" charset="0"/>
            </a:endParaRPr>
          </a:p>
          <a:p>
            <a:r>
              <a:rPr lang="en-US" sz="1200" b="0" dirty="0">
                <a:solidFill>
                  <a:srgbClr val="6A9955"/>
                </a:solidFill>
                <a:effectLst/>
                <a:latin typeface="Consolas" panose="020B0609020204030204" pitchFamily="49" charset="0"/>
              </a:rPr>
              <a:t>//connecting monitor analysis port to scoreboard analysis port</a:t>
            </a:r>
            <a:endParaRPr lang="en-US" sz="1200" b="0" dirty="0">
              <a:solidFill>
                <a:srgbClr val="9CDCFE"/>
              </a:solidFill>
              <a:effectLst/>
              <a:latin typeface="Consolas" panose="020B0609020204030204" pitchFamily="49" charset="0"/>
            </a:endParaRPr>
          </a:p>
          <a:p>
            <a:r>
              <a:rPr lang="en-US" sz="1200" b="0" dirty="0" err="1">
                <a:solidFill>
                  <a:srgbClr val="9CDCFE"/>
                </a:solidFill>
                <a:effectLst/>
                <a:latin typeface="Consolas" panose="020B0609020204030204" pitchFamily="49" charset="0"/>
              </a:rPr>
              <a:t>agnt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mon</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monitor_port</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connect</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scb</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scoreboard_port</a:t>
            </a:r>
            <a:r>
              <a:rPr lang="en-US" sz="1200" b="0" dirty="0">
                <a:solidFill>
                  <a:srgbClr val="9CDCFE"/>
                </a:solidFill>
                <a:effectLst/>
                <a:latin typeface="Consolas" panose="020B0609020204030204" pitchFamily="49" charset="0"/>
              </a:rPr>
              <a:t>);</a:t>
            </a:r>
          </a:p>
          <a:p>
            <a:endParaRPr lang="en-US" sz="1200" b="0" dirty="0">
              <a:solidFill>
                <a:srgbClr val="9CDCFE"/>
              </a:solidFill>
              <a:effectLst/>
              <a:latin typeface="Consolas" panose="020B0609020204030204" pitchFamily="49" charset="0"/>
            </a:endParaRPr>
          </a:p>
          <a:p>
            <a:r>
              <a:rPr lang="en-US" sz="1200" b="0" dirty="0">
                <a:solidFill>
                  <a:srgbClr val="6A9955"/>
                </a:solidFill>
                <a:effectLst/>
                <a:latin typeface="Consolas" panose="020B0609020204030204" pitchFamily="49" charset="0"/>
              </a:rPr>
              <a:t>//connecting monitor analysis port to coverage analysis port</a:t>
            </a:r>
            <a:endParaRPr lang="en-US" sz="1200" b="0" dirty="0">
              <a:solidFill>
                <a:srgbClr val="CCCCCC"/>
              </a:solidFill>
              <a:effectLst/>
              <a:latin typeface="Consolas" panose="020B0609020204030204" pitchFamily="49" charset="0"/>
            </a:endParaRPr>
          </a:p>
          <a:p>
            <a:r>
              <a:rPr lang="en-US" sz="1200" b="0" dirty="0" err="1">
                <a:solidFill>
                  <a:srgbClr val="9CDCFE"/>
                </a:solidFill>
                <a:effectLst/>
                <a:latin typeface="Consolas" panose="020B0609020204030204" pitchFamily="49" charset="0"/>
              </a:rPr>
              <a:t>agnt</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mon</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monitor_port</a:t>
            </a:r>
            <a:r>
              <a:rPr lang="en-US" sz="1200" b="0" dirty="0" err="1">
                <a:solidFill>
                  <a:srgbClr val="CCCCCC"/>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connect</a:t>
            </a:r>
            <a:r>
              <a:rPr lang="en-US" sz="1200" b="0" dirty="0">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cov</a:t>
            </a:r>
            <a:r>
              <a:rPr lang="en-US" sz="1200" b="0" dirty="0" err="1">
                <a:solidFill>
                  <a:srgbClr val="CCCCCC"/>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coverage_port</a:t>
            </a:r>
            <a:r>
              <a:rPr lang="en-US" sz="1200" b="0" dirty="0">
                <a:solidFill>
                  <a:srgbClr val="CCCCCC"/>
                </a:solidFill>
                <a:effectLst/>
                <a:latin typeface="Consolas" panose="020B0609020204030204" pitchFamily="49" charset="0"/>
              </a:rPr>
              <a:t>);</a:t>
            </a:r>
          </a:p>
        </p:txBody>
      </p:sp>
      <p:cxnSp>
        <p:nvCxnSpPr>
          <p:cNvPr id="11" name="Straight Connector 10">
            <a:extLst>
              <a:ext uri="{FF2B5EF4-FFF2-40B4-BE49-F238E27FC236}">
                <a16:creationId xmlns:a16="http://schemas.microsoft.com/office/drawing/2014/main" id="{1F8FA78E-2AFA-4E63-BA57-FC8F2BAC722F}"/>
              </a:ext>
            </a:extLst>
          </p:cNvPr>
          <p:cNvCxnSpPr/>
          <p:nvPr/>
        </p:nvCxnSpPr>
        <p:spPr>
          <a:xfrm>
            <a:off x="6096000" y="169606"/>
            <a:ext cx="0" cy="6518787"/>
          </a:xfrm>
          <a:prstGeom prst="line">
            <a:avLst/>
          </a:prstGeom>
          <a:ln w="1905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017303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2276515" y="412954"/>
            <a:ext cx="7040892" cy="515613"/>
          </a:xfrm>
        </p:spPr>
        <p:style>
          <a:lnRef idx="0">
            <a:scrgbClr r="0" g="0" b="0"/>
          </a:lnRef>
          <a:fillRef idx="1002">
            <a:schemeClr val="dk2"/>
          </a:fillRef>
          <a:effectRef idx="0">
            <a:scrgbClr r="0" g="0" b="0"/>
          </a:effectRef>
          <a:fontRef idx="major"/>
        </p:style>
        <p:txBody>
          <a:bodyPr>
            <a:normAutofit fontScale="90000"/>
          </a:bodyPr>
          <a:lstStyle/>
          <a:p>
            <a:r>
              <a:rPr lang="en-US" sz="3200" b="1" dirty="0">
                <a:solidFill>
                  <a:schemeClr val="bg1"/>
                </a:solidFill>
              </a:rPr>
              <a:t>Functional Coverage</a:t>
            </a:r>
          </a:p>
        </p:txBody>
      </p:sp>
      <p:sp>
        <p:nvSpPr>
          <p:cNvPr id="4" name="TextBox 3">
            <a:extLst>
              <a:ext uri="{FF2B5EF4-FFF2-40B4-BE49-F238E27FC236}">
                <a16:creationId xmlns:a16="http://schemas.microsoft.com/office/drawing/2014/main" id="{924151AE-5527-4FF5-B75B-032E83F4D56B}"/>
              </a:ext>
            </a:extLst>
          </p:cNvPr>
          <p:cNvSpPr txBox="1"/>
          <p:nvPr/>
        </p:nvSpPr>
        <p:spPr>
          <a:xfrm>
            <a:off x="565356" y="4057938"/>
            <a:ext cx="5202723" cy="917367"/>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lnSpc>
                <a:spcPct val="140000"/>
              </a:lnSpc>
              <a:spcBef>
                <a:spcPts val="1000"/>
              </a:spcBef>
            </a:pPr>
            <a:r>
              <a:rPr lang="en-US" sz="1700" b="1" dirty="0">
                <a:solidFill>
                  <a:sysClr val="windowText" lastClr="000000"/>
                </a:solidFill>
                <a:latin typeface="+mj-lt"/>
                <a:cs typeface="Times New Roman" panose="02020603050405020304" pitchFamily="18" charset="0"/>
              </a:rPr>
              <a:t>System Verilog</a:t>
            </a:r>
          </a:p>
          <a:p>
            <a:pPr>
              <a:lnSpc>
                <a:spcPct val="140000"/>
              </a:lnSpc>
              <a:spcBef>
                <a:spcPts val="1000"/>
              </a:spcBef>
            </a:pPr>
            <a:r>
              <a:rPr lang="en-US" sz="1700" dirty="0">
                <a:solidFill>
                  <a:sysClr val="windowText" lastClr="000000"/>
                </a:solidFill>
                <a:latin typeface="+mj-lt"/>
                <a:cs typeface="Times New Roman" panose="02020603050405020304" pitchFamily="18" charset="0"/>
              </a:rPr>
              <a:t>                              Functional Coverage : 91.7%</a:t>
            </a:r>
          </a:p>
        </p:txBody>
      </p:sp>
      <p:sp>
        <p:nvSpPr>
          <p:cNvPr id="5" name="TextBox 4">
            <a:extLst>
              <a:ext uri="{FF2B5EF4-FFF2-40B4-BE49-F238E27FC236}">
                <a16:creationId xmlns:a16="http://schemas.microsoft.com/office/drawing/2014/main" id="{93452C6E-E426-44A4-93A2-7F692A6E44EF}"/>
              </a:ext>
            </a:extLst>
          </p:cNvPr>
          <p:cNvSpPr txBox="1"/>
          <p:nvPr/>
        </p:nvSpPr>
        <p:spPr>
          <a:xfrm>
            <a:off x="6344022" y="4057938"/>
            <a:ext cx="5202723" cy="917367"/>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lnSpc>
                <a:spcPct val="140000"/>
              </a:lnSpc>
              <a:spcBef>
                <a:spcPts val="1000"/>
              </a:spcBef>
            </a:pPr>
            <a:r>
              <a:rPr lang="en-US" sz="1700" b="1" dirty="0">
                <a:solidFill>
                  <a:sysClr val="windowText" lastClr="000000"/>
                </a:solidFill>
                <a:latin typeface="+mj-lt"/>
                <a:cs typeface="Times New Roman" panose="02020603050405020304" pitchFamily="18" charset="0"/>
              </a:rPr>
              <a:t>UVM</a:t>
            </a:r>
          </a:p>
          <a:p>
            <a:pPr>
              <a:lnSpc>
                <a:spcPct val="140000"/>
              </a:lnSpc>
              <a:spcBef>
                <a:spcPts val="1000"/>
              </a:spcBef>
            </a:pPr>
            <a:r>
              <a:rPr lang="en-US" sz="1700" dirty="0">
                <a:solidFill>
                  <a:sysClr val="windowText" lastClr="000000"/>
                </a:solidFill>
                <a:latin typeface="+mj-lt"/>
                <a:cs typeface="Times New Roman" panose="02020603050405020304" pitchFamily="18" charset="0"/>
              </a:rPr>
              <a:t>                      Functional Coverage </a:t>
            </a:r>
            <a:r>
              <a:rPr lang="en-US" sz="1700">
                <a:solidFill>
                  <a:sysClr val="windowText" lastClr="000000"/>
                </a:solidFill>
                <a:latin typeface="+mj-lt"/>
                <a:cs typeface="Times New Roman" panose="02020603050405020304" pitchFamily="18" charset="0"/>
              </a:rPr>
              <a:t>: 86.13%</a:t>
            </a:r>
            <a:endParaRPr lang="en-US" sz="1700" dirty="0">
              <a:solidFill>
                <a:sysClr val="windowText" lastClr="000000"/>
              </a:solidFill>
              <a:latin typeface="+mj-lt"/>
              <a:cs typeface="Times New Roman" panose="02020603050405020304" pitchFamily="18" charset="0"/>
            </a:endParaRPr>
          </a:p>
        </p:txBody>
      </p:sp>
      <p:sp>
        <p:nvSpPr>
          <p:cNvPr id="7" name="TextBox 6">
            <a:extLst>
              <a:ext uri="{FF2B5EF4-FFF2-40B4-BE49-F238E27FC236}">
                <a16:creationId xmlns:a16="http://schemas.microsoft.com/office/drawing/2014/main" id="{5CEB50D9-9DF7-43B2-93E5-D31B68A01938}"/>
              </a:ext>
            </a:extLst>
          </p:cNvPr>
          <p:cNvSpPr txBox="1"/>
          <p:nvPr/>
        </p:nvSpPr>
        <p:spPr>
          <a:xfrm>
            <a:off x="2092171" y="1719739"/>
            <a:ext cx="8007657" cy="1474186"/>
          </a:xfrm>
          <a:prstGeom prst="rect">
            <a:avLst/>
          </a:prstGeom>
          <a:noFill/>
        </p:spPr>
        <p:txBody>
          <a:bodyPr wrap="square">
            <a:spAutoFit/>
          </a:bodyPr>
          <a:lstStyle/>
          <a:p>
            <a:pPr>
              <a:lnSpc>
                <a:spcPct val="140000"/>
              </a:lnSpc>
              <a:spcBef>
                <a:spcPts val="1000"/>
              </a:spcBef>
            </a:pPr>
            <a:r>
              <a:rPr lang="en-US" b="1" dirty="0">
                <a:solidFill>
                  <a:sysClr val="windowText" lastClr="000000"/>
                </a:solidFill>
                <a:latin typeface="+mj-lt"/>
                <a:cs typeface="Times New Roman" panose="02020603050405020304" pitchFamily="18" charset="0"/>
              </a:rPr>
              <a:t>Cover points: </a:t>
            </a:r>
            <a:r>
              <a:rPr lang="en-US" dirty="0">
                <a:solidFill>
                  <a:sysClr val="windowText" lastClr="000000"/>
                </a:solidFill>
                <a:latin typeface="+mj-lt"/>
                <a:cs typeface="Times New Roman" panose="02020603050405020304" pitchFamily="18" charset="0"/>
              </a:rPr>
              <a:t>Reset, Initial empty, fifo full condition, fifo empty, </a:t>
            </a:r>
            <a:r>
              <a:rPr lang="en-US" dirty="0" err="1">
                <a:solidFill>
                  <a:sysClr val="windowText" lastClr="000000"/>
                </a:solidFill>
                <a:latin typeface="+mj-lt"/>
                <a:cs typeface="Times New Roman" panose="02020603050405020304" pitchFamily="18" charset="0"/>
              </a:rPr>
              <a:t>data_in</a:t>
            </a:r>
            <a:r>
              <a:rPr lang="en-US" dirty="0">
                <a:solidFill>
                  <a:sysClr val="windowText" lastClr="000000"/>
                </a:solidFill>
                <a:latin typeface="+mj-lt"/>
                <a:cs typeface="Times New Roman" panose="02020603050405020304" pitchFamily="18" charset="0"/>
              </a:rPr>
              <a:t> (range)</a:t>
            </a:r>
            <a:endParaRPr lang="en-US" sz="1800" dirty="0">
              <a:solidFill>
                <a:sysClr val="windowText" lastClr="000000"/>
              </a:solidFill>
              <a:latin typeface="+mj-lt"/>
              <a:cs typeface="Times New Roman" panose="02020603050405020304" pitchFamily="18" charset="0"/>
            </a:endParaRPr>
          </a:p>
          <a:p>
            <a:pPr>
              <a:lnSpc>
                <a:spcPct val="140000"/>
              </a:lnSpc>
              <a:spcBef>
                <a:spcPts val="1000"/>
              </a:spcBef>
            </a:pPr>
            <a:r>
              <a:rPr lang="en-US" sz="1800" b="1" dirty="0">
                <a:solidFill>
                  <a:sysClr val="windowText" lastClr="000000"/>
                </a:solidFill>
                <a:latin typeface="+mj-lt"/>
                <a:cs typeface="Times New Roman" panose="02020603050405020304" pitchFamily="18" charset="0"/>
              </a:rPr>
              <a:t>Cover groups: </a:t>
            </a:r>
            <a:r>
              <a:rPr lang="en-US" sz="1800" dirty="0">
                <a:solidFill>
                  <a:sysClr val="windowText" lastClr="000000"/>
                </a:solidFill>
                <a:latin typeface="+mj-lt"/>
                <a:cs typeface="Times New Roman" panose="02020603050405020304" pitchFamily="18" charset="0"/>
              </a:rPr>
              <a:t>Read and Write </a:t>
            </a:r>
          </a:p>
          <a:p>
            <a:pPr>
              <a:lnSpc>
                <a:spcPct val="140000"/>
              </a:lnSpc>
              <a:spcBef>
                <a:spcPts val="1000"/>
              </a:spcBef>
            </a:pPr>
            <a:r>
              <a:rPr lang="en-US" b="1" dirty="0">
                <a:solidFill>
                  <a:sysClr val="windowText" lastClr="000000"/>
                </a:solidFill>
                <a:latin typeface="+mj-lt"/>
                <a:cs typeface="Times New Roman" panose="02020603050405020304" pitchFamily="18" charset="0"/>
              </a:rPr>
              <a:t>Cross cover groups: </a:t>
            </a:r>
            <a:r>
              <a:rPr lang="en-US" dirty="0">
                <a:solidFill>
                  <a:sysClr val="windowText" lastClr="000000"/>
                </a:solidFill>
                <a:latin typeface="+mj-lt"/>
                <a:cs typeface="Times New Roman" panose="02020603050405020304" pitchFamily="18" charset="0"/>
              </a:rPr>
              <a:t>Write and fifo full, Continuous reads, continuous writes etc.</a:t>
            </a:r>
          </a:p>
        </p:txBody>
      </p:sp>
    </p:spTree>
    <p:extLst>
      <p:ext uri="{BB962C8B-B14F-4D97-AF65-F5344CB8AC3E}">
        <p14:creationId xmlns:p14="http://schemas.microsoft.com/office/powerpoint/2010/main" val="2632857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811941" y="468315"/>
            <a:ext cx="7040892" cy="740472"/>
          </a:xfrm>
        </p:spPr>
        <p:style>
          <a:lnRef idx="0">
            <a:scrgbClr r="0" g="0" b="0"/>
          </a:lnRef>
          <a:fillRef idx="1002">
            <a:schemeClr val="dk2"/>
          </a:fillRef>
          <a:effectRef idx="0">
            <a:scrgbClr r="0" g="0" b="0"/>
          </a:effectRef>
          <a:fontRef idx="major"/>
        </p:style>
        <p:txBody>
          <a:bodyPr>
            <a:normAutofit fontScale="90000"/>
          </a:bodyPr>
          <a:lstStyle/>
          <a:p>
            <a:r>
              <a:rPr lang="en-US" b="1" dirty="0">
                <a:solidFill>
                  <a:schemeClr val="bg1"/>
                </a:solidFill>
              </a:rPr>
              <a:t>Assertions</a:t>
            </a:r>
          </a:p>
        </p:txBody>
      </p:sp>
      <p:pic>
        <p:nvPicPr>
          <p:cNvPr id="4" name="Picture 3">
            <a:extLst>
              <a:ext uri="{FF2B5EF4-FFF2-40B4-BE49-F238E27FC236}">
                <a16:creationId xmlns:a16="http://schemas.microsoft.com/office/drawing/2014/main" id="{707B69BB-14BC-43AF-9F85-5333EA10657E}"/>
              </a:ext>
            </a:extLst>
          </p:cNvPr>
          <p:cNvPicPr>
            <a:picLocks noChangeAspect="1"/>
          </p:cNvPicPr>
          <p:nvPr/>
        </p:nvPicPr>
        <p:blipFill>
          <a:blip r:embed="rId2"/>
          <a:stretch>
            <a:fillRect/>
          </a:stretch>
        </p:blipFill>
        <p:spPr>
          <a:xfrm>
            <a:off x="6365289" y="2020869"/>
            <a:ext cx="5543688" cy="3322021"/>
          </a:xfrm>
          <a:prstGeom prst="rect">
            <a:avLst/>
          </a:prstGeom>
        </p:spPr>
      </p:pic>
      <p:pic>
        <p:nvPicPr>
          <p:cNvPr id="6" name="Picture 5">
            <a:extLst>
              <a:ext uri="{FF2B5EF4-FFF2-40B4-BE49-F238E27FC236}">
                <a16:creationId xmlns:a16="http://schemas.microsoft.com/office/drawing/2014/main" id="{071FEA7E-E4A7-4E8A-ADCE-AE46CE04BF0C}"/>
              </a:ext>
            </a:extLst>
          </p:cNvPr>
          <p:cNvPicPr>
            <a:picLocks noChangeAspect="1"/>
          </p:cNvPicPr>
          <p:nvPr/>
        </p:nvPicPr>
        <p:blipFill>
          <a:blip r:embed="rId3"/>
          <a:stretch>
            <a:fillRect/>
          </a:stretch>
        </p:blipFill>
        <p:spPr>
          <a:xfrm>
            <a:off x="485775" y="2020639"/>
            <a:ext cx="5610225" cy="3171825"/>
          </a:xfrm>
          <a:prstGeom prst="rect">
            <a:avLst/>
          </a:prstGeom>
        </p:spPr>
      </p:pic>
    </p:spTree>
    <p:extLst>
      <p:ext uri="{BB962C8B-B14F-4D97-AF65-F5344CB8AC3E}">
        <p14:creationId xmlns:p14="http://schemas.microsoft.com/office/powerpoint/2010/main" val="201035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915180" y="376082"/>
            <a:ext cx="7040892" cy="515613"/>
          </a:xfrm>
        </p:spPr>
        <p:style>
          <a:lnRef idx="0">
            <a:scrgbClr r="0" g="0" b="0"/>
          </a:lnRef>
          <a:fillRef idx="1002">
            <a:schemeClr val="dk2"/>
          </a:fillRef>
          <a:effectRef idx="0">
            <a:scrgbClr r="0" g="0" b="0"/>
          </a:effectRef>
          <a:fontRef idx="major"/>
        </p:style>
        <p:txBody>
          <a:bodyPr>
            <a:normAutofit fontScale="90000"/>
          </a:bodyPr>
          <a:lstStyle/>
          <a:p>
            <a:r>
              <a:rPr lang="en-US" sz="3200" b="1" dirty="0">
                <a:solidFill>
                  <a:schemeClr val="bg1"/>
                </a:solidFill>
              </a:rPr>
              <a:t>Test Matrix</a:t>
            </a:r>
          </a:p>
        </p:txBody>
      </p:sp>
      <p:sp>
        <p:nvSpPr>
          <p:cNvPr id="6" name="TextBox 5">
            <a:extLst>
              <a:ext uri="{FF2B5EF4-FFF2-40B4-BE49-F238E27FC236}">
                <a16:creationId xmlns:a16="http://schemas.microsoft.com/office/drawing/2014/main" id="{F1AB6482-0E16-4502-A4B7-C9EE2FED0FF8}"/>
              </a:ext>
            </a:extLst>
          </p:cNvPr>
          <p:cNvSpPr txBox="1"/>
          <p:nvPr/>
        </p:nvSpPr>
        <p:spPr>
          <a:xfrm>
            <a:off x="1847025" y="1355064"/>
            <a:ext cx="7177202" cy="3139321"/>
          </a:xfrm>
          <a:prstGeom prst="rect">
            <a:avLst/>
          </a:prstGeom>
          <a:noFill/>
        </p:spPr>
        <p:txBody>
          <a:bodyPr wrap="square">
            <a:spAutoFit/>
          </a:bodyPr>
          <a:lstStyle/>
          <a:p>
            <a:pPr marL="285750" indent="-285750">
              <a:buFont typeface="Wingdings" panose="05000000000000000000" pitchFamily="2" charset="2"/>
              <a:buChar char="Ø"/>
            </a:pPr>
            <a:r>
              <a:rPr lang="en-US" sz="1800" b="1" i="1" dirty="0">
                <a:latin typeface="Times New Roman" panose="02020603050405020304" pitchFamily="18" charset="0"/>
                <a:cs typeface="Times New Roman" panose="02020603050405020304" pitchFamily="18" charset="0"/>
              </a:rPr>
              <a:t>White Box testing</a:t>
            </a:r>
          </a:p>
          <a:p>
            <a:pPr marL="285750" indent="-285750">
              <a:buFont typeface="Wingdings" panose="05000000000000000000" pitchFamily="2" charset="2"/>
              <a:buChar char="Ø"/>
            </a:pPr>
            <a:r>
              <a:rPr lang="en-US" sz="1800" b="1" i="1" dirty="0">
                <a:latin typeface="Times New Roman" panose="02020603050405020304" pitchFamily="18" charset="0"/>
                <a:cs typeface="Times New Roman" panose="02020603050405020304" pitchFamily="18" charset="0"/>
              </a:rPr>
              <a:t>Basic test cases</a:t>
            </a:r>
            <a:r>
              <a:rPr lang="en-US" b="1" i="1" dirty="0">
                <a:latin typeface="Times New Roman" panose="02020603050405020304" pitchFamily="18" charset="0"/>
                <a:cs typeface="Times New Roman" panose="02020603050405020304" pitchFamily="18" charset="0"/>
              </a:rPr>
              <a:t>;</a:t>
            </a:r>
          </a:p>
          <a:p>
            <a:r>
              <a:rPr lang="en-US" sz="1800" b="1"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Testing under reset conditions</a:t>
            </a:r>
          </a:p>
          <a:p>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Basic read operation</a:t>
            </a:r>
          </a:p>
          <a:p>
            <a:r>
              <a:rPr lang="en-US" dirty="0">
                <a:latin typeface="Times New Roman" panose="02020603050405020304" pitchFamily="18" charset="0"/>
                <a:cs typeface="Times New Roman" panose="02020603050405020304" pitchFamily="18" charset="0"/>
              </a:rPr>
              <a:t>                Basic write</a:t>
            </a:r>
            <a:r>
              <a:rPr lang="en-US" sz="1800" dirty="0">
                <a:latin typeface="Times New Roman" panose="02020603050405020304" pitchFamily="18" charset="0"/>
                <a:cs typeface="Times New Roman" panose="02020603050405020304" pitchFamily="18" charset="0"/>
              </a:rPr>
              <a:t> operation</a:t>
            </a:r>
          </a:p>
          <a:p>
            <a:pPr marL="285750" indent="-285750">
              <a:buFont typeface="Wingdings" panose="05000000000000000000" pitchFamily="2" charset="2"/>
              <a:buChar char="Ø"/>
            </a:pPr>
            <a:r>
              <a:rPr lang="en-US" sz="1800" b="1" i="1" dirty="0">
                <a:latin typeface="Times New Roman" panose="02020603050405020304" pitchFamily="18" charset="0"/>
                <a:cs typeface="Times New Roman" panose="02020603050405020304" pitchFamily="18" charset="0"/>
              </a:rPr>
              <a:t>Complex test cases:</a:t>
            </a:r>
            <a:r>
              <a:rPr lang="en-US" sz="1800" i="1" dirty="0">
                <a:latin typeface="Times New Roman" panose="02020603050405020304" pitchFamily="18" charset="0"/>
                <a:cs typeface="Times New Roman" panose="02020603050405020304" pitchFamily="18" charset="0"/>
              </a:rPr>
              <a:t> </a:t>
            </a:r>
          </a:p>
          <a:p>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t>
            </a:r>
            <a:r>
              <a:rPr lang="en-US" sz="1800" dirty="0">
                <a:latin typeface="Times New Roman" panose="02020603050405020304" pitchFamily="18" charset="0"/>
                <a:cs typeface="Times New Roman" panose="02020603050405020304" pitchFamily="18" charset="0"/>
              </a:rPr>
              <a:t>oncurrent events like read after write and write after read</a:t>
            </a:r>
          </a:p>
          <a:p>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Consecutive writes after read &amp; Consecutive reads after write</a:t>
            </a:r>
          </a:p>
          <a:p>
            <a:r>
              <a:rPr lang="en-US" sz="1800" dirty="0">
                <a:latin typeface="Times New Roman" panose="02020603050405020304" pitchFamily="18" charset="0"/>
                <a:cs typeface="Times New Roman" panose="02020603050405020304" pitchFamily="18" charset="0"/>
              </a:rPr>
              <a:t>               Checking for the conditions like </a:t>
            </a:r>
            <a:r>
              <a:rPr lang="en-US" sz="1800" dirty="0" err="1">
                <a:latin typeface="Times New Roman" panose="02020603050405020304" pitchFamily="18" charset="0"/>
                <a:cs typeface="Times New Roman" panose="02020603050405020304" pitchFamily="18" charset="0"/>
              </a:rPr>
              <a:t>fifo_full</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fifo_empty</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Compare the </a:t>
            </a:r>
            <a:r>
              <a:rPr lang="en-US" sz="1800" b="1" dirty="0" err="1">
                <a:latin typeface="Times New Roman" panose="02020603050405020304" pitchFamily="18" charset="0"/>
                <a:cs typeface="Times New Roman" panose="02020603050405020304" pitchFamily="18" charset="0"/>
              </a:rPr>
              <a:t>data_in</a:t>
            </a:r>
            <a:r>
              <a:rPr lang="en-US" sz="1800" dirty="0">
                <a:latin typeface="Times New Roman" panose="02020603050405020304" pitchFamily="18" charset="0"/>
                <a:cs typeface="Times New Roman" panose="02020603050405020304" pitchFamily="18" charset="0"/>
              </a:rPr>
              <a:t> with </a:t>
            </a:r>
            <a:r>
              <a:rPr lang="en-US" sz="1800" b="1" dirty="0" err="1">
                <a:latin typeface="Times New Roman" panose="02020603050405020304" pitchFamily="18" charset="0"/>
                <a:cs typeface="Times New Roman" panose="02020603050405020304" pitchFamily="18" charset="0"/>
              </a:rPr>
              <a:t>data_out</a:t>
            </a:r>
            <a:r>
              <a:rPr lang="en-US" sz="1800" dirty="0">
                <a:latin typeface="Times New Roman" panose="02020603050405020304" pitchFamily="18" charset="0"/>
                <a:cs typeface="Times New Roman" panose="02020603050405020304" pitchFamily="18" charset="0"/>
              </a:rPr>
              <a:t> and check the errors if any.</a:t>
            </a:r>
          </a:p>
          <a:p>
            <a:pPr marL="285750" lvl="1"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Other testcase scenarios: </a:t>
            </a:r>
            <a:r>
              <a:rPr lang="en-US" sz="1800" i="0" dirty="0">
                <a:latin typeface="Times New Roman" panose="02020603050405020304" pitchFamily="18" charset="0"/>
                <a:cs typeface="Times New Roman" panose="02020603050405020304" pitchFamily="18" charset="0"/>
              </a:rPr>
              <a:t>bug injecting and testing scenario</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115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811941" y="468315"/>
            <a:ext cx="7040892" cy="740472"/>
          </a:xfrm>
        </p:spPr>
        <p:style>
          <a:lnRef idx="0">
            <a:scrgbClr r="0" g="0" b="0"/>
          </a:lnRef>
          <a:fillRef idx="1002">
            <a:schemeClr val="dk2"/>
          </a:fillRef>
          <a:effectRef idx="0">
            <a:scrgbClr r="0" g="0" b="0"/>
          </a:effectRef>
          <a:fontRef idx="major"/>
        </p:style>
        <p:txBody>
          <a:bodyPr>
            <a:normAutofit fontScale="90000"/>
          </a:bodyPr>
          <a:lstStyle/>
          <a:p>
            <a:r>
              <a:rPr lang="en-US" b="1" dirty="0">
                <a:solidFill>
                  <a:schemeClr val="bg1"/>
                </a:solidFill>
              </a:rPr>
              <a:t>SV Simulation Results</a:t>
            </a:r>
          </a:p>
        </p:txBody>
      </p:sp>
      <p:pic>
        <p:nvPicPr>
          <p:cNvPr id="4" name="Picture 3">
            <a:extLst>
              <a:ext uri="{FF2B5EF4-FFF2-40B4-BE49-F238E27FC236}">
                <a16:creationId xmlns:a16="http://schemas.microsoft.com/office/drawing/2014/main" id="{5467ADAA-B46A-4278-B149-52A38FCE6610}"/>
              </a:ext>
            </a:extLst>
          </p:cNvPr>
          <p:cNvPicPr>
            <a:picLocks noChangeAspect="1"/>
          </p:cNvPicPr>
          <p:nvPr/>
        </p:nvPicPr>
        <p:blipFill>
          <a:blip r:embed="rId2"/>
          <a:stretch>
            <a:fillRect/>
          </a:stretch>
        </p:blipFill>
        <p:spPr>
          <a:xfrm>
            <a:off x="1622072" y="1661155"/>
            <a:ext cx="9080978" cy="4480588"/>
          </a:xfrm>
          <a:prstGeom prst="rect">
            <a:avLst/>
          </a:prstGeom>
        </p:spPr>
      </p:pic>
    </p:spTree>
    <p:extLst>
      <p:ext uri="{BB962C8B-B14F-4D97-AF65-F5344CB8AC3E}">
        <p14:creationId xmlns:p14="http://schemas.microsoft.com/office/powerpoint/2010/main" val="3263689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811941" y="468315"/>
            <a:ext cx="7040892" cy="740472"/>
          </a:xfrm>
        </p:spPr>
        <p:style>
          <a:lnRef idx="0">
            <a:scrgbClr r="0" g="0" b="0"/>
          </a:lnRef>
          <a:fillRef idx="1002">
            <a:schemeClr val="dk2"/>
          </a:fillRef>
          <a:effectRef idx="0">
            <a:scrgbClr r="0" g="0" b="0"/>
          </a:effectRef>
          <a:fontRef idx="major"/>
        </p:style>
        <p:txBody>
          <a:bodyPr>
            <a:normAutofit fontScale="90000"/>
          </a:bodyPr>
          <a:lstStyle/>
          <a:p>
            <a:r>
              <a:rPr lang="en-US" b="1" dirty="0">
                <a:solidFill>
                  <a:schemeClr val="bg1"/>
                </a:solidFill>
              </a:rPr>
              <a:t>SV Simulation Results</a:t>
            </a:r>
          </a:p>
        </p:txBody>
      </p:sp>
      <p:sp>
        <p:nvSpPr>
          <p:cNvPr id="5" name="TextBox 4">
            <a:extLst>
              <a:ext uri="{FF2B5EF4-FFF2-40B4-BE49-F238E27FC236}">
                <a16:creationId xmlns:a16="http://schemas.microsoft.com/office/drawing/2014/main" id="{AD040F02-0507-43BC-B271-A02B457BE2C2}"/>
              </a:ext>
            </a:extLst>
          </p:cNvPr>
          <p:cNvSpPr txBox="1"/>
          <p:nvPr/>
        </p:nvSpPr>
        <p:spPr>
          <a:xfrm>
            <a:off x="1062129" y="1467166"/>
            <a:ext cx="1221296" cy="40011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sz="2000" b="1" dirty="0">
                <a:latin typeface="+mj-lt"/>
              </a:rPr>
              <a:t>FIFO Full</a:t>
            </a:r>
          </a:p>
        </p:txBody>
      </p:sp>
      <p:pic>
        <p:nvPicPr>
          <p:cNvPr id="6" name="Picture 5">
            <a:extLst>
              <a:ext uri="{FF2B5EF4-FFF2-40B4-BE49-F238E27FC236}">
                <a16:creationId xmlns:a16="http://schemas.microsoft.com/office/drawing/2014/main" id="{88017AA1-69D5-47F5-95FA-43FD9CDA0135}"/>
              </a:ext>
            </a:extLst>
          </p:cNvPr>
          <p:cNvPicPr>
            <a:picLocks noChangeAspect="1"/>
          </p:cNvPicPr>
          <p:nvPr/>
        </p:nvPicPr>
        <p:blipFill>
          <a:blip r:embed="rId2"/>
          <a:stretch>
            <a:fillRect/>
          </a:stretch>
        </p:blipFill>
        <p:spPr>
          <a:xfrm>
            <a:off x="1062129" y="4238512"/>
            <a:ext cx="10848975" cy="1885950"/>
          </a:xfrm>
          <a:prstGeom prst="rect">
            <a:avLst/>
          </a:prstGeom>
        </p:spPr>
      </p:pic>
      <p:pic>
        <p:nvPicPr>
          <p:cNvPr id="8" name="Picture 7">
            <a:extLst>
              <a:ext uri="{FF2B5EF4-FFF2-40B4-BE49-F238E27FC236}">
                <a16:creationId xmlns:a16="http://schemas.microsoft.com/office/drawing/2014/main" id="{5D11BA89-BA8B-477C-A92B-D351E1207672}"/>
              </a:ext>
            </a:extLst>
          </p:cNvPr>
          <p:cNvPicPr>
            <a:picLocks noChangeAspect="1"/>
          </p:cNvPicPr>
          <p:nvPr/>
        </p:nvPicPr>
        <p:blipFill>
          <a:blip r:embed="rId3"/>
          <a:stretch>
            <a:fillRect/>
          </a:stretch>
        </p:blipFill>
        <p:spPr>
          <a:xfrm>
            <a:off x="1062129" y="1872670"/>
            <a:ext cx="11058525" cy="1266825"/>
          </a:xfrm>
          <a:prstGeom prst="rect">
            <a:avLst/>
          </a:prstGeom>
        </p:spPr>
      </p:pic>
      <p:sp>
        <p:nvSpPr>
          <p:cNvPr id="9" name="TextBox 8">
            <a:extLst>
              <a:ext uri="{FF2B5EF4-FFF2-40B4-BE49-F238E27FC236}">
                <a16:creationId xmlns:a16="http://schemas.microsoft.com/office/drawing/2014/main" id="{2547C993-7381-4429-9187-8E0E7B42DD2E}"/>
              </a:ext>
            </a:extLst>
          </p:cNvPr>
          <p:cNvSpPr txBox="1"/>
          <p:nvPr/>
        </p:nvSpPr>
        <p:spPr>
          <a:xfrm>
            <a:off x="1062129" y="3838402"/>
            <a:ext cx="1678536" cy="40011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sz="2000" b="1" dirty="0">
                <a:latin typeface="+mj-lt"/>
              </a:rPr>
              <a:t>FIFO EMPTY</a:t>
            </a:r>
          </a:p>
        </p:txBody>
      </p:sp>
    </p:spTree>
    <p:extLst>
      <p:ext uri="{BB962C8B-B14F-4D97-AF65-F5344CB8AC3E}">
        <p14:creationId xmlns:p14="http://schemas.microsoft.com/office/powerpoint/2010/main" val="3280754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811941" y="468315"/>
            <a:ext cx="7040892" cy="740472"/>
          </a:xfrm>
        </p:spPr>
        <p:style>
          <a:lnRef idx="0">
            <a:scrgbClr r="0" g="0" b="0"/>
          </a:lnRef>
          <a:fillRef idx="1002">
            <a:schemeClr val="dk2"/>
          </a:fillRef>
          <a:effectRef idx="0">
            <a:scrgbClr r="0" g="0" b="0"/>
          </a:effectRef>
          <a:fontRef idx="major"/>
        </p:style>
        <p:txBody>
          <a:bodyPr>
            <a:normAutofit fontScale="90000"/>
          </a:bodyPr>
          <a:lstStyle/>
          <a:p>
            <a:r>
              <a:rPr lang="en-US" b="1" dirty="0">
                <a:solidFill>
                  <a:schemeClr val="bg1"/>
                </a:solidFill>
              </a:rPr>
              <a:t>UVM Simulation Results</a:t>
            </a:r>
          </a:p>
        </p:txBody>
      </p:sp>
      <p:pic>
        <p:nvPicPr>
          <p:cNvPr id="4" name="Picture 3">
            <a:extLst>
              <a:ext uri="{FF2B5EF4-FFF2-40B4-BE49-F238E27FC236}">
                <a16:creationId xmlns:a16="http://schemas.microsoft.com/office/drawing/2014/main" id="{673A7783-7750-4493-8B26-CD4C61D545F2}"/>
              </a:ext>
            </a:extLst>
          </p:cNvPr>
          <p:cNvPicPr>
            <a:picLocks noChangeAspect="1"/>
          </p:cNvPicPr>
          <p:nvPr/>
        </p:nvPicPr>
        <p:blipFill>
          <a:blip r:embed="rId2"/>
          <a:stretch>
            <a:fillRect/>
          </a:stretch>
        </p:blipFill>
        <p:spPr>
          <a:xfrm>
            <a:off x="1909455" y="1509097"/>
            <a:ext cx="7134225" cy="5019675"/>
          </a:xfrm>
          <a:prstGeom prst="rect">
            <a:avLst/>
          </a:prstGeom>
        </p:spPr>
      </p:pic>
    </p:spTree>
    <p:extLst>
      <p:ext uri="{BB962C8B-B14F-4D97-AF65-F5344CB8AC3E}">
        <p14:creationId xmlns:p14="http://schemas.microsoft.com/office/powerpoint/2010/main" val="1266475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1811941" y="468315"/>
            <a:ext cx="7040892" cy="740472"/>
          </a:xfrm>
        </p:spPr>
        <p:style>
          <a:lnRef idx="0">
            <a:scrgbClr r="0" g="0" b="0"/>
          </a:lnRef>
          <a:fillRef idx="1002">
            <a:schemeClr val="dk2"/>
          </a:fillRef>
          <a:effectRef idx="0">
            <a:scrgbClr r="0" g="0" b="0"/>
          </a:effectRef>
          <a:fontRef idx="major"/>
        </p:style>
        <p:txBody>
          <a:bodyPr>
            <a:normAutofit fontScale="90000"/>
          </a:bodyPr>
          <a:lstStyle/>
          <a:p>
            <a:r>
              <a:rPr lang="en-US" b="1" dirty="0">
                <a:solidFill>
                  <a:schemeClr val="bg1"/>
                </a:solidFill>
              </a:rPr>
              <a:t>UVM Simulation Results</a:t>
            </a:r>
          </a:p>
        </p:txBody>
      </p:sp>
      <p:pic>
        <p:nvPicPr>
          <p:cNvPr id="7" name="Picture 6">
            <a:extLst>
              <a:ext uri="{FF2B5EF4-FFF2-40B4-BE49-F238E27FC236}">
                <a16:creationId xmlns:a16="http://schemas.microsoft.com/office/drawing/2014/main" id="{4FF1419C-6DB9-46A3-9EE7-A28E73DFBC01}"/>
              </a:ext>
            </a:extLst>
          </p:cNvPr>
          <p:cNvPicPr>
            <a:picLocks noChangeAspect="1"/>
          </p:cNvPicPr>
          <p:nvPr/>
        </p:nvPicPr>
        <p:blipFill>
          <a:blip r:embed="rId2"/>
          <a:stretch>
            <a:fillRect/>
          </a:stretch>
        </p:blipFill>
        <p:spPr>
          <a:xfrm>
            <a:off x="994901" y="1928100"/>
            <a:ext cx="10306050" cy="1666875"/>
          </a:xfrm>
          <a:prstGeom prst="rect">
            <a:avLst/>
          </a:prstGeom>
        </p:spPr>
      </p:pic>
      <p:pic>
        <p:nvPicPr>
          <p:cNvPr id="9" name="Picture 8">
            <a:extLst>
              <a:ext uri="{FF2B5EF4-FFF2-40B4-BE49-F238E27FC236}">
                <a16:creationId xmlns:a16="http://schemas.microsoft.com/office/drawing/2014/main" id="{D8EDBF83-94B8-48D5-ABA6-7A33CB0BF2D6}"/>
              </a:ext>
            </a:extLst>
          </p:cNvPr>
          <p:cNvPicPr>
            <a:picLocks noChangeAspect="1"/>
          </p:cNvPicPr>
          <p:nvPr/>
        </p:nvPicPr>
        <p:blipFill>
          <a:blip r:embed="rId3"/>
          <a:stretch>
            <a:fillRect/>
          </a:stretch>
        </p:blipFill>
        <p:spPr>
          <a:xfrm>
            <a:off x="1061576" y="4554926"/>
            <a:ext cx="10172700" cy="1590675"/>
          </a:xfrm>
          <a:prstGeom prst="rect">
            <a:avLst/>
          </a:prstGeom>
        </p:spPr>
      </p:pic>
      <p:sp>
        <p:nvSpPr>
          <p:cNvPr id="10" name="TextBox 9">
            <a:extLst>
              <a:ext uri="{FF2B5EF4-FFF2-40B4-BE49-F238E27FC236}">
                <a16:creationId xmlns:a16="http://schemas.microsoft.com/office/drawing/2014/main" id="{7984F4E4-2A6F-4348-A52E-64D35ACF40B4}"/>
              </a:ext>
            </a:extLst>
          </p:cNvPr>
          <p:cNvSpPr txBox="1"/>
          <p:nvPr/>
        </p:nvSpPr>
        <p:spPr>
          <a:xfrm>
            <a:off x="994901" y="1507736"/>
            <a:ext cx="1286255" cy="41484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2000" b="1" dirty="0">
                <a:latin typeface="+mj-lt"/>
              </a:rPr>
              <a:t>FIFO Full</a:t>
            </a:r>
          </a:p>
        </p:txBody>
      </p:sp>
      <p:sp>
        <p:nvSpPr>
          <p:cNvPr id="11" name="TextBox 10">
            <a:extLst>
              <a:ext uri="{FF2B5EF4-FFF2-40B4-BE49-F238E27FC236}">
                <a16:creationId xmlns:a16="http://schemas.microsoft.com/office/drawing/2014/main" id="{1E2E5F14-B1A3-449A-8E9C-28203EFEA951}"/>
              </a:ext>
            </a:extLst>
          </p:cNvPr>
          <p:cNvSpPr txBox="1"/>
          <p:nvPr/>
        </p:nvSpPr>
        <p:spPr>
          <a:xfrm>
            <a:off x="1061576" y="4154816"/>
            <a:ext cx="1678536" cy="40011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sz="2000" b="1" dirty="0">
                <a:latin typeface="+mj-lt"/>
              </a:rPr>
              <a:t>FIFO EMPTY</a:t>
            </a:r>
          </a:p>
        </p:txBody>
      </p:sp>
    </p:spTree>
    <p:extLst>
      <p:ext uri="{BB962C8B-B14F-4D97-AF65-F5344CB8AC3E}">
        <p14:creationId xmlns:p14="http://schemas.microsoft.com/office/powerpoint/2010/main" val="2732367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AF6CAB8-AB78-2306-BD11-0AAA4389EB7C}"/>
              </a:ext>
            </a:extLst>
          </p:cNvPr>
          <p:cNvSpPr>
            <a:spLocks noGrp="1"/>
          </p:cNvSpPr>
          <p:nvPr>
            <p:ph type="sldNum" sz="quarter" idx="12"/>
          </p:nvPr>
        </p:nvSpPr>
        <p:spPr/>
        <p:txBody>
          <a:bodyPr/>
          <a:lstStyle/>
          <a:p>
            <a:fld id="{294A09A9-5501-47C1-A89A-A340965A2BE2}" type="slidenum">
              <a:rPr lang="en-US" smtClean="0"/>
              <a:t>24</a:t>
            </a:fld>
            <a:endParaRPr lang="en-US" dirty="0"/>
          </a:p>
        </p:txBody>
      </p:sp>
      <p:sp>
        <p:nvSpPr>
          <p:cNvPr id="6" name="TextBox 5">
            <a:extLst>
              <a:ext uri="{FF2B5EF4-FFF2-40B4-BE49-F238E27FC236}">
                <a16:creationId xmlns:a16="http://schemas.microsoft.com/office/drawing/2014/main" id="{3B1786E7-F06F-54EF-8BE3-5CACC2A80167}"/>
              </a:ext>
            </a:extLst>
          </p:cNvPr>
          <p:cNvSpPr txBox="1"/>
          <p:nvPr/>
        </p:nvSpPr>
        <p:spPr>
          <a:xfrm>
            <a:off x="430306" y="550109"/>
            <a:ext cx="5378823" cy="523220"/>
          </a:xfrm>
          <a:prstGeom prst="rect">
            <a:avLst/>
          </a:prstGeom>
          <a:ln>
            <a:solidFill>
              <a:schemeClr val="tx1"/>
            </a:solidFill>
          </a:ln>
        </p:spPr>
        <p:style>
          <a:lnRef idx="1">
            <a:schemeClr val="accent6"/>
          </a:lnRef>
          <a:fillRef idx="1002">
            <a:schemeClr val="dk2"/>
          </a:fillRef>
          <a:effectRef idx="2">
            <a:schemeClr val="accent6"/>
          </a:effectRef>
          <a:fontRef idx="minor">
            <a:schemeClr val="lt1"/>
          </a:fontRef>
        </p:style>
        <p:txBody>
          <a:bodyPr wrap="square" rtlCol="0">
            <a:spAutoFit/>
          </a:bodyPr>
          <a:lstStyle/>
          <a:p>
            <a:pPr algn="ctr"/>
            <a:r>
              <a:rPr lang="en-US" sz="2800" b="1" kern="100" dirty="0">
                <a:solidFill>
                  <a:schemeClr val="bg1"/>
                </a:solidFill>
                <a:effectLst/>
                <a:latin typeface="+mj-lt"/>
                <a:ea typeface="Malgun Gothic" panose="020B0503020000020004" pitchFamily="34" charset="-127"/>
                <a:cs typeface="Times New Roman" panose="02020603050405020304" pitchFamily="18" charset="0"/>
              </a:rPr>
              <a:t>Challenges Faced</a:t>
            </a:r>
          </a:p>
        </p:txBody>
      </p:sp>
      <p:sp>
        <p:nvSpPr>
          <p:cNvPr id="7" name="TextBox 6">
            <a:extLst>
              <a:ext uri="{FF2B5EF4-FFF2-40B4-BE49-F238E27FC236}">
                <a16:creationId xmlns:a16="http://schemas.microsoft.com/office/drawing/2014/main" id="{CE447D31-1C06-4033-BCB1-79810FCD34D3}"/>
              </a:ext>
            </a:extLst>
          </p:cNvPr>
          <p:cNvSpPr txBox="1"/>
          <p:nvPr/>
        </p:nvSpPr>
        <p:spPr>
          <a:xfrm>
            <a:off x="6185043" y="550109"/>
            <a:ext cx="5557907" cy="523220"/>
          </a:xfrm>
          <a:prstGeom prst="rect">
            <a:avLst/>
          </a:prstGeom>
          <a:ln>
            <a:solidFill>
              <a:schemeClr val="tx1"/>
            </a:solidFill>
          </a:ln>
        </p:spPr>
        <p:style>
          <a:lnRef idx="1">
            <a:schemeClr val="accent6"/>
          </a:lnRef>
          <a:fillRef idx="1002">
            <a:schemeClr val="dk2"/>
          </a:fillRef>
          <a:effectRef idx="2">
            <a:schemeClr val="accent6"/>
          </a:effectRef>
          <a:fontRef idx="minor">
            <a:schemeClr val="lt1"/>
          </a:fontRef>
        </p:style>
        <p:txBody>
          <a:bodyPr wrap="square" rtlCol="0">
            <a:spAutoFit/>
          </a:bodyPr>
          <a:lstStyle/>
          <a:p>
            <a:pPr algn="ctr"/>
            <a:r>
              <a:rPr lang="en-US" sz="2800" b="1" kern="100" dirty="0">
                <a:solidFill>
                  <a:schemeClr val="bg1"/>
                </a:solidFill>
                <a:effectLst/>
                <a:latin typeface="+mj-lt"/>
                <a:ea typeface="Malgun Gothic" panose="020B0503020000020004" pitchFamily="34" charset="-127"/>
                <a:cs typeface="Times New Roman" panose="02020603050405020304" pitchFamily="18" charset="0"/>
              </a:rPr>
              <a:t>Challenges Resolved</a:t>
            </a:r>
          </a:p>
        </p:txBody>
      </p:sp>
      <p:sp>
        <p:nvSpPr>
          <p:cNvPr id="2" name="Rectangle 1"/>
          <p:cNvSpPr/>
          <p:nvPr/>
        </p:nvSpPr>
        <p:spPr>
          <a:xfrm>
            <a:off x="430306" y="1461247"/>
            <a:ext cx="5280212" cy="5182444"/>
          </a:xfrm>
          <a:prstGeom prst="rect">
            <a:avLst/>
          </a:prstGeom>
        </p:spPr>
        <p:txBody>
          <a:bodyPr wrap="square">
            <a:spAutoFit/>
          </a:bodyPr>
          <a:lstStyle/>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Received </a:t>
            </a:r>
            <a:r>
              <a:rPr lang="en-US" b="1" dirty="0" err="1">
                <a:latin typeface="Times New Roman" panose="02020603050405020304" pitchFamily="18" charset="0"/>
                <a:cs typeface="Times New Roman" panose="02020603050405020304" pitchFamily="18" charset="0"/>
              </a:rPr>
              <a:t>data_out</a:t>
            </a:r>
            <a:r>
              <a:rPr lang="en-US" dirty="0">
                <a:latin typeface="Times New Roman" panose="02020603050405020304" pitchFamily="18" charset="0"/>
                <a:cs typeface="Times New Roman" panose="02020603050405020304" pitchFamily="18" charset="0"/>
              </a:rPr>
              <a:t> value as ‘x’ initially due to improper connection during the initial run.</a:t>
            </a:r>
          </a:p>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Incorrect values for read address increment.</a:t>
            </a:r>
          </a:p>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Not received correct full and empty values after read and write transfers.</a:t>
            </a:r>
          </a:p>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Not getting the updated data out after every read transfer in monitor and driver.</a:t>
            </a:r>
          </a:p>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Did not implement the error correction and detection mechanism to correctly verify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asynchronous FIFO.</a:t>
            </a:r>
          </a:p>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Race Conditions between write and read pointers.</a:t>
            </a:r>
          </a:p>
          <a:p>
            <a:pPr marL="274320" indent="-285750">
              <a:lnSpc>
                <a:spcPct val="150000"/>
              </a:lnSpc>
              <a:spcBef>
                <a:spcPts val="120"/>
              </a:spcBef>
              <a:spcAft>
                <a:spcPts val="12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Unable to reset back to the normal operation.</a:t>
            </a:r>
          </a:p>
        </p:txBody>
      </p:sp>
      <p:sp>
        <p:nvSpPr>
          <p:cNvPr id="8" name="Rectangle 7"/>
          <p:cNvSpPr/>
          <p:nvPr/>
        </p:nvSpPr>
        <p:spPr>
          <a:xfrm>
            <a:off x="6000108" y="1461247"/>
            <a:ext cx="5742842" cy="5016758"/>
          </a:xfrm>
          <a:prstGeom prst="rect">
            <a:avLst/>
          </a:prstGeom>
        </p:spPr>
        <p:txBody>
          <a:bodyPr wrap="square">
            <a:spAutoFit/>
          </a:bodyPr>
          <a:lstStyle/>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Checked thoroughly the entire testbench and identified the improper connection in between the classes and resolved the issue by placing a proper connection  between the components</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Identified the incorrect values for the read address increment due to extra delays in the few testbench components and resolved by reducing the delay and  checking the proper flow</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Resolved connectivity issues between the design and testbench for achieving full and empty conditions by meticulously verifying the interface connection, noting disparities in received values in the transcript, and ultimately resolving the issue by removing clocking blocks.</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Identified the previous values getting updated in the monitor for two every two read operations performed and resolved the issue by providing the same delays in both driver and monitor</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Identified the different values propagating from </a:t>
            </a:r>
            <a:r>
              <a:rPr lang="en-US" sz="1600" b="1" dirty="0">
                <a:latin typeface="Times New Roman" panose="02020603050405020304" pitchFamily="18" charset="0"/>
                <a:cs typeface="Times New Roman" panose="02020603050405020304" pitchFamily="18" charset="0"/>
              </a:rPr>
              <a:t>data_in</a:t>
            </a:r>
            <a:r>
              <a:rPr lang="en-US" sz="1600" dirty="0">
                <a:latin typeface="Times New Roman" panose="02020603050405020304" pitchFamily="18" charset="0"/>
                <a:cs typeface="Times New Roman" panose="02020603050405020304" pitchFamily="18" charset="0"/>
              </a:rPr>
              <a:t> to </a:t>
            </a:r>
            <a:r>
              <a:rPr lang="en-US" sz="1600" b="1" dirty="0" err="1">
                <a:latin typeface="Times New Roman" panose="02020603050405020304" pitchFamily="18" charset="0"/>
                <a:cs typeface="Times New Roman" panose="02020603050405020304" pitchFamily="18" charset="0"/>
              </a:rPr>
              <a:t>data_out</a:t>
            </a:r>
            <a:r>
              <a:rPr lang="en-US" sz="1600" dirty="0">
                <a:latin typeface="Times New Roman" panose="02020603050405020304" pitchFamily="18" charset="0"/>
                <a:cs typeface="Times New Roman" panose="02020603050405020304" pitchFamily="18" charset="0"/>
              </a:rPr>
              <a:t> resulted in race conditions between read and write pointers and resolved it by checking and modifying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code thoroughly in both design and testbench</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Identified &amp; corrected the incorrect reset value assigned in the top level testbench of uvm testbench verification hierarchy</a:t>
            </a:r>
          </a:p>
        </p:txBody>
      </p:sp>
    </p:spTree>
    <p:extLst>
      <p:ext uri="{BB962C8B-B14F-4D97-AF65-F5344CB8AC3E}">
        <p14:creationId xmlns:p14="http://schemas.microsoft.com/office/powerpoint/2010/main" val="1473229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AF6CAB8-AB78-2306-BD11-0AAA4389EB7C}"/>
              </a:ext>
            </a:extLst>
          </p:cNvPr>
          <p:cNvSpPr>
            <a:spLocks noGrp="1"/>
          </p:cNvSpPr>
          <p:nvPr>
            <p:ph type="sldNum" sz="quarter" idx="12"/>
          </p:nvPr>
        </p:nvSpPr>
        <p:spPr/>
        <p:txBody>
          <a:bodyPr/>
          <a:lstStyle/>
          <a:p>
            <a:fld id="{294A09A9-5501-47C1-A89A-A340965A2BE2}" type="slidenum">
              <a:rPr lang="en-US" smtClean="0"/>
              <a:t>25</a:t>
            </a:fld>
            <a:endParaRPr lang="en-US" dirty="0"/>
          </a:p>
        </p:txBody>
      </p:sp>
      <p:sp>
        <p:nvSpPr>
          <p:cNvPr id="6" name="TextBox 5">
            <a:extLst>
              <a:ext uri="{FF2B5EF4-FFF2-40B4-BE49-F238E27FC236}">
                <a16:creationId xmlns:a16="http://schemas.microsoft.com/office/drawing/2014/main" id="{3B1786E7-F06F-54EF-8BE3-5CACC2A80167}"/>
              </a:ext>
            </a:extLst>
          </p:cNvPr>
          <p:cNvSpPr txBox="1"/>
          <p:nvPr/>
        </p:nvSpPr>
        <p:spPr>
          <a:xfrm>
            <a:off x="803501" y="550109"/>
            <a:ext cx="5002213" cy="523220"/>
          </a:xfrm>
          <a:prstGeom prst="rect">
            <a:avLst/>
          </a:prstGeom>
          <a:ln>
            <a:solidFill>
              <a:schemeClr val="tx1"/>
            </a:solidFill>
          </a:ln>
        </p:spPr>
        <p:style>
          <a:lnRef idx="1">
            <a:schemeClr val="accent6"/>
          </a:lnRef>
          <a:fillRef idx="1002">
            <a:schemeClr val="dk2"/>
          </a:fillRef>
          <a:effectRef idx="2">
            <a:schemeClr val="accent6"/>
          </a:effectRef>
          <a:fontRef idx="minor">
            <a:schemeClr val="lt1"/>
          </a:fontRef>
        </p:style>
        <p:txBody>
          <a:bodyPr wrap="square" rtlCol="0">
            <a:spAutoFit/>
          </a:bodyPr>
          <a:lstStyle/>
          <a:p>
            <a:pPr algn="ctr"/>
            <a:r>
              <a:rPr lang="en-US" sz="2800" b="1" kern="100" dirty="0">
                <a:solidFill>
                  <a:schemeClr val="bg1"/>
                </a:solidFill>
                <a:effectLst/>
                <a:latin typeface="+mj-lt"/>
                <a:ea typeface="Malgun Gothic" panose="020B0503020000020004" pitchFamily="34" charset="-127"/>
                <a:cs typeface="Times New Roman" panose="02020603050405020304" pitchFamily="18" charset="0"/>
              </a:rPr>
              <a:t>Conclusion</a:t>
            </a:r>
          </a:p>
        </p:txBody>
      </p:sp>
      <p:sp>
        <p:nvSpPr>
          <p:cNvPr id="7" name="TextBox 6">
            <a:extLst>
              <a:ext uri="{FF2B5EF4-FFF2-40B4-BE49-F238E27FC236}">
                <a16:creationId xmlns:a16="http://schemas.microsoft.com/office/drawing/2014/main" id="{CE447D31-1C06-4033-BCB1-79810FCD34D3}"/>
              </a:ext>
            </a:extLst>
          </p:cNvPr>
          <p:cNvSpPr txBox="1"/>
          <p:nvPr/>
        </p:nvSpPr>
        <p:spPr>
          <a:xfrm>
            <a:off x="6255657" y="550109"/>
            <a:ext cx="5050972" cy="523220"/>
          </a:xfrm>
          <a:prstGeom prst="rect">
            <a:avLst/>
          </a:prstGeom>
          <a:ln>
            <a:solidFill>
              <a:schemeClr val="tx1"/>
            </a:solidFill>
          </a:ln>
        </p:spPr>
        <p:style>
          <a:lnRef idx="1">
            <a:schemeClr val="accent6"/>
          </a:lnRef>
          <a:fillRef idx="1002">
            <a:schemeClr val="dk2"/>
          </a:fillRef>
          <a:effectRef idx="2">
            <a:schemeClr val="accent6"/>
          </a:effectRef>
          <a:fontRef idx="minor">
            <a:schemeClr val="lt1"/>
          </a:fontRef>
        </p:style>
        <p:txBody>
          <a:bodyPr wrap="square" rtlCol="0">
            <a:spAutoFit/>
          </a:bodyPr>
          <a:lstStyle/>
          <a:p>
            <a:pPr algn="ctr"/>
            <a:r>
              <a:rPr lang="en-US" sz="2800" b="1" kern="100" dirty="0">
                <a:solidFill>
                  <a:schemeClr val="bg1"/>
                </a:solidFill>
                <a:latin typeface="+mj-lt"/>
                <a:ea typeface="Malgun Gothic" panose="020B0503020000020004" pitchFamily="34" charset="-127"/>
                <a:cs typeface="Times New Roman" panose="02020603050405020304" pitchFamily="18" charset="0"/>
              </a:rPr>
              <a:t>Future work</a:t>
            </a:r>
            <a:endParaRPr lang="en-US" sz="2800" b="1" kern="100" dirty="0">
              <a:solidFill>
                <a:schemeClr val="bg1"/>
              </a:solidFill>
              <a:effectLst/>
              <a:latin typeface="+mj-lt"/>
              <a:ea typeface="Malgun Gothic" panose="020B0503020000020004" pitchFamily="34" charset="-127"/>
              <a:cs typeface="Times New Roman" panose="02020603050405020304" pitchFamily="18" charset="0"/>
            </a:endParaRPr>
          </a:p>
        </p:txBody>
      </p:sp>
      <p:sp>
        <p:nvSpPr>
          <p:cNvPr id="10" name="TextBox 9">
            <a:extLst>
              <a:ext uri="{FF2B5EF4-FFF2-40B4-BE49-F238E27FC236}">
                <a16:creationId xmlns:a16="http://schemas.microsoft.com/office/drawing/2014/main" id="{9F562434-A259-45EE-844A-46E4C5434EF6}"/>
              </a:ext>
            </a:extLst>
          </p:cNvPr>
          <p:cNvSpPr txBox="1"/>
          <p:nvPr/>
        </p:nvSpPr>
        <p:spPr>
          <a:xfrm>
            <a:off x="1114010" y="1521561"/>
            <a:ext cx="4168204" cy="4613058"/>
          </a:xfrm>
          <a:prstGeom prst="rect">
            <a:avLst/>
          </a:prstGeom>
          <a:noFill/>
        </p:spPr>
        <p:txBody>
          <a:bodyPr wrap="square">
            <a:spAutoFit/>
          </a:bodyPr>
          <a:lstStyle/>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The Asynchronous FIFO employs a pointer-based method to detect FULL &amp; EMPTY conditions.</a:t>
            </a:r>
          </a:p>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The Design uses the FIFO memory to manage data in sequential manner </a:t>
            </a:r>
          </a:p>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2-level Synchronizers are used to reduce the risk of metastability</a:t>
            </a:r>
          </a:p>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Implemented Testing strategies like functional testing, boundary conditions testing, random data transactions and asynchronous operation testing</a:t>
            </a:r>
          </a:p>
        </p:txBody>
      </p:sp>
      <p:sp>
        <p:nvSpPr>
          <p:cNvPr id="11" name="TextBox 10">
            <a:extLst>
              <a:ext uri="{FF2B5EF4-FFF2-40B4-BE49-F238E27FC236}">
                <a16:creationId xmlns:a16="http://schemas.microsoft.com/office/drawing/2014/main" id="{87836CB9-87FC-436E-8579-176D5F111BB4}"/>
              </a:ext>
            </a:extLst>
          </p:cNvPr>
          <p:cNvSpPr txBox="1"/>
          <p:nvPr/>
        </p:nvSpPr>
        <p:spPr>
          <a:xfrm>
            <a:off x="6255657" y="1780037"/>
            <a:ext cx="4316026" cy="2951064"/>
          </a:xfrm>
          <a:prstGeom prst="rect">
            <a:avLst/>
          </a:prstGeom>
          <a:noFill/>
        </p:spPr>
        <p:txBody>
          <a:bodyPr wrap="square">
            <a:spAutoFit/>
          </a:bodyPr>
          <a:lstStyle/>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Enhancing the UVM verification techniques such as property based testing</a:t>
            </a:r>
          </a:p>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Optimizing the memory utilization and/ or implementing parallel processing techniques</a:t>
            </a:r>
          </a:p>
          <a:p>
            <a:pPr marL="285750" indent="-285750" algn="l">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Enhancing the Scalability, improving power efficiency.</a:t>
            </a:r>
          </a:p>
        </p:txBody>
      </p:sp>
    </p:spTree>
    <p:extLst>
      <p:ext uri="{BB962C8B-B14F-4D97-AF65-F5344CB8AC3E}">
        <p14:creationId xmlns:p14="http://schemas.microsoft.com/office/powerpoint/2010/main" val="3374077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3746091" y="424069"/>
            <a:ext cx="3941620" cy="740472"/>
          </a:xfrm>
        </p:spPr>
        <p:style>
          <a:lnRef idx="0">
            <a:scrgbClr r="0" g="0" b="0"/>
          </a:lnRef>
          <a:fillRef idx="1002">
            <a:schemeClr val="dk2"/>
          </a:fillRef>
          <a:effectRef idx="0">
            <a:scrgbClr r="0" g="0" b="0"/>
          </a:effectRef>
          <a:fontRef idx="major"/>
        </p:style>
        <p:txBody>
          <a:bodyPr>
            <a:normAutofit fontScale="90000"/>
          </a:bodyPr>
          <a:lstStyle/>
          <a:p>
            <a:r>
              <a:rPr lang="en-US" b="1" dirty="0">
                <a:solidFill>
                  <a:schemeClr val="bg1"/>
                </a:solidFill>
              </a:rPr>
              <a:t>References</a:t>
            </a:r>
          </a:p>
        </p:txBody>
      </p:sp>
      <p:sp>
        <p:nvSpPr>
          <p:cNvPr id="3" name="Text Placeholder 2"/>
          <p:cNvSpPr txBox="1">
            <a:spLocks/>
          </p:cNvSpPr>
          <p:nvPr/>
        </p:nvSpPr>
        <p:spPr>
          <a:xfrm>
            <a:off x="348343" y="1164541"/>
            <a:ext cx="11393714" cy="5366888"/>
          </a:xfrm>
          <a:prstGeom prst="rect">
            <a:avLst/>
          </a:prstGeom>
        </p:spPr>
        <p:txBody>
          <a:bodyPr/>
          <a:lst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Tx/>
              <a:buNone/>
            </a:pPr>
            <a:endParaRPr lang="en-US"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895E58E-FBEA-4E42-8A26-462F73AB2959}"/>
              </a:ext>
            </a:extLst>
          </p:cNvPr>
          <p:cNvSpPr txBox="1"/>
          <p:nvPr/>
        </p:nvSpPr>
        <p:spPr>
          <a:xfrm>
            <a:off x="1029811" y="1541456"/>
            <a:ext cx="10333608" cy="4613058"/>
          </a:xfrm>
          <a:prstGeom prst="rect">
            <a:avLst/>
          </a:prstGeom>
          <a:noFill/>
        </p:spPr>
        <p:txBody>
          <a:bodyPr wrap="square">
            <a:spAutoFit/>
          </a:bodyPr>
          <a:lstStyle/>
          <a:p>
            <a:pPr marL="285750" indent="-285750">
              <a:lnSpc>
                <a:spcPct val="150000"/>
              </a:lnSpc>
              <a:buClrTx/>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https://vlsiverify.com/verilog/verilog-codes/asynchronous-fifo/</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https://vlsiuniverse.blogspot.com/2013/09/synchronization-schemes.html</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https://www.verilogpro.com/asynchronous-fifo-design</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Clifford E. Cummings, Sunburst Design, “Simulation and Synthesis Techniques for Asynchronous FIFO Design” </a:t>
            </a:r>
            <a:r>
              <a:rPr lang="en-US" sz="18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http://www.sunburst-design.com/papers/CummingsSNUG2002SJ_FIFO1.pdf</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Karthik Rao, Nitin Goel, Prashant Bhargava, “Design Transition from Sync to Async: Design and Verification Challenges”, </a:t>
            </a:r>
            <a:r>
              <a:rPr lang="en-US" sz="18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https://www.design-reuse.com/articles/31630/design-transition-from-sync-to-async-design-and-verification-challenges.html</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https://verificationguide.com/uvm/uvm-testbench-architecture/</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https://hardwaregeeksblog.files.wordpress.com/2016/12/fifodepthcalculationmadeeasy2.pdf</a:t>
            </a:r>
            <a:r>
              <a:rPr lang="en-US" sz="18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Venkatesh Patil-“ECE-593-Lecture Slides”.</a:t>
            </a:r>
          </a:p>
        </p:txBody>
      </p:sp>
    </p:spTree>
    <p:extLst>
      <p:ext uri="{BB962C8B-B14F-4D97-AF65-F5344CB8AC3E}">
        <p14:creationId xmlns:p14="http://schemas.microsoft.com/office/powerpoint/2010/main" val="4007988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7749736" y="1053734"/>
            <a:ext cx="3856679" cy="1453003"/>
          </a:xfrm>
        </p:spPr>
        <p:txBody>
          <a:bodyPr wrap="square" anchor="b">
            <a:normAutofit/>
          </a:bodyPr>
          <a:lstStyle/>
          <a:p>
            <a:r>
              <a:rPr lang="en-US" sz="4000" dirty="0"/>
              <a:t>Thank you</a:t>
            </a:r>
          </a:p>
        </p:txBody>
      </p:sp>
      <p:sp>
        <p:nvSpPr>
          <p:cNvPr id="126" name="Slide Number Placeholder 49">
            <a:extLst>
              <a:ext uri="{FF2B5EF4-FFF2-40B4-BE49-F238E27FC236}">
                <a16:creationId xmlns:a16="http://schemas.microsoft.com/office/drawing/2014/main" id="{64086F3C-129F-4A29-A09C-7700661E06BF}"/>
              </a:ext>
            </a:extLst>
          </p:cNvPr>
          <p:cNvSpPr>
            <a:spLocks noGrp="1"/>
          </p:cNvSpPr>
          <p:nvPr>
            <p:ph type="sldNum" sz="quarter" idx="12"/>
          </p:nvPr>
        </p:nvSpPr>
        <p:spPr>
          <a:xfrm>
            <a:off x="9982800" y="6357600"/>
            <a:ext cx="1760150" cy="460800"/>
          </a:xfrm>
        </p:spPr>
        <p:txBody>
          <a:bodyPr/>
          <a:lstStyle/>
          <a:p>
            <a:fld id="{D39607A7-8386-47DB-8578-DDEDD194E5D4}" type="slidenum">
              <a:rPr lang="en-US" smtClean="0"/>
              <a:pPr/>
              <a:t>27</a:t>
            </a:fld>
            <a:endParaRPr lang="en-US" dirty="0"/>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ed design" id="{15B931B0-C7D8-4B07-ACB9-C7EFD4E6970A}" vid="{8BE1E89A-FBDD-488C-8247-991A3117B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Props1.xml><?xml version="1.0" encoding="utf-8"?>
<ds:datastoreItem xmlns:ds="http://schemas.openxmlformats.org/officeDocument/2006/customXml" ds:itemID="{7CB9D788-52D8-46C3-92EC-553D7E4077CF}">
  <ds:schemaRefs>
    <ds:schemaRef ds:uri="http://schemas.microsoft.com/sharepoint/v3/contenttype/forms"/>
  </ds:schemaRefs>
</ds:datastoreItem>
</file>

<file path=customXml/itemProps2.xml><?xml version="1.0" encoding="utf-8"?>
<ds:datastoreItem xmlns:ds="http://schemas.openxmlformats.org/officeDocument/2006/customXml" ds:itemID="{502E5C16-0C12-46F7-AC7E-7CB6B62A71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474A8BD-7470-4767-A78C-01B8DE47DE7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Frosted design</Template>
  <TotalTime>1696</TotalTime>
  <Words>4233</Words>
  <Application>Microsoft Office PowerPoint</Application>
  <PresentationFormat>Widescreen</PresentationFormat>
  <Paragraphs>443</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Avenir Next LT Pro</vt:lpstr>
      <vt:lpstr>Calibri</vt:lpstr>
      <vt:lpstr>Consolas</vt:lpstr>
      <vt:lpstr>Goudy Old Style</vt:lpstr>
      <vt:lpstr>Times New Roman</vt:lpstr>
      <vt:lpstr>TimesNewRomanPSMT</vt:lpstr>
      <vt:lpstr>Wingdings</vt:lpstr>
      <vt:lpstr>FrostyVTI</vt:lpstr>
      <vt:lpstr>Design and Verification of Asynchronous FIFO</vt:lpstr>
      <vt:lpstr>Contribution of Team members</vt:lpstr>
      <vt:lpstr>Project Description</vt:lpstr>
      <vt:lpstr> Design Style</vt:lpstr>
      <vt:lpstr>PowerPoint Presentation</vt:lpstr>
      <vt:lpstr>Design Modules</vt:lpstr>
      <vt:lpstr>System Verilog Verifcation Environment</vt:lpstr>
      <vt:lpstr>SV Test bench Components </vt:lpstr>
      <vt:lpstr>PowerPoint Presentation</vt:lpstr>
      <vt:lpstr>PowerPoint Presentation</vt:lpstr>
      <vt:lpstr>UVM  Verification Environment</vt:lpstr>
      <vt:lpstr>UVM Test bench Components </vt:lpstr>
      <vt:lpstr>PowerPoint Presentation</vt:lpstr>
      <vt:lpstr>PowerPoint Presentation</vt:lpstr>
      <vt:lpstr>PowerPoint Presentation</vt:lpstr>
      <vt:lpstr>PowerPoint Presentation</vt:lpstr>
      <vt:lpstr>Functional Coverage</vt:lpstr>
      <vt:lpstr>Assertions</vt:lpstr>
      <vt:lpstr>Test Matrix</vt:lpstr>
      <vt:lpstr>SV Simulation Results</vt:lpstr>
      <vt:lpstr>SV Simulation Results</vt:lpstr>
      <vt:lpstr>UVM Simulation Results</vt:lpstr>
      <vt:lpstr>UVM Simulation Results</vt:lpstr>
      <vt:lpstr>PowerPoint Presentation</vt:lpstr>
      <vt:lpstr>PowerPoint Presentation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Verification of Data Path Controller</dc:title>
  <dc:creator>Asritha manju Immadisetty</dc:creator>
  <cp:lastModifiedBy>Asritha Manju Immadisetty</cp:lastModifiedBy>
  <cp:revision>104</cp:revision>
  <dcterms:created xsi:type="dcterms:W3CDTF">2023-11-20T22:27:20Z</dcterms:created>
  <dcterms:modified xsi:type="dcterms:W3CDTF">2024-03-15T01:09:10Z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